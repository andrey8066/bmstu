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slideshow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bookmarkIdSeed="3">
  <p:sldMasterIdLst>
    <p:sldMasterId id="2147483661" r:id="rId4"/>
  </p:sldMasterIdLst>
  <p:notesMasterIdLst>
    <p:notesMasterId r:id="rId21"/>
  </p:notesMasterIdLst>
  <p:handoutMasterIdLst>
    <p:handoutMasterId r:id="rId22"/>
  </p:handoutMasterIdLst>
  <p:sldIdLst>
    <p:sldId id="350" r:id="rId5"/>
    <p:sldId id="351" r:id="rId6"/>
    <p:sldId id="353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9" r:id="rId17"/>
    <p:sldId id="370" r:id="rId18"/>
    <p:sldId id="372" r:id="rId19"/>
    <p:sldId id="371" r:id="rId2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MaSxhV4prKKl/BSagsEPrw==" hashData="WAMJBBwGVEkIhDBBhK94ZSxc5GY="/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EE7DA"/>
    <a:srgbClr val="FFFFFF"/>
    <a:srgbClr val="FEF8D2"/>
    <a:srgbClr val="F7F1D9"/>
    <a:srgbClr val="E2E2B6"/>
    <a:srgbClr val="D0D0C8"/>
    <a:srgbClr val="DBDCBC"/>
    <a:srgbClr val="FFCC6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65" autoAdjust="0"/>
    <p:restoredTop sz="99078" autoAdjust="0"/>
  </p:normalViewPr>
  <p:slideViewPr>
    <p:cSldViewPr snapToGrid="0" showGuides="1">
      <p:cViewPr>
        <p:scale>
          <a:sx n="70" d="100"/>
          <a:sy n="70" d="100"/>
        </p:scale>
        <p:origin x="-2586" y="-11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37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F097377B-7A80-4695-9311-7480A96BA5C2}" type="datetime1">
              <a:rPr lang="ru-RU" smtClean="0"/>
              <a:pPr algn="r" rtl="0"/>
              <a:t>18.03.2020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ru-RU" smtClean="0"/>
              <a:pPr algn="r"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FAA1E4E1-DF6A-45D0-AB14-6A9A0B144578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4" name="Образ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dirty="0"/>
          </a:p>
        </p:txBody>
      </p:sp>
      <p:sp>
        <p:nvSpPr>
          <p:cNvPr id="5" name="Заполнитель заме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dirty="0" smtClean="0"/>
              <a:t>Образец текста</a:t>
            </a:r>
          </a:p>
          <a:p>
            <a:pPr lvl="1" rtl="0"/>
            <a:r>
              <a:rPr lang="ru-RU" dirty="0" smtClean="0"/>
              <a:t>Второй уровень</a:t>
            </a:r>
          </a:p>
          <a:p>
            <a:pPr lvl="2" rtl="0"/>
            <a:r>
              <a:rPr lang="ru-RU" dirty="0" smtClean="0"/>
              <a:t>Третий уровень</a:t>
            </a:r>
          </a:p>
          <a:p>
            <a:pPr lvl="3" rtl="0"/>
            <a:r>
              <a:rPr lang="ru-RU" dirty="0" smtClean="0"/>
              <a:t>Четвертый уровень</a:t>
            </a:r>
          </a:p>
          <a:p>
            <a:pPr lvl="4" rtl="0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0A3C37BE-C303-496D-B5CD-85F2937540F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763A2-4946-4394-8514-E245E2FF5F9F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66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AC3B-65DF-4A48-85BC-13B95B0DEEB5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84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0EF6-B087-4B90-89B7-A0F55E7E127B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53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5D5B-6FEE-46C6-BBC0-D970512EE64B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46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38667-29FB-4150-B1C2-2EF5E3FB17D0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22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D20B1-06A4-44E2-80FF-2F94017AE9C4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8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25C1C-0029-40F5-B6F2-6F19C91A0752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03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69B4-1E30-4FB3-BE40-B93092AF0BFD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507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9544-8571-4F57-98F4-EE923B10EF21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85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0C7-520B-4638-9F7E-E3A94DA53A4B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481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C91B6DE-8A47-4B7A-8F7A-D3AC142B42EB}" type="datetime1">
              <a:rPr lang="ru-RU" smtClean="0"/>
              <a:pPr rtl="0"/>
              <a:t>18.03.2020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F54DE5-C571-48E8-A5BC-B369434E2F44}" type="slidenum">
              <a:rPr lang="ru-RU" smtClean="0"/>
              <a:pPr rt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71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8000">
              <a:srgbClr val="FFFFFF"/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A938016-37E6-4821-8641-AA4FBE494DAE}" type="datetime1">
              <a:rPr lang="ru-RU" smtClean="0"/>
              <a:pPr/>
              <a:t>18.03.2020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smtClean="0"/>
              <a:t>Учебный курс разработан на кафедре ФН3 "Теоретическая механика" МГТУ им. Н.Э. Баумана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54DE5-C571-48E8-A5BC-B369434E2F4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88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1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5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4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1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" Type="http://schemas.openxmlformats.org/officeDocument/2006/relationships/image" Target="../media/image64.png"/><Relationship Id="rId21" Type="http://schemas.openxmlformats.org/officeDocument/2006/relationships/image" Target="../media/image2.png"/><Relationship Id="rId7" Type="http://schemas.openxmlformats.org/officeDocument/2006/relationships/image" Target="../media/image560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2" Type="http://schemas.openxmlformats.org/officeDocument/2006/relationships/image" Target="../media/image1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3.wmf"/><Relationship Id="rId18" Type="http://schemas.openxmlformats.org/officeDocument/2006/relationships/image" Target="../media/image85.png"/><Relationship Id="rId26" Type="http://schemas.openxmlformats.org/officeDocument/2006/relationships/image" Target="../media/image9.png"/><Relationship Id="rId3" Type="http://schemas.openxmlformats.org/officeDocument/2006/relationships/image" Target="../media/image1.png"/><Relationship Id="rId21" Type="http://schemas.openxmlformats.org/officeDocument/2006/relationships/image" Target="../media/image101.png"/><Relationship Id="rId34" Type="http://schemas.openxmlformats.org/officeDocument/2006/relationships/image" Target="../media/image108.png"/><Relationship Id="rId7" Type="http://schemas.openxmlformats.org/officeDocument/2006/relationships/image" Target="../media/image84.pn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97.png"/><Relationship Id="rId25" Type="http://schemas.openxmlformats.org/officeDocument/2006/relationships/image" Target="../media/image105.png"/><Relationship Id="rId33" Type="http://schemas.openxmlformats.org/officeDocument/2006/relationships/image" Target="../media/image7.wmf"/><Relationship Id="rId38" Type="http://schemas.openxmlformats.org/officeDocument/2006/relationships/image" Target="../media/image8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29" Type="http://schemas.openxmlformats.org/officeDocument/2006/relationships/image" Target="../media/image5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92.png"/><Relationship Id="rId11" Type="http://schemas.openxmlformats.org/officeDocument/2006/relationships/image" Target="../media/image95.png"/><Relationship Id="rId24" Type="http://schemas.openxmlformats.org/officeDocument/2006/relationships/image" Target="../media/image104.png"/><Relationship Id="rId32" Type="http://schemas.openxmlformats.org/officeDocument/2006/relationships/oleObject" Target="../embeddings/oleObject6.bin"/><Relationship Id="rId37" Type="http://schemas.openxmlformats.org/officeDocument/2006/relationships/image" Target="../media/image111.png"/><Relationship Id="rId5" Type="http://schemas.openxmlformats.org/officeDocument/2006/relationships/image" Target="../media/image91.png"/><Relationship Id="rId15" Type="http://schemas.openxmlformats.org/officeDocument/2006/relationships/image" Target="../media/image4.wmf"/><Relationship Id="rId23" Type="http://schemas.openxmlformats.org/officeDocument/2006/relationships/image" Target="../media/image87.png"/><Relationship Id="rId28" Type="http://schemas.openxmlformats.org/officeDocument/2006/relationships/oleObject" Target="../embeddings/oleObject4.bin"/><Relationship Id="rId36" Type="http://schemas.openxmlformats.org/officeDocument/2006/relationships/image" Target="../media/image110.png"/><Relationship Id="rId10" Type="http://schemas.openxmlformats.org/officeDocument/2006/relationships/image" Target="../media/image2.wmf"/><Relationship Id="rId19" Type="http://schemas.openxmlformats.org/officeDocument/2006/relationships/image" Target="../media/image8.png"/><Relationship Id="rId31" Type="http://schemas.openxmlformats.org/officeDocument/2006/relationships/image" Target="../media/image6.wmf"/><Relationship Id="rId4" Type="http://schemas.openxmlformats.org/officeDocument/2006/relationships/image" Target="../media/image90.png"/><Relationship Id="rId9" Type="http://schemas.openxmlformats.org/officeDocument/2006/relationships/oleObject" Target="../embeddings/oleObject1.bin"/><Relationship Id="rId14" Type="http://schemas.openxmlformats.org/officeDocument/2006/relationships/oleObject" Target="../embeddings/oleObject3.bin"/><Relationship Id="rId22" Type="http://schemas.openxmlformats.org/officeDocument/2006/relationships/image" Target="../media/image86.png"/><Relationship Id="rId27" Type="http://schemas.openxmlformats.org/officeDocument/2006/relationships/image" Target="../media/image107.png"/><Relationship Id="rId30" Type="http://schemas.openxmlformats.org/officeDocument/2006/relationships/oleObject" Target="../embeddings/oleObject5.bin"/><Relationship Id="rId35" Type="http://schemas.openxmlformats.org/officeDocument/2006/relationships/image" Target="../media/image10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.png"/><Relationship Id="rId7" Type="http://schemas.openxmlformats.org/officeDocument/2006/relationships/image" Target="../media/image117.png"/><Relationship Id="rId12" Type="http://schemas.openxmlformats.org/officeDocument/2006/relationships/image" Target="../media/image93.png"/><Relationship Id="rId17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6.png"/><Relationship Id="rId11" Type="http://schemas.openxmlformats.org/officeDocument/2006/relationships/image" Target="../media/image8.wmf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27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1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98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89.png"/><Relationship Id="rId17" Type="http://schemas.openxmlformats.org/officeDocument/2006/relationships/image" Target="../media/image106.png"/><Relationship Id="rId2" Type="http://schemas.openxmlformats.org/officeDocument/2006/relationships/image" Target="../media/image10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10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9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112.png"/><Relationship Id="rId1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13.png"/><Relationship Id="rId7" Type="http://schemas.openxmlformats.org/officeDocument/2006/relationships/image" Target="../media/image6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128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120.png"/><Relationship Id="rId9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132.png"/><Relationship Id="rId12" Type="http://schemas.openxmlformats.org/officeDocument/2006/relationships/image" Target="../media/image4.png"/><Relationship Id="rId17" Type="http://schemas.openxmlformats.org/officeDocument/2006/relationships/image" Target="../media/image43.png"/><Relationship Id="rId16" Type="http://schemas.openxmlformats.org/officeDocument/2006/relationships/image" Target="../media/image42.png"/><Relationship Id="rId20" Type="http://schemas.openxmlformats.org/officeDocument/2006/relationships/image" Target="../media/image131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211.png"/><Relationship Id="rId19" Type="http://schemas.openxmlformats.org/officeDocument/2006/relationships/image" Target="../media/image131.png"/><Relationship Id="rId4" Type="http://schemas.openxmlformats.org/officeDocument/2006/relationships/image" Target="../media/image30.png"/><Relationship Id="rId9" Type="http://schemas.openxmlformats.org/officeDocument/2006/relationships/image" Target="../media/image131.png"/><Relationship Id="rId14" Type="http://schemas.openxmlformats.org/officeDocument/2006/relationships/image" Target="../media/image11.png"/><Relationship Id="rId22" Type="http://schemas.openxmlformats.org/officeDocument/2006/relationships/image" Target="../media/image1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135.png"/><Relationship Id="rId3" Type="http://schemas.openxmlformats.org/officeDocument/2006/relationships/image" Target="../media/image71.png"/><Relationship Id="rId21" Type="http://schemas.openxmlformats.org/officeDocument/2006/relationships/image" Target="../media/image139.png"/><Relationship Id="rId7" Type="http://schemas.openxmlformats.org/officeDocument/2006/relationships/image" Target="../media/image75.png"/><Relationship Id="rId12" Type="http://schemas.openxmlformats.org/officeDocument/2006/relationships/image" Target="../media/image134.png"/><Relationship Id="rId17" Type="http://schemas.openxmlformats.org/officeDocument/2006/relationships/image" Target="../media/image137.png"/><Relationship Id="rId2" Type="http://schemas.openxmlformats.org/officeDocument/2006/relationships/image" Target="../media/image1.png"/><Relationship Id="rId16" Type="http://schemas.openxmlformats.org/officeDocument/2006/relationships/image" Target="../media/image136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1010.png"/><Relationship Id="rId5" Type="http://schemas.openxmlformats.org/officeDocument/2006/relationships/image" Target="../media/image73.png"/><Relationship Id="rId15" Type="http://schemas.openxmlformats.org/officeDocument/2006/relationships/image" Target="../media/image1410.png"/><Relationship Id="rId10" Type="http://schemas.openxmlformats.org/officeDocument/2006/relationships/image" Target="../media/image910.png"/><Relationship Id="rId19" Type="http://schemas.openxmlformats.org/officeDocument/2006/relationships/image" Target="../media/image180.png"/><Relationship Id="rId4" Type="http://schemas.openxmlformats.org/officeDocument/2006/relationships/image" Target="../media/image72.png"/><Relationship Id="rId9" Type="http://schemas.openxmlformats.org/officeDocument/2006/relationships/image" Target="../media/image8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88.png"/><Relationship Id="rId7" Type="http://schemas.openxmlformats.org/officeDocument/2006/relationships/image" Target="../media/image31.png"/><Relationship Id="rId12" Type="http://schemas.openxmlformats.org/officeDocument/2006/relationships/image" Target="../media/image14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143.png"/><Relationship Id="rId5" Type="http://schemas.openxmlformats.org/officeDocument/2006/relationships/image" Target="../media/image29.png"/><Relationship Id="rId10" Type="http://schemas.openxmlformats.org/officeDocument/2006/relationships/image" Target="../media/image142.png"/><Relationship Id="rId4" Type="http://schemas.openxmlformats.org/officeDocument/2006/relationships/image" Target="../media/image10.png"/><Relationship Id="rId9" Type="http://schemas.openxmlformats.org/officeDocument/2006/relationships/image" Target="../media/image1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3" Type="http://schemas.openxmlformats.org/officeDocument/2006/relationships/image" Target="../media/image190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" Type="http://schemas.openxmlformats.org/officeDocument/2006/relationships/image" Target="../media/image1.png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149.png"/><Relationship Id="rId5" Type="http://schemas.openxmlformats.org/officeDocument/2006/relationships/image" Target="../media/image210.png"/><Relationship Id="rId15" Type="http://schemas.openxmlformats.org/officeDocument/2006/relationships/image" Target="../media/image153.png"/><Relationship Id="rId10" Type="http://schemas.openxmlformats.org/officeDocument/2006/relationships/image" Target="../media/image148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2"/>
          <p:cNvSpPr>
            <a:spLocks noGrp="1"/>
          </p:cNvSpPr>
          <p:nvPr>
            <p:ph type="title"/>
          </p:nvPr>
        </p:nvSpPr>
        <p:spPr>
          <a:xfrm>
            <a:off x="477767" y="222250"/>
            <a:ext cx="9143905" cy="652462"/>
          </a:xfrm>
        </p:spPr>
        <p:txBody>
          <a:bodyPr rtlCol="0">
            <a:normAutofit/>
          </a:bodyPr>
          <a:lstStyle/>
          <a:p>
            <a:pPr rtl="0"/>
            <a:r>
              <a:rPr lang="ru-RU" sz="2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Мгновенный центр ускорений.</a:t>
            </a:r>
            <a:endParaRPr lang="ru-RU" sz="22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>
            <a:off x="335360" y="78340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35360" y="874712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35360" y="907799"/>
            <a:ext cx="106393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 smtClean="0">
                <a:latin typeface="Times New Roman" pitchFamily="18" charset="0"/>
                <a:cs typeface="Times New Roman" pitchFamily="18" charset="0"/>
              </a:rPr>
              <a:t>Теорема.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При движении плоской фигуры в своей плоскости, если одновременно не равны нулю угловая скорость и угловое ускорение, существует единственная точка этой фигуры, ускорение которой равно нулю. Эта точка называется </a:t>
            </a:r>
            <a:r>
              <a:rPr lang="ru-RU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мгновенным центром ускорений (МЦУ).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Будем обозначать МЦУ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буквой 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431861" y="2238749"/>
            <a:ext cx="5223166" cy="2773373"/>
            <a:chOff x="100674" y="2103121"/>
            <a:chExt cx="5223166" cy="3728412"/>
          </a:xfrm>
        </p:grpSpPr>
        <p:grpSp>
          <p:nvGrpSpPr>
            <p:cNvPr id="15" name="Группа 14"/>
            <p:cNvGrpSpPr/>
            <p:nvPr/>
          </p:nvGrpSpPr>
          <p:grpSpPr>
            <a:xfrm>
              <a:off x="457200" y="2103121"/>
              <a:ext cx="4321629" cy="3359080"/>
              <a:chOff x="457200" y="2103121"/>
              <a:chExt cx="4321629" cy="3359080"/>
            </a:xfrm>
          </p:grpSpPr>
          <p:cxnSp>
            <p:nvCxnSpPr>
              <p:cNvPr id="19" name="Прямая со стрелкой 18"/>
              <p:cNvCxnSpPr/>
              <p:nvPr/>
            </p:nvCxnSpPr>
            <p:spPr>
              <a:xfrm flipV="1">
                <a:off x="457200" y="2103121"/>
                <a:ext cx="0" cy="3359080"/>
              </a:xfrm>
              <a:prstGeom prst="straightConnector1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 стрелкой 19"/>
              <p:cNvCxnSpPr/>
              <p:nvPr/>
            </p:nvCxnSpPr>
            <p:spPr>
              <a:xfrm>
                <a:off x="457200" y="5462201"/>
                <a:ext cx="4321629" cy="0"/>
              </a:xfrm>
              <a:prstGeom prst="straightConnector1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/>
            <p:cNvSpPr txBox="1"/>
            <p:nvPr/>
          </p:nvSpPr>
          <p:spPr>
            <a:xfrm>
              <a:off x="4450080" y="5462201"/>
              <a:ext cx="873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ru-RU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674" y="2103121"/>
              <a:ext cx="64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Y</a:t>
              </a:r>
              <a:endParaRPr lang="ru-RU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2079" y="5462201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ru-RU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1" name="Полилиния 20"/>
          <p:cNvSpPr/>
          <p:nvPr/>
        </p:nvSpPr>
        <p:spPr>
          <a:xfrm rot="21184200">
            <a:off x="1360480" y="2089239"/>
            <a:ext cx="2595199" cy="2616019"/>
          </a:xfrm>
          <a:custGeom>
            <a:avLst/>
            <a:gdLst>
              <a:gd name="connsiteX0" fmla="*/ 738507 w 2595521"/>
              <a:gd name="connsiteY0" fmla="*/ 1616311 h 2431740"/>
              <a:gd name="connsiteX1" fmla="*/ 430034 w 2595521"/>
              <a:gd name="connsiteY1" fmla="*/ 1153603 h 2431740"/>
              <a:gd name="connsiteX2" fmla="*/ 376 w 2595521"/>
              <a:gd name="connsiteY2" fmla="*/ 646827 h 2431740"/>
              <a:gd name="connsiteX3" fmla="*/ 507152 w 2595521"/>
              <a:gd name="connsiteY3" fmla="*/ 18865 h 2431740"/>
              <a:gd name="connsiteX4" fmla="*/ 1476637 w 2595521"/>
              <a:gd name="connsiteY4" fmla="*/ 228186 h 2431740"/>
              <a:gd name="connsiteX5" fmla="*/ 1884261 w 2595521"/>
              <a:gd name="connsiteY5" fmla="*/ 878181 h 2431740"/>
              <a:gd name="connsiteX6" fmla="*/ 2313919 w 2595521"/>
              <a:gd name="connsiteY6" fmla="*/ 1362923 h 2431740"/>
              <a:gd name="connsiteX7" fmla="*/ 2589340 w 2595521"/>
              <a:gd name="connsiteY7" fmla="*/ 1924783 h 2431740"/>
              <a:gd name="connsiteX8" fmla="*/ 2049514 w 2595521"/>
              <a:gd name="connsiteY8" fmla="*/ 2387492 h 2431740"/>
              <a:gd name="connsiteX9" fmla="*/ 1443586 w 2595521"/>
              <a:gd name="connsiteY9" fmla="*/ 2354441 h 2431740"/>
              <a:gd name="connsiteX10" fmla="*/ 1046979 w 2595521"/>
              <a:gd name="connsiteY10" fmla="*/ 1869699 h 2431740"/>
              <a:gd name="connsiteX11" fmla="*/ 738507 w 2595521"/>
              <a:gd name="connsiteY11" fmla="*/ 1616311 h 2431740"/>
              <a:gd name="connsiteX0" fmla="*/ 738507 w 2595521"/>
              <a:gd name="connsiteY0" fmla="*/ 1607396 h 2422825"/>
              <a:gd name="connsiteX1" fmla="*/ 430034 w 2595521"/>
              <a:gd name="connsiteY1" fmla="*/ 1144688 h 2422825"/>
              <a:gd name="connsiteX2" fmla="*/ 376 w 2595521"/>
              <a:gd name="connsiteY2" fmla="*/ 637912 h 2422825"/>
              <a:gd name="connsiteX3" fmla="*/ 507152 w 2595521"/>
              <a:gd name="connsiteY3" fmla="*/ 9950 h 2422825"/>
              <a:gd name="connsiteX4" fmla="*/ 1382857 w 2595521"/>
              <a:gd name="connsiteY4" fmla="*/ 296148 h 2422825"/>
              <a:gd name="connsiteX5" fmla="*/ 1884261 w 2595521"/>
              <a:gd name="connsiteY5" fmla="*/ 869266 h 2422825"/>
              <a:gd name="connsiteX6" fmla="*/ 2313919 w 2595521"/>
              <a:gd name="connsiteY6" fmla="*/ 1354008 h 2422825"/>
              <a:gd name="connsiteX7" fmla="*/ 2589340 w 2595521"/>
              <a:gd name="connsiteY7" fmla="*/ 1915868 h 2422825"/>
              <a:gd name="connsiteX8" fmla="*/ 2049514 w 2595521"/>
              <a:gd name="connsiteY8" fmla="*/ 2378577 h 2422825"/>
              <a:gd name="connsiteX9" fmla="*/ 1443586 w 2595521"/>
              <a:gd name="connsiteY9" fmla="*/ 2345526 h 2422825"/>
              <a:gd name="connsiteX10" fmla="*/ 1046979 w 2595521"/>
              <a:gd name="connsiteY10" fmla="*/ 1860784 h 2422825"/>
              <a:gd name="connsiteX11" fmla="*/ 738507 w 2595521"/>
              <a:gd name="connsiteY11" fmla="*/ 1607396 h 2422825"/>
              <a:gd name="connsiteX0" fmla="*/ 738507 w 2595877"/>
              <a:gd name="connsiteY0" fmla="*/ 1607653 h 2423082"/>
              <a:gd name="connsiteX1" fmla="*/ 430034 w 2595877"/>
              <a:gd name="connsiteY1" fmla="*/ 1144945 h 2423082"/>
              <a:gd name="connsiteX2" fmla="*/ 376 w 2595877"/>
              <a:gd name="connsiteY2" fmla="*/ 638169 h 2423082"/>
              <a:gd name="connsiteX3" fmla="*/ 507152 w 2595877"/>
              <a:gd name="connsiteY3" fmla="*/ 10207 h 2423082"/>
              <a:gd name="connsiteX4" fmla="*/ 1382857 w 2595877"/>
              <a:gd name="connsiteY4" fmla="*/ 296405 h 2423082"/>
              <a:gd name="connsiteX5" fmla="*/ 1802642 w 2595877"/>
              <a:gd name="connsiteY5" fmla="*/ 909497 h 2423082"/>
              <a:gd name="connsiteX6" fmla="*/ 2313919 w 2595877"/>
              <a:gd name="connsiteY6" fmla="*/ 1354265 h 2423082"/>
              <a:gd name="connsiteX7" fmla="*/ 2589340 w 2595877"/>
              <a:gd name="connsiteY7" fmla="*/ 1916125 h 2423082"/>
              <a:gd name="connsiteX8" fmla="*/ 2049514 w 2595877"/>
              <a:gd name="connsiteY8" fmla="*/ 2378834 h 2423082"/>
              <a:gd name="connsiteX9" fmla="*/ 1443586 w 2595877"/>
              <a:gd name="connsiteY9" fmla="*/ 2345783 h 2423082"/>
              <a:gd name="connsiteX10" fmla="*/ 1046979 w 2595877"/>
              <a:gd name="connsiteY10" fmla="*/ 1861041 h 2423082"/>
              <a:gd name="connsiteX11" fmla="*/ 738507 w 2595877"/>
              <a:gd name="connsiteY11" fmla="*/ 1607653 h 2423082"/>
              <a:gd name="connsiteX0" fmla="*/ 738507 w 2590046"/>
              <a:gd name="connsiteY0" fmla="*/ 1607653 h 2423082"/>
              <a:gd name="connsiteX1" fmla="*/ 430034 w 2590046"/>
              <a:gd name="connsiteY1" fmla="*/ 1144945 h 2423082"/>
              <a:gd name="connsiteX2" fmla="*/ 376 w 2590046"/>
              <a:gd name="connsiteY2" fmla="*/ 638169 h 2423082"/>
              <a:gd name="connsiteX3" fmla="*/ 507152 w 2590046"/>
              <a:gd name="connsiteY3" fmla="*/ 10207 h 2423082"/>
              <a:gd name="connsiteX4" fmla="*/ 1382857 w 2590046"/>
              <a:gd name="connsiteY4" fmla="*/ 296405 h 2423082"/>
              <a:gd name="connsiteX5" fmla="*/ 1802642 w 2590046"/>
              <a:gd name="connsiteY5" fmla="*/ 909497 h 2423082"/>
              <a:gd name="connsiteX6" fmla="*/ 2155842 w 2590046"/>
              <a:gd name="connsiteY6" fmla="*/ 1423326 h 2423082"/>
              <a:gd name="connsiteX7" fmla="*/ 2589340 w 2590046"/>
              <a:gd name="connsiteY7" fmla="*/ 1916125 h 2423082"/>
              <a:gd name="connsiteX8" fmla="*/ 2049514 w 2590046"/>
              <a:gd name="connsiteY8" fmla="*/ 2378834 h 2423082"/>
              <a:gd name="connsiteX9" fmla="*/ 1443586 w 2590046"/>
              <a:gd name="connsiteY9" fmla="*/ 2345783 h 2423082"/>
              <a:gd name="connsiteX10" fmla="*/ 1046979 w 2590046"/>
              <a:gd name="connsiteY10" fmla="*/ 1861041 h 2423082"/>
              <a:gd name="connsiteX11" fmla="*/ 738507 w 2590046"/>
              <a:gd name="connsiteY11" fmla="*/ 1607653 h 2423082"/>
              <a:gd name="connsiteX0" fmla="*/ 738507 w 2590026"/>
              <a:gd name="connsiteY0" fmla="*/ 1607379 h 2422808"/>
              <a:gd name="connsiteX1" fmla="*/ 430034 w 2590026"/>
              <a:gd name="connsiteY1" fmla="*/ 1144671 h 2422808"/>
              <a:gd name="connsiteX2" fmla="*/ 376 w 2590026"/>
              <a:gd name="connsiteY2" fmla="*/ 637895 h 2422808"/>
              <a:gd name="connsiteX3" fmla="*/ 507152 w 2590026"/>
              <a:gd name="connsiteY3" fmla="*/ 9933 h 2422808"/>
              <a:gd name="connsiteX4" fmla="*/ 1382857 w 2590026"/>
              <a:gd name="connsiteY4" fmla="*/ 296131 h 2422808"/>
              <a:gd name="connsiteX5" fmla="*/ 1861568 w 2590026"/>
              <a:gd name="connsiteY5" fmla="*/ 866491 h 2422808"/>
              <a:gd name="connsiteX6" fmla="*/ 2155842 w 2590026"/>
              <a:gd name="connsiteY6" fmla="*/ 1423052 h 2422808"/>
              <a:gd name="connsiteX7" fmla="*/ 2589340 w 2590026"/>
              <a:gd name="connsiteY7" fmla="*/ 1915851 h 2422808"/>
              <a:gd name="connsiteX8" fmla="*/ 2049514 w 2590026"/>
              <a:gd name="connsiteY8" fmla="*/ 2378560 h 2422808"/>
              <a:gd name="connsiteX9" fmla="*/ 1443586 w 2590026"/>
              <a:gd name="connsiteY9" fmla="*/ 2345509 h 2422808"/>
              <a:gd name="connsiteX10" fmla="*/ 1046979 w 2590026"/>
              <a:gd name="connsiteY10" fmla="*/ 1860767 h 2422808"/>
              <a:gd name="connsiteX11" fmla="*/ 738507 w 2590026"/>
              <a:gd name="connsiteY11" fmla="*/ 1607379 h 2422808"/>
              <a:gd name="connsiteX0" fmla="*/ 738507 w 2590026"/>
              <a:gd name="connsiteY0" fmla="*/ 1601754 h 2417183"/>
              <a:gd name="connsiteX1" fmla="*/ 430034 w 2590026"/>
              <a:gd name="connsiteY1" fmla="*/ 1139046 h 2417183"/>
              <a:gd name="connsiteX2" fmla="*/ 376 w 2590026"/>
              <a:gd name="connsiteY2" fmla="*/ 632270 h 2417183"/>
              <a:gd name="connsiteX3" fmla="*/ 507152 w 2590026"/>
              <a:gd name="connsiteY3" fmla="*/ 4308 h 2417183"/>
              <a:gd name="connsiteX4" fmla="*/ 1364259 w 2590026"/>
              <a:gd name="connsiteY4" fmla="*/ 380359 h 2417183"/>
              <a:gd name="connsiteX5" fmla="*/ 1861568 w 2590026"/>
              <a:gd name="connsiteY5" fmla="*/ 860866 h 2417183"/>
              <a:gd name="connsiteX6" fmla="*/ 2155842 w 2590026"/>
              <a:gd name="connsiteY6" fmla="*/ 1417427 h 2417183"/>
              <a:gd name="connsiteX7" fmla="*/ 2589340 w 2590026"/>
              <a:gd name="connsiteY7" fmla="*/ 1910226 h 2417183"/>
              <a:gd name="connsiteX8" fmla="*/ 2049514 w 2590026"/>
              <a:gd name="connsiteY8" fmla="*/ 2372935 h 2417183"/>
              <a:gd name="connsiteX9" fmla="*/ 1443586 w 2590026"/>
              <a:gd name="connsiteY9" fmla="*/ 2339884 h 2417183"/>
              <a:gd name="connsiteX10" fmla="*/ 1046979 w 2590026"/>
              <a:gd name="connsiteY10" fmla="*/ 1855142 h 2417183"/>
              <a:gd name="connsiteX11" fmla="*/ 738507 w 2590026"/>
              <a:gd name="connsiteY11" fmla="*/ 1601754 h 2417183"/>
              <a:gd name="connsiteX0" fmla="*/ 738507 w 2590026"/>
              <a:gd name="connsiteY0" fmla="*/ 1601754 h 2417183"/>
              <a:gd name="connsiteX1" fmla="*/ 430034 w 2590026"/>
              <a:gd name="connsiteY1" fmla="*/ 1139046 h 2417183"/>
              <a:gd name="connsiteX2" fmla="*/ 376 w 2590026"/>
              <a:gd name="connsiteY2" fmla="*/ 632270 h 2417183"/>
              <a:gd name="connsiteX3" fmla="*/ 507152 w 2590026"/>
              <a:gd name="connsiteY3" fmla="*/ 4308 h 2417183"/>
              <a:gd name="connsiteX4" fmla="*/ 1364259 w 2590026"/>
              <a:gd name="connsiteY4" fmla="*/ 380359 h 2417183"/>
              <a:gd name="connsiteX5" fmla="*/ 1861568 w 2590026"/>
              <a:gd name="connsiteY5" fmla="*/ 860866 h 2417183"/>
              <a:gd name="connsiteX6" fmla="*/ 2155842 w 2590026"/>
              <a:gd name="connsiteY6" fmla="*/ 1417427 h 2417183"/>
              <a:gd name="connsiteX7" fmla="*/ 2589340 w 2590026"/>
              <a:gd name="connsiteY7" fmla="*/ 1910226 h 2417183"/>
              <a:gd name="connsiteX8" fmla="*/ 2049514 w 2590026"/>
              <a:gd name="connsiteY8" fmla="*/ 2372935 h 2417183"/>
              <a:gd name="connsiteX9" fmla="*/ 1443586 w 2590026"/>
              <a:gd name="connsiteY9" fmla="*/ 2339884 h 2417183"/>
              <a:gd name="connsiteX10" fmla="*/ 917927 w 2590026"/>
              <a:gd name="connsiteY10" fmla="*/ 2074856 h 2417183"/>
              <a:gd name="connsiteX11" fmla="*/ 738507 w 2590026"/>
              <a:gd name="connsiteY11" fmla="*/ 1601754 h 2417183"/>
              <a:gd name="connsiteX0" fmla="*/ 432417 w 2589977"/>
              <a:gd name="connsiteY0" fmla="*/ 1656669 h 2417183"/>
              <a:gd name="connsiteX1" fmla="*/ 429985 w 2589977"/>
              <a:gd name="connsiteY1" fmla="*/ 1139046 h 2417183"/>
              <a:gd name="connsiteX2" fmla="*/ 327 w 2589977"/>
              <a:gd name="connsiteY2" fmla="*/ 632270 h 2417183"/>
              <a:gd name="connsiteX3" fmla="*/ 507103 w 2589977"/>
              <a:gd name="connsiteY3" fmla="*/ 4308 h 2417183"/>
              <a:gd name="connsiteX4" fmla="*/ 1364210 w 2589977"/>
              <a:gd name="connsiteY4" fmla="*/ 380359 h 2417183"/>
              <a:gd name="connsiteX5" fmla="*/ 1861519 w 2589977"/>
              <a:gd name="connsiteY5" fmla="*/ 860866 h 2417183"/>
              <a:gd name="connsiteX6" fmla="*/ 2155793 w 2589977"/>
              <a:gd name="connsiteY6" fmla="*/ 1417427 h 2417183"/>
              <a:gd name="connsiteX7" fmla="*/ 2589291 w 2589977"/>
              <a:gd name="connsiteY7" fmla="*/ 1910226 h 2417183"/>
              <a:gd name="connsiteX8" fmla="*/ 2049465 w 2589977"/>
              <a:gd name="connsiteY8" fmla="*/ 2372935 h 2417183"/>
              <a:gd name="connsiteX9" fmla="*/ 1443537 w 2589977"/>
              <a:gd name="connsiteY9" fmla="*/ 2339884 h 2417183"/>
              <a:gd name="connsiteX10" fmla="*/ 917878 w 2589977"/>
              <a:gd name="connsiteY10" fmla="*/ 2074856 h 2417183"/>
              <a:gd name="connsiteX11" fmla="*/ 432417 w 2589977"/>
              <a:gd name="connsiteY11" fmla="*/ 1656669 h 2417183"/>
              <a:gd name="connsiteX0" fmla="*/ 437875 w 2595435"/>
              <a:gd name="connsiteY0" fmla="*/ 1656669 h 2417183"/>
              <a:gd name="connsiteX1" fmla="*/ 250222 w 2595435"/>
              <a:gd name="connsiteY1" fmla="*/ 1147238 h 2417183"/>
              <a:gd name="connsiteX2" fmla="*/ 5785 w 2595435"/>
              <a:gd name="connsiteY2" fmla="*/ 632270 h 2417183"/>
              <a:gd name="connsiteX3" fmla="*/ 512561 w 2595435"/>
              <a:gd name="connsiteY3" fmla="*/ 4308 h 2417183"/>
              <a:gd name="connsiteX4" fmla="*/ 1369668 w 2595435"/>
              <a:gd name="connsiteY4" fmla="*/ 380359 h 2417183"/>
              <a:gd name="connsiteX5" fmla="*/ 1866977 w 2595435"/>
              <a:gd name="connsiteY5" fmla="*/ 860866 h 2417183"/>
              <a:gd name="connsiteX6" fmla="*/ 2161251 w 2595435"/>
              <a:gd name="connsiteY6" fmla="*/ 1417427 h 2417183"/>
              <a:gd name="connsiteX7" fmla="*/ 2594749 w 2595435"/>
              <a:gd name="connsiteY7" fmla="*/ 1910226 h 2417183"/>
              <a:gd name="connsiteX8" fmla="*/ 2054923 w 2595435"/>
              <a:gd name="connsiteY8" fmla="*/ 2372935 h 2417183"/>
              <a:gd name="connsiteX9" fmla="*/ 1448995 w 2595435"/>
              <a:gd name="connsiteY9" fmla="*/ 2339884 h 2417183"/>
              <a:gd name="connsiteX10" fmla="*/ 923336 w 2595435"/>
              <a:gd name="connsiteY10" fmla="*/ 2074856 h 2417183"/>
              <a:gd name="connsiteX11" fmla="*/ 437875 w 2595435"/>
              <a:gd name="connsiteY11" fmla="*/ 1656669 h 2417183"/>
              <a:gd name="connsiteX0" fmla="*/ 437639 w 2595199"/>
              <a:gd name="connsiteY0" fmla="*/ 1855505 h 2616019"/>
              <a:gd name="connsiteX1" fmla="*/ 249986 w 2595199"/>
              <a:gd name="connsiteY1" fmla="*/ 1346074 h 2616019"/>
              <a:gd name="connsiteX2" fmla="*/ 5549 w 2595199"/>
              <a:gd name="connsiteY2" fmla="*/ 831106 h 2616019"/>
              <a:gd name="connsiteX3" fmla="*/ 505973 w 2595199"/>
              <a:gd name="connsiteY3" fmla="*/ 2794 h 2616019"/>
              <a:gd name="connsiteX4" fmla="*/ 1369432 w 2595199"/>
              <a:gd name="connsiteY4" fmla="*/ 579195 h 2616019"/>
              <a:gd name="connsiteX5" fmla="*/ 1866741 w 2595199"/>
              <a:gd name="connsiteY5" fmla="*/ 1059702 h 2616019"/>
              <a:gd name="connsiteX6" fmla="*/ 2161015 w 2595199"/>
              <a:gd name="connsiteY6" fmla="*/ 1616263 h 2616019"/>
              <a:gd name="connsiteX7" fmla="*/ 2594513 w 2595199"/>
              <a:gd name="connsiteY7" fmla="*/ 2109062 h 2616019"/>
              <a:gd name="connsiteX8" fmla="*/ 2054687 w 2595199"/>
              <a:gd name="connsiteY8" fmla="*/ 2571771 h 2616019"/>
              <a:gd name="connsiteX9" fmla="*/ 1448759 w 2595199"/>
              <a:gd name="connsiteY9" fmla="*/ 2538720 h 2616019"/>
              <a:gd name="connsiteX10" fmla="*/ 923100 w 2595199"/>
              <a:gd name="connsiteY10" fmla="*/ 2273692 h 2616019"/>
              <a:gd name="connsiteX11" fmla="*/ 437639 w 2595199"/>
              <a:gd name="connsiteY11" fmla="*/ 1855505 h 261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95199" h="2616019">
                <a:moveTo>
                  <a:pt x="437639" y="1855505"/>
                </a:moveTo>
                <a:cubicBezTo>
                  <a:pt x="325453" y="1700902"/>
                  <a:pt x="322001" y="1516807"/>
                  <a:pt x="249986" y="1346074"/>
                </a:cubicBezTo>
                <a:cubicBezTo>
                  <a:pt x="177971" y="1175341"/>
                  <a:pt x="-37115" y="1054986"/>
                  <a:pt x="5549" y="831106"/>
                </a:cubicBezTo>
                <a:cubicBezTo>
                  <a:pt x="48213" y="607226"/>
                  <a:pt x="278659" y="44779"/>
                  <a:pt x="505973" y="2794"/>
                </a:cubicBezTo>
                <a:cubicBezTo>
                  <a:pt x="733287" y="-39191"/>
                  <a:pt x="1142637" y="403044"/>
                  <a:pt x="1369432" y="579195"/>
                </a:cubicBezTo>
                <a:cubicBezTo>
                  <a:pt x="1596227" y="755346"/>
                  <a:pt x="1734811" y="886857"/>
                  <a:pt x="1866741" y="1059702"/>
                </a:cubicBezTo>
                <a:cubicBezTo>
                  <a:pt x="1998671" y="1232547"/>
                  <a:pt x="2039720" y="1441370"/>
                  <a:pt x="2161015" y="1616263"/>
                </a:cubicBezTo>
                <a:cubicBezTo>
                  <a:pt x="2282310" y="1791156"/>
                  <a:pt x="2612234" y="1949811"/>
                  <a:pt x="2594513" y="2109062"/>
                </a:cubicBezTo>
                <a:cubicBezTo>
                  <a:pt x="2576792" y="2268313"/>
                  <a:pt x="2245646" y="2500161"/>
                  <a:pt x="2054687" y="2571771"/>
                </a:cubicBezTo>
                <a:cubicBezTo>
                  <a:pt x="1863728" y="2643381"/>
                  <a:pt x="1615848" y="2625019"/>
                  <a:pt x="1448759" y="2538720"/>
                </a:cubicBezTo>
                <a:cubicBezTo>
                  <a:pt x="1281670" y="2452421"/>
                  <a:pt x="1091620" y="2387561"/>
                  <a:pt x="923100" y="2273692"/>
                </a:cubicBezTo>
                <a:cubicBezTo>
                  <a:pt x="754580" y="2159823"/>
                  <a:pt x="549825" y="2010108"/>
                  <a:pt x="437639" y="185550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3310615" y="408840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2447788" y="323101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H="1" flipV="1">
            <a:off x="1788666" y="2578502"/>
            <a:ext cx="1771650" cy="17564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V="1">
            <a:off x="3336732" y="3505387"/>
            <a:ext cx="30959" cy="583766"/>
          </a:xfrm>
          <a:prstGeom prst="straightConnector1">
            <a:avLst/>
          </a:prstGeom>
          <a:ln w="19050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Прямоугольник 54"/>
              <p:cNvSpPr/>
              <p:nvPr/>
            </p:nvSpPr>
            <p:spPr>
              <a:xfrm>
                <a:off x="4290126" y="3903737"/>
                <a:ext cx="3506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Прямоугольник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26" y="3903737"/>
                <a:ext cx="350673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3119190" y="4169152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Прямоугольник 59"/>
              <p:cNvSpPr/>
              <p:nvPr/>
            </p:nvSpPr>
            <p:spPr>
              <a:xfrm>
                <a:off x="3295526" y="3488072"/>
                <a:ext cx="4777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0" name="Прямоугольник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526" y="3488072"/>
                <a:ext cx="47775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Прямоугольник 61"/>
              <p:cNvSpPr/>
              <p:nvPr/>
            </p:nvSpPr>
            <p:spPr>
              <a:xfrm>
                <a:off x="1872222" y="3568040"/>
                <a:ext cx="606256" cy="38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2" name="Прямоугольник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22" y="3568040"/>
                <a:ext cx="606256" cy="388889"/>
              </a:xfrm>
              <a:prstGeom prst="rect">
                <a:avLst/>
              </a:prstGeom>
              <a:blipFill rotWithShape="1"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2449381" y="2920686"/>
            <a:ext cx="40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/>
              <p:cNvSpPr/>
              <p:nvPr/>
            </p:nvSpPr>
            <p:spPr>
              <a:xfrm>
                <a:off x="5655027" y="1859638"/>
                <a:ext cx="2112437" cy="38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6" name="Прямоугольник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027" y="1859638"/>
                <a:ext cx="2112437" cy="388889"/>
              </a:xfrm>
              <a:prstGeom prst="rect">
                <a:avLst/>
              </a:prstGeom>
              <a:blipFill rotWithShape="1"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Прямоугольник 66"/>
              <p:cNvSpPr/>
              <p:nvPr/>
            </p:nvSpPr>
            <p:spPr>
              <a:xfrm>
                <a:off x="5745457" y="2369491"/>
                <a:ext cx="1320939" cy="38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7" name="Прямоугольник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57" y="2369491"/>
                <a:ext cx="1320939" cy="388889"/>
              </a:xfrm>
              <a:prstGeom prst="rect">
                <a:avLst/>
              </a:prstGeom>
              <a:blipFill rotWithShape="1">
                <a:blip r:embed="rId7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1095020" y="5731283"/>
                <a:ext cx="10931353" cy="609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В данный момент времени ускорения точек фигуры при плоском движении вычисляются так же, как при вращательном движении плоской фигуры вокруг мгновенного центра ускорений с угловой скоростью </a:t>
                </a:r>
                <a:r>
                  <a:rPr lang="en-US" sz="1600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𝜔</m:t>
                    </m:r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и угловым ускорением</a:t>
                </a:r>
                <a:r>
                  <a:rPr lang="en-US" sz="16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020" y="5731283"/>
                <a:ext cx="10931353" cy="609206"/>
              </a:xfrm>
              <a:prstGeom prst="rect">
                <a:avLst/>
              </a:prstGeom>
              <a:blipFill rotWithShape="1">
                <a:blip r:embed="rId8"/>
                <a:stretch>
                  <a:fillRect l="-335" t="-3000" b="-11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Дуга 49"/>
          <p:cNvSpPr/>
          <p:nvPr/>
        </p:nvSpPr>
        <p:spPr>
          <a:xfrm rot="5400000">
            <a:off x="3512685" y="3709087"/>
            <a:ext cx="827737" cy="727144"/>
          </a:xfrm>
          <a:prstGeom prst="arc">
            <a:avLst>
              <a:gd name="adj1" fmla="val 14361768"/>
              <a:gd name="adj2" fmla="val 19568183"/>
            </a:avLst>
          </a:prstGeom>
          <a:ln w="28575">
            <a:solidFill>
              <a:srgbClr val="0000FF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Дуга 50"/>
          <p:cNvSpPr/>
          <p:nvPr/>
        </p:nvSpPr>
        <p:spPr>
          <a:xfrm rot="18169969">
            <a:off x="2942464" y="3814004"/>
            <a:ext cx="827737" cy="710296"/>
          </a:xfrm>
          <a:prstGeom prst="arc">
            <a:avLst>
              <a:gd name="adj1" fmla="val 17262021"/>
              <a:gd name="adj2" fmla="val 19568183"/>
            </a:avLst>
          </a:prstGeom>
          <a:ln w="95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 стрелкой 52"/>
          <p:cNvCxnSpPr/>
          <p:nvPr/>
        </p:nvCxnSpPr>
        <p:spPr>
          <a:xfrm flipV="1">
            <a:off x="2470647" y="2652042"/>
            <a:ext cx="34217" cy="581274"/>
          </a:xfrm>
          <a:prstGeom prst="straightConnector1">
            <a:avLst/>
          </a:prstGeom>
          <a:ln w="19050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Прямоугольник 55"/>
              <p:cNvSpPr/>
              <p:nvPr/>
            </p:nvSpPr>
            <p:spPr>
              <a:xfrm>
                <a:off x="2091794" y="2448424"/>
                <a:ext cx="4777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Прямоугольник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794" y="2448424"/>
                <a:ext cx="477759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 стрелкой 63"/>
          <p:cNvCxnSpPr/>
          <p:nvPr/>
        </p:nvCxnSpPr>
        <p:spPr>
          <a:xfrm flipV="1">
            <a:off x="2433087" y="3278677"/>
            <a:ext cx="32588" cy="578727"/>
          </a:xfrm>
          <a:prstGeom prst="straightConnector1">
            <a:avLst/>
          </a:prstGeom>
          <a:ln w="19050">
            <a:solidFill>
              <a:srgbClr val="0000FF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Дуга 72"/>
          <p:cNvSpPr/>
          <p:nvPr/>
        </p:nvSpPr>
        <p:spPr>
          <a:xfrm rot="7345165">
            <a:off x="2031690" y="2830102"/>
            <a:ext cx="827737" cy="710296"/>
          </a:xfrm>
          <a:prstGeom prst="arc">
            <a:avLst>
              <a:gd name="adj1" fmla="val 17262021"/>
              <a:gd name="adj2" fmla="val 19568183"/>
            </a:avLst>
          </a:prstGeom>
          <a:ln w="95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Прямоугольник 73"/>
              <p:cNvSpPr/>
              <p:nvPr/>
            </p:nvSpPr>
            <p:spPr>
              <a:xfrm>
                <a:off x="2954320" y="3497257"/>
                <a:ext cx="3824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4" name="Прямоугольник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320" y="3497257"/>
                <a:ext cx="382412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Прямоугольник 74"/>
              <p:cNvSpPr/>
              <p:nvPr/>
            </p:nvSpPr>
            <p:spPr>
              <a:xfrm>
                <a:off x="2438059" y="3497257"/>
                <a:ext cx="3824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5" name="Прямоугольник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059" y="3497257"/>
                <a:ext cx="382412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745457" y="2817756"/>
                <a:ext cx="1199816" cy="566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𝑡𝑔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457" y="2817756"/>
                <a:ext cx="1199816" cy="566694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Прямая соединительная линия 3"/>
          <p:cNvCxnSpPr/>
          <p:nvPr/>
        </p:nvCxnSpPr>
        <p:spPr>
          <a:xfrm>
            <a:off x="2504863" y="2660172"/>
            <a:ext cx="862827" cy="845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1762060" y="3074649"/>
            <a:ext cx="1605631" cy="430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5655027" y="3505387"/>
                <a:ext cx="2771849" cy="4788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𝑄𝐴</m:t>
                          </m:r>
                        </m:sub>
                        <m:sup/>
                      </m:sSubSup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𝐴𝑄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  <m:sup/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027" y="3505387"/>
                <a:ext cx="2771849" cy="478849"/>
              </a:xfrm>
              <a:prstGeom prst="rect">
                <a:avLst/>
              </a:prstGeom>
              <a:blipFill rotWithShape="1">
                <a:blip r:embed="rId13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806018" y="4177244"/>
                <a:ext cx="1784014" cy="618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𝐴𝑄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sub>
                            <m:sup/>
                          </m:sSub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018" y="4177244"/>
                <a:ext cx="1784014" cy="618567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5806018" y="4874758"/>
            <a:ext cx="369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ускорения произвольной точки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Прямоугольник 77"/>
              <p:cNvSpPr/>
              <p:nvPr/>
            </p:nvSpPr>
            <p:spPr>
              <a:xfrm>
                <a:off x="5889054" y="5255341"/>
                <a:ext cx="4565544" cy="473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𝐵𝑄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𝐵𝑄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; </m:t>
                      </m:r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sub>
                        <m:sup/>
                      </m:sSubSup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𝐵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𝑄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8" name="Прямоугольник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054" y="5255341"/>
                <a:ext cx="4565544" cy="473591"/>
              </a:xfrm>
              <a:prstGeom prst="rect">
                <a:avLst/>
              </a:prstGeom>
              <a:blipFill rotWithShape="1">
                <a:blip r:embed="rId15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Прямая со стрелкой 79"/>
          <p:cNvCxnSpPr/>
          <p:nvPr/>
        </p:nvCxnSpPr>
        <p:spPr>
          <a:xfrm flipV="1">
            <a:off x="1762060" y="2578502"/>
            <a:ext cx="26606" cy="496147"/>
          </a:xfrm>
          <a:prstGeom prst="straightConnector1">
            <a:avLst/>
          </a:prstGeom>
          <a:ln w="19050">
            <a:solidFill>
              <a:srgbClr val="0000FF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Овал 83"/>
          <p:cNvSpPr/>
          <p:nvPr/>
        </p:nvSpPr>
        <p:spPr>
          <a:xfrm>
            <a:off x="1769614" y="256087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Дуга 84"/>
          <p:cNvSpPr/>
          <p:nvPr/>
        </p:nvSpPr>
        <p:spPr>
          <a:xfrm rot="7345165">
            <a:off x="1355745" y="2158328"/>
            <a:ext cx="827737" cy="710296"/>
          </a:xfrm>
          <a:prstGeom prst="arc">
            <a:avLst>
              <a:gd name="adj1" fmla="val 17262021"/>
              <a:gd name="adj2" fmla="val 19568183"/>
            </a:avLst>
          </a:prstGeom>
          <a:ln w="95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1605883" y="2229141"/>
            <a:ext cx="31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Прямоугольник 86"/>
              <p:cNvSpPr/>
              <p:nvPr/>
            </p:nvSpPr>
            <p:spPr>
              <a:xfrm>
                <a:off x="1815333" y="2768113"/>
                <a:ext cx="3824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7" name="Прямоугольник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333" y="2768113"/>
                <a:ext cx="382412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Прямоугольник 87"/>
              <p:cNvSpPr/>
              <p:nvPr/>
            </p:nvSpPr>
            <p:spPr>
              <a:xfrm>
                <a:off x="1321673" y="2768113"/>
                <a:ext cx="493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8" name="Прямоугольник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673" y="2768113"/>
                <a:ext cx="493660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58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animBg="1"/>
      <p:bldP spid="22" grpId="0" animBg="1"/>
      <p:bldP spid="23" grpId="0" animBg="1"/>
      <p:bldP spid="55" grpId="0"/>
      <p:bldP spid="58" grpId="0"/>
      <p:bldP spid="60" grpId="0"/>
      <p:bldP spid="62" grpId="0"/>
      <p:bldP spid="65" grpId="0"/>
      <p:bldP spid="66" grpId="0"/>
      <p:bldP spid="67" grpId="0"/>
      <p:bldP spid="71" grpId="0"/>
      <p:bldP spid="50" grpId="0" animBg="1"/>
      <p:bldP spid="51" grpId="0" animBg="1"/>
      <p:bldP spid="56" grpId="0"/>
      <p:bldP spid="73" grpId="0" animBg="1"/>
      <p:bldP spid="74" grpId="0"/>
      <p:bldP spid="75" grpId="0"/>
      <p:bldP spid="76" grpId="0"/>
      <p:bldP spid="77" grpId="0"/>
      <p:bldP spid="35" grpId="0"/>
      <p:bldP spid="36" grpId="0"/>
      <p:bldP spid="78" grpId="0"/>
      <p:bldP spid="84" grpId="0" animBg="1"/>
      <p:bldP spid="85" grpId="0" animBg="1"/>
      <p:bldP spid="86" grpId="0"/>
      <p:bldP spid="87" grpId="0"/>
      <p:bldP spid="8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Группа 128"/>
          <p:cNvGrpSpPr/>
          <p:nvPr/>
        </p:nvGrpSpPr>
        <p:grpSpPr>
          <a:xfrm>
            <a:off x="5123133" y="1129622"/>
            <a:ext cx="2094946" cy="2118079"/>
            <a:chOff x="803037" y="3840096"/>
            <a:chExt cx="1652354" cy="1730753"/>
          </a:xfrm>
        </p:grpSpPr>
        <p:grpSp>
          <p:nvGrpSpPr>
            <p:cNvPr id="108" name="Группа 107"/>
            <p:cNvGrpSpPr/>
            <p:nvPr/>
          </p:nvGrpSpPr>
          <p:grpSpPr>
            <a:xfrm>
              <a:off x="803037" y="3840096"/>
              <a:ext cx="1652354" cy="1730753"/>
              <a:chOff x="803037" y="3840096"/>
              <a:chExt cx="1652354" cy="1730753"/>
            </a:xfrm>
          </p:grpSpPr>
          <p:grpSp>
            <p:nvGrpSpPr>
              <p:cNvPr id="107" name="Группа 106"/>
              <p:cNvGrpSpPr/>
              <p:nvPr/>
            </p:nvGrpSpPr>
            <p:grpSpPr>
              <a:xfrm>
                <a:off x="803037" y="3840096"/>
                <a:ext cx="1652354" cy="1730753"/>
                <a:chOff x="803037" y="3840096"/>
                <a:chExt cx="1652354" cy="1730753"/>
              </a:xfrm>
            </p:grpSpPr>
            <p:sp>
              <p:nvSpPr>
                <p:cNvPr id="80" name="Полилиния 79"/>
                <p:cNvSpPr/>
                <p:nvPr/>
              </p:nvSpPr>
              <p:spPr>
                <a:xfrm rot="20408232">
                  <a:off x="839986" y="3840096"/>
                  <a:ext cx="1480626" cy="1730753"/>
                </a:xfrm>
                <a:custGeom>
                  <a:avLst/>
                  <a:gdLst>
                    <a:gd name="connsiteX0" fmla="*/ 451012 w 1354373"/>
                    <a:gd name="connsiteY0" fmla="*/ 1880760 h 1957328"/>
                    <a:gd name="connsiteX1" fmla="*/ 3972 w 1354373"/>
                    <a:gd name="connsiteY1" fmla="*/ 1149240 h 1957328"/>
                    <a:gd name="connsiteX2" fmla="*/ 237652 w 1354373"/>
                    <a:gd name="connsiteY2" fmla="*/ 356760 h 1957328"/>
                    <a:gd name="connsiteX3" fmla="*/ 339252 w 1354373"/>
                    <a:gd name="connsiteY3" fmla="*/ 31640 h 1957328"/>
                    <a:gd name="connsiteX4" fmla="*/ 999652 w 1354373"/>
                    <a:gd name="connsiteY4" fmla="*/ 72280 h 1957328"/>
                    <a:gd name="connsiteX5" fmla="*/ 1345092 w 1354373"/>
                    <a:gd name="connsiteY5" fmla="*/ 559960 h 1957328"/>
                    <a:gd name="connsiteX6" fmla="*/ 1253652 w 1354373"/>
                    <a:gd name="connsiteY6" fmla="*/ 1128920 h 1957328"/>
                    <a:gd name="connsiteX7" fmla="*/ 1233332 w 1354373"/>
                    <a:gd name="connsiteY7" fmla="*/ 1525160 h 1957328"/>
                    <a:gd name="connsiteX8" fmla="*/ 969172 w 1354373"/>
                    <a:gd name="connsiteY8" fmla="*/ 1850280 h 1957328"/>
                    <a:gd name="connsiteX9" fmla="*/ 583092 w 1354373"/>
                    <a:gd name="connsiteY9" fmla="*/ 1931560 h 1957328"/>
                    <a:gd name="connsiteX10" fmla="*/ 451012 w 1354373"/>
                    <a:gd name="connsiteY10" fmla="*/ 1880760 h 1957328"/>
                    <a:gd name="connsiteX0" fmla="*/ 457215 w 1360576"/>
                    <a:gd name="connsiteY0" fmla="*/ 1880163 h 1956731"/>
                    <a:gd name="connsiteX1" fmla="*/ 10175 w 1360576"/>
                    <a:gd name="connsiteY1" fmla="*/ 1148643 h 1956731"/>
                    <a:gd name="connsiteX2" fmla="*/ 160506 w 1360576"/>
                    <a:gd name="connsiteY2" fmla="*/ 347658 h 1956731"/>
                    <a:gd name="connsiteX3" fmla="*/ 345455 w 1360576"/>
                    <a:gd name="connsiteY3" fmla="*/ 31043 h 1956731"/>
                    <a:gd name="connsiteX4" fmla="*/ 1005855 w 1360576"/>
                    <a:gd name="connsiteY4" fmla="*/ 71683 h 1956731"/>
                    <a:gd name="connsiteX5" fmla="*/ 1351295 w 1360576"/>
                    <a:gd name="connsiteY5" fmla="*/ 559363 h 1956731"/>
                    <a:gd name="connsiteX6" fmla="*/ 1259855 w 1360576"/>
                    <a:gd name="connsiteY6" fmla="*/ 1128323 h 1956731"/>
                    <a:gd name="connsiteX7" fmla="*/ 1239535 w 1360576"/>
                    <a:gd name="connsiteY7" fmla="*/ 1524563 h 1956731"/>
                    <a:gd name="connsiteX8" fmla="*/ 975375 w 1360576"/>
                    <a:gd name="connsiteY8" fmla="*/ 1849683 h 1956731"/>
                    <a:gd name="connsiteX9" fmla="*/ 589295 w 1360576"/>
                    <a:gd name="connsiteY9" fmla="*/ 1930963 h 1956731"/>
                    <a:gd name="connsiteX10" fmla="*/ 457215 w 1360576"/>
                    <a:gd name="connsiteY10" fmla="*/ 1880163 h 1956731"/>
                    <a:gd name="connsiteX0" fmla="*/ 457215 w 1360576"/>
                    <a:gd name="connsiteY0" fmla="*/ 1880163 h 1978050"/>
                    <a:gd name="connsiteX1" fmla="*/ 10175 w 1360576"/>
                    <a:gd name="connsiteY1" fmla="*/ 1148643 h 1978050"/>
                    <a:gd name="connsiteX2" fmla="*/ 160506 w 1360576"/>
                    <a:gd name="connsiteY2" fmla="*/ 347658 h 1978050"/>
                    <a:gd name="connsiteX3" fmla="*/ 345455 w 1360576"/>
                    <a:gd name="connsiteY3" fmla="*/ 31043 h 1978050"/>
                    <a:gd name="connsiteX4" fmla="*/ 1005855 w 1360576"/>
                    <a:gd name="connsiteY4" fmla="*/ 71683 h 1978050"/>
                    <a:gd name="connsiteX5" fmla="*/ 1351295 w 1360576"/>
                    <a:gd name="connsiteY5" fmla="*/ 559363 h 1978050"/>
                    <a:gd name="connsiteX6" fmla="*/ 1259855 w 1360576"/>
                    <a:gd name="connsiteY6" fmla="*/ 1128323 h 1978050"/>
                    <a:gd name="connsiteX7" fmla="*/ 1239535 w 1360576"/>
                    <a:gd name="connsiteY7" fmla="*/ 1524563 h 1978050"/>
                    <a:gd name="connsiteX8" fmla="*/ 975375 w 1360576"/>
                    <a:gd name="connsiteY8" fmla="*/ 1849683 h 1978050"/>
                    <a:gd name="connsiteX9" fmla="*/ 625651 w 1360576"/>
                    <a:gd name="connsiteY9" fmla="*/ 1967167 h 1978050"/>
                    <a:gd name="connsiteX10" fmla="*/ 457215 w 1360576"/>
                    <a:gd name="connsiteY10" fmla="*/ 1880163 h 1978050"/>
                    <a:gd name="connsiteX0" fmla="*/ 457215 w 1360576"/>
                    <a:gd name="connsiteY0" fmla="*/ 1880163 h 1986841"/>
                    <a:gd name="connsiteX1" fmla="*/ 10175 w 1360576"/>
                    <a:gd name="connsiteY1" fmla="*/ 1148643 h 1986841"/>
                    <a:gd name="connsiteX2" fmla="*/ 160506 w 1360576"/>
                    <a:gd name="connsiteY2" fmla="*/ 347658 h 1986841"/>
                    <a:gd name="connsiteX3" fmla="*/ 345455 w 1360576"/>
                    <a:gd name="connsiteY3" fmla="*/ 31043 h 1986841"/>
                    <a:gd name="connsiteX4" fmla="*/ 1005855 w 1360576"/>
                    <a:gd name="connsiteY4" fmla="*/ 71683 h 1986841"/>
                    <a:gd name="connsiteX5" fmla="*/ 1351295 w 1360576"/>
                    <a:gd name="connsiteY5" fmla="*/ 559363 h 1986841"/>
                    <a:gd name="connsiteX6" fmla="*/ 1259855 w 1360576"/>
                    <a:gd name="connsiteY6" fmla="*/ 1128323 h 1986841"/>
                    <a:gd name="connsiteX7" fmla="*/ 1239535 w 1360576"/>
                    <a:gd name="connsiteY7" fmla="*/ 1524563 h 1986841"/>
                    <a:gd name="connsiteX8" fmla="*/ 975375 w 1360576"/>
                    <a:gd name="connsiteY8" fmla="*/ 1849683 h 1986841"/>
                    <a:gd name="connsiteX9" fmla="*/ 687115 w 1360576"/>
                    <a:gd name="connsiteY9" fmla="*/ 1979485 h 1986841"/>
                    <a:gd name="connsiteX10" fmla="*/ 457215 w 1360576"/>
                    <a:gd name="connsiteY10" fmla="*/ 1880163 h 1986841"/>
                    <a:gd name="connsiteX0" fmla="*/ 573576 w 1476937"/>
                    <a:gd name="connsiteY0" fmla="*/ 1893585 h 2000263"/>
                    <a:gd name="connsiteX1" fmla="*/ 126536 w 1476937"/>
                    <a:gd name="connsiteY1" fmla="*/ 1162065 h 2000263"/>
                    <a:gd name="connsiteX2" fmla="*/ 19891 w 1476937"/>
                    <a:gd name="connsiteY2" fmla="*/ 549114 h 2000263"/>
                    <a:gd name="connsiteX3" fmla="*/ 461816 w 1476937"/>
                    <a:gd name="connsiteY3" fmla="*/ 44465 h 2000263"/>
                    <a:gd name="connsiteX4" fmla="*/ 1122216 w 1476937"/>
                    <a:gd name="connsiteY4" fmla="*/ 85105 h 2000263"/>
                    <a:gd name="connsiteX5" fmla="*/ 1467656 w 1476937"/>
                    <a:gd name="connsiteY5" fmla="*/ 572785 h 2000263"/>
                    <a:gd name="connsiteX6" fmla="*/ 1376216 w 1476937"/>
                    <a:gd name="connsiteY6" fmla="*/ 1141745 h 2000263"/>
                    <a:gd name="connsiteX7" fmla="*/ 1355896 w 1476937"/>
                    <a:gd name="connsiteY7" fmla="*/ 1537985 h 2000263"/>
                    <a:gd name="connsiteX8" fmla="*/ 1091736 w 1476937"/>
                    <a:gd name="connsiteY8" fmla="*/ 1863105 h 2000263"/>
                    <a:gd name="connsiteX9" fmla="*/ 803476 w 1476937"/>
                    <a:gd name="connsiteY9" fmla="*/ 1992907 h 2000263"/>
                    <a:gd name="connsiteX10" fmla="*/ 573576 w 1476937"/>
                    <a:gd name="connsiteY10" fmla="*/ 1893585 h 2000263"/>
                    <a:gd name="connsiteX0" fmla="*/ 573576 w 1506582"/>
                    <a:gd name="connsiteY0" fmla="*/ 1893585 h 2000263"/>
                    <a:gd name="connsiteX1" fmla="*/ 126536 w 1506582"/>
                    <a:gd name="connsiteY1" fmla="*/ 1162065 h 2000263"/>
                    <a:gd name="connsiteX2" fmla="*/ 19891 w 1506582"/>
                    <a:gd name="connsiteY2" fmla="*/ 549114 h 2000263"/>
                    <a:gd name="connsiteX3" fmla="*/ 461816 w 1506582"/>
                    <a:gd name="connsiteY3" fmla="*/ 44465 h 2000263"/>
                    <a:gd name="connsiteX4" fmla="*/ 1122216 w 1506582"/>
                    <a:gd name="connsiteY4" fmla="*/ 85105 h 2000263"/>
                    <a:gd name="connsiteX5" fmla="*/ 1467656 w 1506582"/>
                    <a:gd name="connsiteY5" fmla="*/ 572785 h 2000263"/>
                    <a:gd name="connsiteX6" fmla="*/ 1376216 w 1506582"/>
                    <a:gd name="connsiteY6" fmla="*/ 1141745 h 2000263"/>
                    <a:gd name="connsiteX7" fmla="*/ 1497995 w 1506582"/>
                    <a:gd name="connsiteY7" fmla="*/ 1597788 h 2000263"/>
                    <a:gd name="connsiteX8" fmla="*/ 1091736 w 1506582"/>
                    <a:gd name="connsiteY8" fmla="*/ 1863105 h 2000263"/>
                    <a:gd name="connsiteX9" fmla="*/ 803476 w 1506582"/>
                    <a:gd name="connsiteY9" fmla="*/ 1992907 h 2000263"/>
                    <a:gd name="connsiteX10" fmla="*/ 573576 w 1506582"/>
                    <a:gd name="connsiteY10" fmla="*/ 1893585 h 2000263"/>
                    <a:gd name="connsiteX0" fmla="*/ 573576 w 1518466"/>
                    <a:gd name="connsiteY0" fmla="*/ 1893585 h 2000263"/>
                    <a:gd name="connsiteX1" fmla="*/ 126536 w 1518466"/>
                    <a:gd name="connsiteY1" fmla="*/ 1162065 h 2000263"/>
                    <a:gd name="connsiteX2" fmla="*/ 19891 w 1518466"/>
                    <a:gd name="connsiteY2" fmla="*/ 549114 h 2000263"/>
                    <a:gd name="connsiteX3" fmla="*/ 461816 w 1518466"/>
                    <a:gd name="connsiteY3" fmla="*/ 44465 h 2000263"/>
                    <a:gd name="connsiteX4" fmla="*/ 1122216 w 1518466"/>
                    <a:gd name="connsiteY4" fmla="*/ 85105 h 2000263"/>
                    <a:gd name="connsiteX5" fmla="*/ 1467656 w 1518466"/>
                    <a:gd name="connsiteY5" fmla="*/ 572785 h 2000263"/>
                    <a:gd name="connsiteX6" fmla="*/ 1459052 w 1518466"/>
                    <a:gd name="connsiteY6" fmla="*/ 1096613 h 2000263"/>
                    <a:gd name="connsiteX7" fmla="*/ 1497995 w 1518466"/>
                    <a:gd name="connsiteY7" fmla="*/ 1597788 h 2000263"/>
                    <a:gd name="connsiteX8" fmla="*/ 1091736 w 1518466"/>
                    <a:gd name="connsiteY8" fmla="*/ 1863105 h 2000263"/>
                    <a:gd name="connsiteX9" fmla="*/ 803476 w 1518466"/>
                    <a:gd name="connsiteY9" fmla="*/ 1992907 h 2000263"/>
                    <a:gd name="connsiteX10" fmla="*/ 573576 w 1518466"/>
                    <a:gd name="connsiteY10" fmla="*/ 1893585 h 2000263"/>
                    <a:gd name="connsiteX0" fmla="*/ 573576 w 1514888"/>
                    <a:gd name="connsiteY0" fmla="*/ 1893585 h 2031071"/>
                    <a:gd name="connsiteX1" fmla="*/ 126536 w 1514888"/>
                    <a:gd name="connsiteY1" fmla="*/ 1162065 h 2031071"/>
                    <a:gd name="connsiteX2" fmla="*/ 19891 w 1514888"/>
                    <a:gd name="connsiteY2" fmla="*/ 549114 h 2031071"/>
                    <a:gd name="connsiteX3" fmla="*/ 461816 w 1514888"/>
                    <a:gd name="connsiteY3" fmla="*/ 44465 h 2031071"/>
                    <a:gd name="connsiteX4" fmla="*/ 1122216 w 1514888"/>
                    <a:gd name="connsiteY4" fmla="*/ 85105 h 2031071"/>
                    <a:gd name="connsiteX5" fmla="*/ 1467656 w 1514888"/>
                    <a:gd name="connsiteY5" fmla="*/ 572785 h 2031071"/>
                    <a:gd name="connsiteX6" fmla="*/ 1459052 w 1514888"/>
                    <a:gd name="connsiteY6" fmla="*/ 1096613 h 2031071"/>
                    <a:gd name="connsiteX7" fmla="*/ 1497995 w 1514888"/>
                    <a:gd name="connsiteY7" fmla="*/ 1597788 h 2031071"/>
                    <a:gd name="connsiteX8" fmla="*/ 1143615 w 1514888"/>
                    <a:gd name="connsiteY8" fmla="*/ 1998379 h 2031071"/>
                    <a:gd name="connsiteX9" fmla="*/ 803476 w 1514888"/>
                    <a:gd name="connsiteY9" fmla="*/ 1992907 h 2031071"/>
                    <a:gd name="connsiteX10" fmla="*/ 573576 w 1514888"/>
                    <a:gd name="connsiteY10" fmla="*/ 1893585 h 2031071"/>
                    <a:gd name="connsiteX0" fmla="*/ 587713 w 1515208"/>
                    <a:gd name="connsiteY0" fmla="*/ 1666234 h 2042210"/>
                    <a:gd name="connsiteX1" fmla="*/ 126856 w 1515208"/>
                    <a:gd name="connsiteY1" fmla="*/ 1162065 h 2042210"/>
                    <a:gd name="connsiteX2" fmla="*/ 20211 w 1515208"/>
                    <a:gd name="connsiteY2" fmla="*/ 549114 h 2042210"/>
                    <a:gd name="connsiteX3" fmla="*/ 462136 w 1515208"/>
                    <a:gd name="connsiteY3" fmla="*/ 44465 h 2042210"/>
                    <a:gd name="connsiteX4" fmla="*/ 1122536 w 1515208"/>
                    <a:gd name="connsiteY4" fmla="*/ 85105 h 2042210"/>
                    <a:gd name="connsiteX5" fmla="*/ 1467976 w 1515208"/>
                    <a:gd name="connsiteY5" fmla="*/ 572785 h 2042210"/>
                    <a:gd name="connsiteX6" fmla="*/ 1459372 w 1515208"/>
                    <a:gd name="connsiteY6" fmla="*/ 1096613 h 2042210"/>
                    <a:gd name="connsiteX7" fmla="*/ 1498315 w 1515208"/>
                    <a:gd name="connsiteY7" fmla="*/ 1597788 h 2042210"/>
                    <a:gd name="connsiteX8" fmla="*/ 1143935 w 1515208"/>
                    <a:gd name="connsiteY8" fmla="*/ 1998379 h 2042210"/>
                    <a:gd name="connsiteX9" fmla="*/ 803796 w 1515208"/>
                    <a:gd name="connsiteY9" fmla="*/ 1992907 h 2042210"/>
                    <a:gd name="connsiteX10" fmla="*/ 587713 w 1515208"/>
                    <a:gd name="connsiteY10" fmla="*/ 1666234 h 2042210"/>
                    <a:gd name="connsiteX0" fmla="*/ 587713 w 1515208"/>
                    <a:gd name="connsiteY0" fmla="*/ 1666234 h 2015717"/>
                    <a:gd name="connsiteX1" fmla="*/ 126856 w 1515208"/>
                    <a:gd name="connsiteY1" fmla="*/ 1162065 h 2015717"/>
                    <a:gd name="connsiteX2" fmla="*/ 20211 w 1515208"/>
                    <a:gd name="connsiteY2" fmla="*/ 549114 h 2015717"/>
                    <a:gd name="connsiteX3" fmla="*/ 462136 w 1515208"/>
                    <a:gd name="connsiteY3" fmla="*/ 44465 h 2015717"/>
                    <a:gd name="connsiteX4" fmla="*/ 1122536 w 1515208"/>
                    <a:gd name="connsiteY4" fmla="*/ 85105 h 2015717"/>
                    <a:gd name="connsiteX5" fmla="*/ 1467976 w 1515208"/>
                    <a:gd name="connsiteY5" fmla="*/ 572785 h 2015717"/>
                    <a:gd name="connsiteX6" fmla="*/ 1459372 w 1515208"/>
                    <a:gd name="connsiteY6" fmla="*/ 1096613 h 2015717"/>
                    <a:gd name="connsiteX7" fmla="*/ 1498315 w 1515208"/>
                    <a:gd name="connsiteY7" fmla="*/ 1597788 h 2015717"/>
                    <a:gd name="connsiteX8" fmla="*/ 1143935 w 1515208"/>
                    <a:gd name="connsiteY8" fmla="*/ 1998379 h 2015717"/>
                    <a:gd name="connsiteX9" fmla="*/ 868154 w 1515208"/>
                    <a:gd name="connsiteY9" fmla="*/ 1861979 h 2015717"/>
                    <a:gd name="connsiteX10" fmla="*/ 587713 w 1515208"/>
                    <a:gd name="connsiteY10" fmla="*/ 1666234 h 2015717"/>
                    <a:gd name="connsiteX0" fmla="*/ 587713 w 1511880"/>
                    <a:gd name="connsiteY0" fmla="*/ 1666234 h 1872286"/>
                    <a:gd name="connsiteX1" fmla="*/ 126856 w 1511880"/>
                    <a:gd name="connsiteY1" fmla="*/ 1162065 h 1872286"/>
                    <a:gd name="connsiteX2" fmla="*/ 20211 w 1511880"/>
                    <a:gd name="connsiteY2" fmla="*/ 549114 h 1872286"/>
                    <a:gd name="connsiteX3" fmla="*/ 462136 w 1511880"/>
                    <a:gd name="connsiteY3" fmla="*/ 44465 h 1872286"/>
                    <a:gd name="connsiteX4" fmla="*/ 1122536 w 1511880"/>
                    <a:gd name="connsiteY4" fmla="*/ 85105 h 1872286"/>
                    <a:gd name="connsiteX5" fmla="*/ 1467976 w 1511880"/>
                    <a:gd name="connsiteY5" fmla="*/ 572785 h 1872286"/>
                    <a:gd name="connsiteX6" fmla="*/ 1459372 w 1511880"/>
                    <a:gd name="connsiteY6" fmla="*/ 1096613 h 1872286"/>
                    <a:gd name="connsiteX7" fmla="*/ 1498315 w 1511880"/>
                    <a:gd name="connsiteY7" fmla="*/ 1597788 h 1872286"/>
                    <a:gd name="connsiteX8" fmla="*/ 1193135 w 1511880"/>
                    <a:gd name="connsiteY8" fmla="*/ 1803648 h 1872286"/>
                    <a:gd name="connsiteX9" fmla="*/ 868154 w 1511880"/>
                    <a:gd name="connsiteY9" fmla="*/ 1861979 h 1872286"/>
                    <a:gd name="connsiteX10" fmla="*/ 587713 w 1511880"/>
                    <a:gd name="connsiteY10" fmla="*/ 1666234 h 1872286"/>
                    <a:gd name="connsiteX0" fmla="*/ 591285 w 1515452"/>
                    <a:gd name="connsiteY0" fmla="*/ 1615854 h 1821906"/>
                    <a:gd name="connsiteX1" fmla="*/ 130428 w 1515452"/>
                    <a:gd name="connsiteY1" fmla="*/ 1111685 h 1821906"/>
                    <a:gd name="connsiteX2" fmla="*/ 23783 w 1515452"/>
                    <a:gd name="connsiteY2" fmla="*/ 498734 h 1821906"/>
                    <a:gd name="connsiteX3" fmla="*/ 516250 w 1515452"/>
                    <a:gd name="connsiteY3" fmla="*/ 90507 h 1821906"/>
                    <a:gd name="connsiteX4" fmla="*/ 1126108 w 1515452"/>
                    <a:gd name="connsiteY4" fmla="*/ 34725 h 1821906"/>
                    <a:gd name="connsiteX5" fmla="*/ 1471548 w 1515452"/>
                    <a:gd name="connsiteY5" fmla="*/ 522405 h 1821906"/>
                    <a:gd name="connsiteX6" fmla="*/ 1462944 w 1515452"/>
                    <a:gd name="connsiteY6" fmla="*/ 1046233 h 1821906"/>
                    <a:gd name="connsiteX7" fmla="*/ 1501887 w 1515452"/>
                    <a:gd name="connsiteY7" fmla="*/ 1547408 h 1821906"/>
                    <a:gd name="connsiteX8" fmla="*/ 1196707 w 1515452"/>
                    <a:gd name="connsiteY8" fmla="*/ 1753268 h 1821906"/>
                    <a:gd name="connsiteX9" fmla="*/ 871726 w 1515452"/>
                    <a:gd name="connsiteY9" fmla="*/ 1811599 h 1821906"/>
                    <a:gd name="connsiteX10" fmla="*/ 591285 w 1515452"/>
                    <a:gd name="connsiteY10" fmla="*/ 1615854 h 1821906"/>
                    <a:gd name="connsiteX0" fmla="*/ 576545 w 1500712"/>
                    <a:gd name="connsiteY0" fmla="*/ 1615854 h 1821906"/>
                    <a:gd name="connsiteX1" fmla="*/ 211748 w 1500712"/>
                    <a:gd name="connsiteY1" fmla="*/ 1050754 h 1821906"/>
                    <a:gd name="connsiteX2" fmla="*/ 9043 w 1500712"/>
                    <a:gd name="connsiteY2" fmla="*/ 498734 h 1821906"/>
                    <a:gd name="connsiteX3" fmla="*/ 501510 w 1500712"/>
                    <a:gd name="connsiteY3" fmla="*/ 90507 h 1821906"/>
                    <a:gd name="connsiteX4" fmla="*/ 1111368 w 1500712"/>
                    <a:gd name="connsiteY4" fmla="*/ 34725 h 1821906"/>
                    <a:gd name="connsiteX5" fmla="*/ 1456808 w 1500712"/>
                    <a:gd name="connsiteY5" fmla="*/ 522405 h 1821906"/>
                    <a:gd name="connsiteX6" fmla="*/ 1448204 w 1500712"/>
                    <a:gd name="connsiteY6" fmla="*/ 1046233 h 1821906"/>
                    <a:gd name="connsiteX7" fmla="*/ 1487147 w 1500712"/>
                    <a:gd name="connsiteY7" fmla="*/ 1547408 h 1821906"/>
                    <a:gd name="connsiteX8" fmla="*/ 1181967 w 1500712"/>
                    <a:gd name="connsiteY8" fmla="*/ 1753268 h 1821906"/>
                    <a:gd name="connsiteX9" fmla="*/ 856986 w 1500712"/>
                    <a:gd name="connsiteY9" fmla="*/ 1811599 h 1821906"/>
                    <a:gd name="connsiteX10" fmla="*/ 576545 w 1500712"/>
                    <a:gd name="connsiteY10" fmla="*/ 1615854 h 1821906"/>
                    <a:gd name="connsiteX0" fmla="*/ 576545 w 1500712"/>
                    <a:gd name="connsiteY0" fmla="*/ 1615854 h 1774481"/>
                    <a:gd name="connsiteX1" fmla="*/ 211748 w 1500712"/>
                    <a:gd name="connsiteY1" fmla="*/ 1050754 h 1774481"/>
                    <a:gd name="connsiteX2" fmla="*/ 9043 w 1500712"/>
                    <a:gd name="connsiteY2" fmla="*/ 498734 h 1774481"/>
                    <a:gd name="connsiteX3" fmla="*/ 501510 w 1500712"/>
                    <a:gd name="connsiteY3" fmla="*/ 90507 h 1774481"/>
                    <a:gd name="connsiteX4" fmla="*/ 1111368 w 1500712"/>
                    <a:gd name="connsiteY4" fmla="*/ 34725 h 1774481"/>
                    <a:gd name="connsiteX5" fmla="*/ 1456808 w 1500712"/>
                    <a:gd name="connsiteY5" fmla="*/ 522405 h 1774481"/>
                    <a:gd name="connsiteX6" fmla="*/ 1448204 w 1500712"/>
                    <a:gd name="connsiteY6" fmla="*/ 1046233 h 1774481"/>
                    <a:gd name="connsiteX7" fmla="*/ 1487147 w 1500712"/>
                    <a:gd name="connsiteY7" fmla="*/ 1547408 h 1774481"/>
                    <a:gd name="connsiteX8" fmla="*/ 1181967 w 1500712"/>
                    <a:gd name="connsiteY8" fmla="*/ 1753268 h 1774481"/>
                    <a:gd name="connsiteX9" fmla="*/ 826671 w 1500712"/>
                    <a:gd name="connsiteY9" fmla="*/ 1683991 h 1774481"/>
                    <a:gd name="connsiteX10" fmla="*/ 576545 w 1500712"/>
                    <a:gd name="connsiteY10" fmla="*/ 1615854 h 1774481"/>
                    <a:gd name="connsiteX0" fmla="*/ 521031 w 1500329"/>
                    <a:gd name="connsiteY0" fmla="*/ 1478960 h 1777454"/>
                    <a:gd name="connsiteX1" fmla="*/ 211365 w 1500329"/>
                    <a:gd name="connsiteY1" fmla="*/ 1050754 h 1777454"/>
                    <a:gd name="connsiteX2" fmla="*/ 8660 w 1500329"/>
                    <a:gd name="connsiteY2" fmla="*/ 498734 h 1777454"/>
                    <a:gd name="connsiteX3" fmla="*/ 501127 w 1500329"/>
                    <a:gd name="connsiteY3" fmla="*/ 90507 h 1777454"/>
                    <a:gd name="connsiteX4" fmla="*/ 1110985 w 1500329"/>
                    <a:gd name="connsiteY4" fmla="*/ 34725 h 1777454"/>
                    <a:gd name="connsiteX5" fmla="*/ 1456425 w 1500329"/>
                    <a:gd name="connsiteY5" fmla="*/ 522405 h 1777454"/>
                    <a:gd name="connsiteX6" fmla="*/ 1447821 w 1500329"/>
                    <a:gd name="connsiteY6" fmla="*/ 1046233 h 1777454"/>
                    <a:gd name="connsiteX7" fmla="*/ 1486764 w 1500329"/>
                    <a:gd name="connsiteY7" fmla="*/ 1547408 h 1777454"/>
                    <a:gd name="connsiteX8" fmla="*/ 1181584 w 1500329"/>
                    <a:gd name="connsiteY8" fmla="*/ 1753268 h 1777454"/>
                    <a:gd name="connsiteX9" fmla="*/ 826288 w 1500329"/>
                    <a:gd name="connsiteY9" fmla="*/ 1683991 h 1777454"/>
                    <a:gd name="connsiteX10" fmla="*/ 521031 w 1500329"/>
                    <a:gd name="connsiteY10" fmla="*/ 1478960 h 1777454"/>
                    <a:gd name="connsiteX0" fmla="*/ 521031 w 1502107"/>
                    <a:gd name="connsiteY0" fmla="*/ 1478960 h 1730752"/>
                    <a:gd name="connsiteX1" fmla="*/ 211365 w 1502107"/>
                    <a:gd name="connsiteY1" fmla="*/ 1050754 h 1730752"/>
                    <a:gd name="connsiteX2" fmla="*/ 8660 w 1502107"/>
                    <a:gd name="connsiteY2" fmla="*/ 498734 h 1730752"/>
                    <a:gd name="connsiteX3" fmla="*/ 501127 w 1502107"/>
                    <a:gd name="connsiteY3" fmla="*/ 90507 h 1730752"/>
                    <a:gd name="connsiteX4" fmla="*/ 1110985 w 1502107"/>
                    <a:gd name="connsiteY4" fmla="*/ 34725 h 1730752"/>
                    <a:gd name="connsiteX5" fmla="*/ 1456425 w 1502107"/>
                    <a:gd name="connsiteY5" fmla="*/ 522405 h 1730752"/>
                    <a:gd name="connsiteX6" fmla="*/ 1447821 w 1502107"/>
                    <a:gd name="connsiteY6" fmla="*/ 1046233 h 1730752"/>
                    <a:gd name="connsiteX7" fmla="*/ 1486764 w 1502107"/>
                    <a:gd name="connsiteY7" fmla="*/ 1547408 h 1730752"/>
                    <a:gd name="connsiteX8" fmla="*/ 1155166 w 1502107"/>
                    <a:gd name="connsiteY8" fmla="*/ 1694938 h 1730752"/>
                    <a:gd name="connsiteX9" fmla="*/ 826288 w 1502107"/>
                    <a:gd name="connsiteY9" fmla="*/ 1683991 h 1730752"/>
                    <a:gd name="connsiteX10" fmla="*/ 521031 w 1502107"/>
                    <a:gd name="connsiteY10" fmla="*/ 1478960 h 1730752"/>
                    <a:gd name="connsiteX0" fmla="*/ 521031 w 1480625"/>
                    <a:gd name="connsiteY0" fmla="*/ 1478960 h 1730752"/>
                    <a:gd name="connsiteX1" fmla="*/ 211365 w 1480625"/>
                    <a:gd name="connsiteY1" fmla="*/ 1050754 h 1730752"/>
                    <a:gd name="connsiteX2" fmla="*/ 8660 w 1480625"/>
                    <a:gd name="connsiteY2" fmla="*/ 498734 h 1730752"/>
                    <a:gd name="connsiteX3" fmla="*/ 501127 w 1480625"/>
                    <a:gd name="connsiteY3" fmla="*/ 90507 h 1730752"/>
                    <a:gd name="connsiteX4" fmla="*/ 1110985 w 1480625"/>
                    <a:gd name="connsiteY4" fmla="*/ 34725 h 1730752"/>
                    <a:gd name="connsiteX5" fmla="*/ 1456425 w 1480625"/>
                    <a:gd name="connsiteY5" fmla="*/ 522405 h 1730752"/>
                    <a:gd name="connsiteX6" fmla="*/ 1447821 w 1480625"/>
                    <a:gd name="connsiteY6" fmla="*/ 1046233 h 1730752"/>
                    <a:gd name="connsiteX7" fmla="*/ 1417383 w 1480625"/>
                    <a:gd name="connsiteY7" fmla="*/ 1424556 h 1730752"/>
                    <a:gd name="connsiteX8" fmla="*/ 1155166 w 1480625"/>
                    <a:gd name="connsiteY8" fmla="*/ 1694938 h 1730752"/>
                    <a:gd name="connsiteX9" fmla="*/ 826288 w 1480625"/>
                    <a:gd name="connsiteY9" fmla="*/ 1683991 h 1730752"/>
                    <a:gd name="connsiteX10" fmla="*/ 521031 w 1480625"/>
                    <a:gd name="connsiteY10" fmla="*/ 1478960 h 1730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80625" h="1730752">
                      <a:moveTo>
                        <a:pt x="521031" y="1478960"/>
                      </a:moveTo>
                      <a:cubicBezTo>
                        <a:pt x="418544" y="1373421"/>
                        <a:pt x="296760" y="1214125"/>
                        <a:pt x="211365" y="1050754"/>
                      </a:cubicBezTo>
                      <a:cubicBezTo>
                        <a:pt x="125970" y="887383"/>
                        <a:pt x="-39634" y="658775"/>
                        <a:pt x="8660" y="498734"/>
                      </a:cubicBezTo>
                      <a:cubicBezTo>
                        <a:pt x="56954" y="338693"/>
                        <a:pt x="317406" y="167842"/>
                        <a:pt x="501127" y="90507"/>
                      </a:cubicBezTo>
                      <a:cubicBezTo>
                        <a:pt x="684848" y="13172"/>
                        <a:pt x="951769" y="-37258"/>
                        <a:pt x="1110985" y="34725"/>
                      </a:cubicBezTo>
                      <a:cubicBezTo>
                        <a:pt x="1270201" y="106708"/>
                        <a:pt x="1400286" y="353820"/>
                        <a:pt x="1456425" y="522405"/>
                      </a:cubicBezTo>
                      <a:cubicBezTo>
                        <a:pt x="1512564" y="690990"/>
                        <a:pt x="1454328" y="895875"/>
                        <a:pt x="1447821" y="1046233"/>
                      </a:cubicBezTo>
                      <a:cubicBezTo>
                        <a:pt x="1441314" y="1196592"/>
                        <a:pt x="1466159" y="1316439"/>
                        <a:pt x="1417383" y="1424556"/>
                      </a:cubicBezTo>
                      <a:cubicBezTo>
                        <a:pt x="1368607" y="1532673"/>
                        <a:pt x="1263539" y="1627205"/>
                        <a:pt x="1155166" y="1694938"/>
                      </a:cubicBezTo>
                      <a:cubicBezTo>
                        <a:pt x="1046793" y="1762671"/>
                        <a:pt x="931977" y="1719987"/>
                        <a:pt x="826288" y="1683991"/>
                      </a:cubicBezTo>
                      <a:cubicBezTo>
                        <a:pt x="720599" y="1647995"/>
                        <a:pt x="623518" y="1584500"/>
                        <a:pt x="521031" y="147896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40000"/>
                        <a:lumOff val="6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shade val="100000"/>
                        <a:satMod val="115000"/>
                      </a:schemeClr>
                    </a:gs>
                  </a:gsLst>
                  <a:lin ang="18900000" scaled="1"/>
                  <a:tileRect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90" name="Прямая со стрелкой 89"/>
                <p:cNvCxnSpPr/>
                <p:nvPr/>
              </p:nvCxnSpPr>
              <p:spPr>
                <a:xfrm flipV="1">
                  <a:off x="1095935" y="4255670"/>
                  <a:ext cx="474435" cy="402669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Прямая со стрелкой 94"/>
                <p:cNvCxnSpPr/>
                <p:nvPr/>
              </p:nvCxnSpPr>
              <p:spPr>
                <a:xfrm>
                  <a:off x="1750311" y="4171706"/>
                  <a:ext cx="588155" cy="83964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TextBox 98"/>
                <p:cNvSpPr txBox="1"/>
                <p:nvPr/>
              </p:nvSpPr>
              <p:spPr>
                <a:xfrm>
                  <a:off x="1540483" y="3854737"/>
                  <a:ext cx="2700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i="1" dirty="0" smtClean="0">
                      <a:latin typeface="Times New Roman" pitchFamily="18" charset="0"/>
                      <a:cs typeface="Times New Roman" pitchFamily="18" charset="0"/>
                    </a:rPr>
                    <a:t>B</a:t>
                  </a:r>
                  <a:endParaRPr lang="ru-RU" sz="16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0" name="TextBox 99"/>
                <p:cNvSpPr txBox="1"/>
                <p:nvPr/>
              </p:nvSpPr>
              <p:spPr>
                <a:xfrm>
                  <a:off x="803037" y="4380434"/>
                  <a:ext cx="2700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i="1" dirty="0" smtClean="0">
                      <a:latin typeface="Times New Roman" pitchFamily="18" charset="0"/>
                      <a:cs typeface="Times New Roman" pitchFamily="18" charset="0"/>
                    </a:rPr>
                    <a:t>A</a:t>
                  </a:r>
                  <a:endParaRPr lang="ru-RU" sz="16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Прямоугольник 101"/>
                    <p:cNvSpPr/>
                    <p:nvPr/>
                  </p:nvSpPr>
                  <p:spPr>
                    <a:xfrm>
                      <a:off x="2066025" y="3902537"/>
                      <a:ext cx="389366" cy="30179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𝐵</m:t>
                                </m:r>
                              </m:sub>
                            </m:sSub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102" name="Прямоугольник 10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66025" y="3902537"/>
                      <a:ext cx="389366" cy="301793"/>
                    </a:xfrm>
                    <a:prstGeom prst="rect">
                      <a:avLst/>
                    </a:prstGeom>
                    <a:blipFill rotWithShape="1"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96" name="Овал 95"/>
              <p:cNvSpPr/>
              <p:nvPr/>
            </p:nvSpPr>
            <p:spPr>
              <a:xfrm>
                <a:off x="1073075" y="463547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7" name="Овал 96"/>
              <p:cNvSpPr/>
              <p:nvPr/>
            </p:nvSpPr>
            <p:spPr>
              <a:xfrm>
                <a:off x="1727451" y="414884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Прямоугольник 127"/>
                <p:cNvSpPr/>
                <p:nvPr/>
              </p:nvSpPr>
              <p:spPr>
                <a:xfrm>
                  <a:off x="1118794" y="4078641"/>
                  <a:ext cx="376825" cy="3017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28" name="Прямоугольник 1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794" y="4078641"/>
                  <a:ext cx="376825" cy="30179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Заголовок 12"/>
          <p:cNvSpPr>
            <a:spLocks noGrp="1"/>
          </p:cNvSpPr>
          <p:nvPr>
            <p:ph type="title"/>
          </p:nvPr>
        </p:nvSpPr>
        <p:spPr>
          <a:xfrm>
            <a:off x="412478" y="222250"/>
            <a:ext cx="9143905" cy="652462"/>
          </a:xfrm>
        </p:spPr>
        <p:txBody>
          <a:bodyPr rtlCol="0">
            <a:normAutofit/>
          </a:bodyPr>
          <a:lstStyle/>
          <a:p>
            <a:pPr rtl="0"/>
            <a:r>
              <a:rPr lang="ru-RU" sz="2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Способы определения МЦ</a:t>
            </a:r>
            <a:r>
              <a:rPr lang="ru-RU" sz="2200" b="1" i="1" dirty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У</a:t>
            </a:r>
            <a:r>
              <a:rPr lang="ru-RU" sz="2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.</a:t>
            </a:r>
            <a:endParaRPr lang="ru-RU" sz="22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25" name="Прямая соединительная линия 24"/>
          <p:cNvCxnSpPr/>
          <p:nvPr/>
        </p:nvCxnSpPr>
        <p:spPr>
          <a:xfrm>
            <a:off x="335360" y="78340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354899" y="837373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916873" y="2254007"/>
                <a:ext cx="2525563" cy="607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𝐴𝑄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𝐵𝑄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e>
                      </m:rad>
                      <m:r>
                        <a:rPr lang="en-US" i="1">
                          <a:latin typeface="Cambria Math"/>
                          <a:ea typeface="Cambria Math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73" y="2254007"/>
                <a:ext cx="2525563" cy="60792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67360" y="985520"/>
                <a:ext cx="4165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1. Известны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ru-RU" b="0" i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≠0,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" y="985520"/>
                <a:ext cx="4165600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878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/>
              <p:cNvSpPr txBox="1"/>
              <p:nvPr/>
            </p:nvSpPr>
            <p:spPr>
              <a:xfrm>
                <a:off x="896553" y="1489288"/>
                <a:ext cx="1585306" cy="566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𝑎𝑟𝑐𝑡𝑔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5" name="TextBox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53" y="1489288"/>
                <a:ext cx="1585306" cy="56669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Дуга 136"/>
          <p:cNvSpPr/>
          <p:nvPr/>
        </p:nvSpPr>
        <p:spPr>
          <a:xfrm rot="5680645">
            <a:off x="5815425" y="1087724"/>
            <a:ext cx="827737" cy="710296"/>
          </a:xfrm>
          <a:prstGeom prst="arc">
            <a:avLst>
              <a:gd name="adj1" fmla="val 17262021"/>
              <a:gd name="adj2" fmla="val 19568183"/>
            </a:avLst>
          </a:prstGeom>
          <a:ln w="9525"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>
            <a:stCxn id="97" idx="4"/>
          </p:cNvCxnSpPr>
          <p:nvPr/>
        </p:nvCxnSpPr>
        <p:spPr>
          <a:xfrm>
            <a:off x="6324139" y="1563417"/>
            <a:ext cx="800561" cy="17436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Дуга 148"/>
          <p:cNvSpPr/>
          <p:nvPr/>
        </p:nvSpPr>
        <p:spPr>
          <a:xfrm rot="3236202">
            <a:off x="4937433" y="1739299"/>
            <a:ext cx="827737" cy="710296"/>
          </a:xfrm>
          <a:prstGeom prst="arc">
            <a:avLst>
              <a:gd name="adj1" fmla="val 17262021"/>
              <a:gd name="adj2" fmla="val 19568183"/>
            </a:avLst>
          </a:prstGeom>
          <a:ln w="9525"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2" name="Прямая соединительная линия 151"/>
          <p:cNvCxnSpPr/>
          <p:nvPr/>
        </p:nvCxnSpPr>
        <p:spPr>
          <a:xfrm>
            <a:off x="5501835" y="2123882"/>
            <a:ext cx="2038155" cy="9393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690822" y="1884233"/>
                <a:ext cx="3824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822" y="1884233"/>
                <a:ext cx="382412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/>
              <p:cNvSpPr txBox="1"/>
              <p:nvPr/>
            </p:nvSpPr>
            <p:spPr>
              <a:xfrm>
                <a:off x="6467854" y="1613129"/>
                <a:ext cx="3824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4" name="TextBox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854" y="1613129"/>
                <a:ext cx="382412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Овал 154"/>
          <p:cNvSpPr/>
          <p:nvPr/>
        </p:nvSpPr>
        <p:spPr>
          <a:xfrm>
            <a:off x="6844722" y="2727845"/>
            <a:ext cx="57965" cy="559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6" name="TextBox 155"/>
          <p:cNvSpPr txBox="1"/>
          <p:nvPr/>
        </p:nvSpPr>
        <p:spPr>
          <a:xfrm>
            <a:off x="6531335" y="2646565"/>
            <a:ext cx="34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ru-RU" sz="16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Дуга 157"/>
          <p:cNvSpPr/>
          <p:nvPr/>
        </p:nvSpPr>
        <p:spPr>
          <a:xfrm rot="17095010">
            <a:off x="4753691" y="1249557"/>
            <a:ext cx="827737" cy="727144"/>
          </a:xfrm>
          <a:prstGeom prst="arc">
            <a:avLst>
              <a:gd name="adj1" fmla="val 14361768"/>
              <a:gd name="adj2" fmla="val 19568183"/>
            </a:avLst>
          </a:prstGeom>
          <a:ln w="28575">
            <a:solidFill>
              <a:srgbClr val="0000FF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/>
              <p:cNvSpPr/>
              <p:nvPr/>
            </p:nvSpPr>
            <p:spPr>
              <a:xfrm>
                <a:off x="4534366" y="1243797"/>
                <a:ext cx="3506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0" name="Прямоугольник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366" y="1243797"/>
                <a:ext cx="350673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/>
              <p:cNvSpPr txBox="1"/>
              <p:nvPr/>
            </p:nvSpPr>
            <p:spPr>
              <a:xfrm>
                <a:off x="515913" y="3596380"/>
                <a:ext cx="3378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. Известны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ru-RU" b="0" i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≠0,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13" y="3596380"/>
                <a:ext cx="3378846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083" b="-180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916873" y="4200155"/>
                <a:ext cx="2014911" cy="566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𝑎𝑟𝑐𝑡𝑔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73" y="4200155"/>
                <a:ext cx="2014911" cy="566694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/>
              <p:cNvSpPr txBox="1"/>
              <p:nvPr/>
            </p:nvSpPr>
            <p:spPr>
              <a:xfrm>
                <a:off x="1031042" y="4941224"/>
                <a:ext cx="1742015" cy="607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𝐴𝑄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𝐵𝑄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5" name="TextBox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042" y="4941224"/>
                <a:ext cx="1742015" cy="607923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7" name="Группа 176"/>
          <p:cNvGrpSpPr/>
          <p:nvPr/>
        </p:nvGrpSpPr>
        <p:grpSpPr>
          <a:xfrm rot="1882203">
            <a:off x="3762919" y="3645374"/>
            <a:ext cx="1877219" cy="2118080"/>
            <a:chOff x="835663" y="3817993"/>
            <a:chExt cx="1480626" cy="1730753"/>
          </a:xfrm>
        </p:grpSpPr>
        <p:grpSp>
          <p:nvGrpSpPr>
            <p:cNvPr id="195" name="Группа 194"/>
            <p:cNvGrpSpPr/>
            <p:nvPr/>
          </p:nvGrpSpPr>
          <p:grpSpPr>
            <a:xfrm>
              <a:off x="835663" y="3817993"/>
              <a:ext cx="1480626" cy="1730753"/>
              <a:chOff x="835663" y="3817993"/>
              <a:chExt cx="1480626" cy="1730753"/>
            </a:xfrm>
          </p:grpSpPr>
          <p:sp>
            <p:nvSpPr>
              <p:cNvPr id="207" name="Полилиния 206"/>
              <p:cNvSpPr/>
              <p:nvPr/>
            </p:nvSpPr>
            <p:spPr>
              <a:xfrm rot="20408232">
                <a:off x="835663" y="3817993"/>
                <a:ext cx="1480626" cy="1730753"/>
              </a:xfrm>
              <a:custGeom>
                <a:avLst/>
                <a:gdLst>
                  <a:gd name="connsiteX0" fmla="*/ 451012 w 1354373"/>
                  <a:gd name="connsiteY0" fmla="*/ 1880760 h 1957328"/>
                  <a:gd name="connsiteX1" fmla="*/ 3972 w 1354373"/>
                  <a:gd name="connsiteY1" fmla="*/ 1149240 h 1957328"/>
                  <a:gd name="connsiteX2" fmla="*/ 237652 w 1354373"/>
                  <a:gd name="connsiteY2" fmla="*/ 356760 h 1957328"/>
                  <a:gd name="connsiteX3" fmla="*/ 339252 w 1354373"/>
                  <a:gd name="connsiteY3" fmla="*/ 31640 h 1957328"/>
                  <a:gd name="connsiteX4" fmla="*/ 999652 w 1354373"/>
                  <a:gd name="connsiteY4" fmla="*/ 72280 h 1957328"/>
                  <a:gd name="connsiteX5" fmla="*/ 1345092 w 1354373"/>
                  <a:gd name="connsiteY5" fmla="*/ 559960 h 1957328"/>
                  <a:gd name="connsiteX6" fmla="*/ 1253652 w 1354373"/>
                  <a:gd name="connsiteY6" fmla="*/ 1128920 h 1957328"/>
                  <a:gd name="connsiteX7" fmla="*/ 1233332 w 1354373"/>
                  <a:gd name="connsiteY7" fmla="*/ 1525160 h 1957328"/>
                  <a:gd name="connsiteX8" fmla="*/ 969172 w 1354373"/>
                  <a:gd name="connsiteY8" fmla="*/ 1850280 h 1957328"/>
                  <a:gd name="connsiteX9" fmla="*/ 583092 w 1354373"/>
                  <a:gd name="connsiteY9" fmla="*/ 1931560 h 1957328"/>
                  <a:gd name="connsiteX10" fmla="*/ 451012 w 1354373"/>
                  <a:gd name="connsiteY10" fmla="*/ 1880760 h 1957328"/>
                  <a:gd name="connsiteX0" fmla="*/ 457215 w 1360576"/>
                  <a:gd name="connsiteY0" fmla="*/ 1880163 h 1956731"/>
                  <a:gd name="connsiteX1" fmla="*/ 10175 w 1360576"/>
                  <a:gd name="connsiteY1" fmla="*/ 1148643 h 1956731"/>
                  <a:gd name="connsiteX2" fmla="*/ 160506 w 1360576"/>
                  <a:gd name="connsiteY2" fmla="*/ 347658 h 1956731"/>
                  <a:gd name="connsiteX3" fmla="*/ 345455 w 1360576"/>
                  <a:gd name="connsiteY3" fmla="*/ 31043 h 1956731"/>
                  <a:gd name="connsiteX4" fmla="*/ 1005855 w 1360576"/>
                  <a:gd name="connsiteY4" fmla="*/ 71683 h 1956731"/>
                  <a:gd name="connsiteX5" fmla="*/ 1351295 w 1360576"/>
                  <a:gd name="connsiteY5" fmla="*/ 559363 h 1956731"/>
                  <a:gd name="connsiteX6" fmla="*/ 1259855 w 1360576"/>
                  <a:gd name="connsiteY6" fmla="*/ 1128323 h 1956731"/>
                  <a:gd name="connsiteX7" fmla="*/ 1239535 w 1360576"/>
                  <a:gd name="connsiteY7" fmla="*/ 1524563 h 1956731"/>
                  <a:gd name="connsiteX8" fmla="*/ 975375 w 1360576"/>
                  <a:gd name="connsiteY8" fmla="*/ 1849683 h 1956731"/>
                  <a:gd name="connsiteX9" fmla="*/ 589295 w 1360576"/>
                  <a:gd name="connsiteY9" fmla="*/ 1930963 h 1956731"/>
                  <a:gd name="connsiteX10" fmla="*/ 457215 w 1360576"/>
                  <a:gd name="connsiteY10" fmla="*/ 1880163 h 1956731"/>
                  <a:gd name="connsiteX0" fmla="*/ 457215 w 1360576"/>
                  <a:gd name="connsiteY0" fmla="*/ 1880163 h 1978050"/>
                  <a:gd name="connsiteX1" fmla="*/ 10175 w 1360576"/>
                  <a:gd name="connsiteY1" fmla="*/ 1148643 h 1978050"/>
                  <a:gd name="connsiteX2" fmla="*/ 160506 w 1360576"/>
                  <a:gd name="connsiteY2" fmla="*/ 347658 h 1978050"/>
                  <a:gd name="connsiteX3" fmla="*/ 345455 w 1360576"/>
                  <a:gd name="connsiteY3" fmla="*/ 31043 h 1978050"/>
                  <a:gd name="connsiteX4" fmla="*/ 1005855 w 1360576"/>
                  <a:gd name="connsiteY4" fmla="*/ 71683 h 1978050"/>
                  <a:gd name="connsiteX5" fmla="*/ 1351295 w 1360576"/>
                  <a:gd name="connsiteY5" fmla="*/ 559363 h 1978050"/>
                  <a:gd name="connsiteX6" fmla="*/ 1259855 w 1360576"/>
                  <a:gd name="connsiteY6" fmla="*/ 1128323 h 1978050"/>
                  <a:gd name="connsiteX7" fmla="*/ 1239535 w 1360576"/>
                  <a:gd name="connsiteY7" fmla="*/ 1524563 h 1978050"/>
                  <a:gd name="connsiteX8" fmla="*/ 975375 w 1360576"/>
                  <a:gd name="connsiteY8" fmla="*/ 1849683 h 1978050"/>
                  <a:gd name="connsiteX9" fmla="*/ 625651 w 1360576"/>
                  <a:gd name="connsiteY9" fmla="*/ 1967167 h 1978050"/>
                  <a:gd name="connsiteX10" fmla="*/ 457215 w 1360576"/>
                  <a:gd name="connsiteY10" fmla="*/ 1880163 h 1978050"/>
                  <a:gd name="connsiteX0" fmla="*/ 457215 w 1360576"/>
                  <a:gd name="connsiteY0" fmla="*/ 1880163 h 1986841"/>
                  <a:gd name="connsiteX1" fmla="*/ 10175 w 1360576"/>
                  <a:gd name="connsiteY1" fmla="*/ 1148643 h 1986841"/>
                  <a:gd name="connsiteX2" fmla="*/ 160506 w 1360576"/>
                  <a:gd name="connsiteY2" fmla="*/ 347658 h 1986841"/>
                  <a:gd name="connsiteX3" fmla="*/ 345455 w 1360576"/>
                  <a:gd name="connsiteY3" fmla="*/ 31043 h 1986841"/>
                  <a:gd name="connsiteX4" fmla="*/ 1005855 w 1360576"/>
                  <a:gd name="connsiteY4" fmla="*/ 71683 h 1986841"/>
                  <a:gd name="connsiteX5" fmla="*/ 1351295 w 1360576"/>
                  <a:gd name="connsiteY5" fmla="*/ 559363 h 1986841"/>
                  <a:gd name="connsiteX6" fmla="*/ 1259855 w 1360576"/>
                  <a:gd name="connsiteY6" fmla="*/ 1128323 h 1986841"/>
                  <a:gd name="connsiteX7" fmla="*/ 1239535 w 1360576"/>
                  <a:gd name="connsiteY7" fmla="*/ 1524563 h 1986841"/>
                  <a:gd name="connsiteX8" fmla="*/ 975375 w 1360576"/>
                  <a:gd name="connsiteY8" fmla="*/ 1849683 h 1986841"/>
                  <a:gd name="connsiteX9" fmla="*/ 687115 w 1360576"/>
                  <a:gd name="connsiteY9" fmla="*/ 1979485 h 1986841"/>
                  <a:gd name="connsiteX10" fmla="*/ 457215 w 1360576"/>
                  <a:gd name="connsiteY10" fmla="*/ 1880163 h 1986841"/>
                  <a:gd name="connsiteX0" fmla="*/ 573576 w 1476937"/>
                  <a:gd name="connsiteY0" fmla="*/ 1893585 h 2000263"/>
                  <a:gd name="connsiteX1" fmla="*/ 126536 w 1476937"/>
                  <a:gd name="connsiteY1" fmla="*/ 1162065 h 2000263"/>
                  <a:gd name="connsiteX2" fmla="*/ 19891 w 1476937"/>
                  <a:gd name="connsiteY2" fmla="*/ 549114 h 2000263"/>
                  <a:gd name="connsiteX3" fmla="*/ 461816 w 1476937"/>
                  <a:gd name="connsiteY3" fmla="*/ 44465 h 2000263"/>
                  <a:gd name="connsiteX4" fmla="*/ 1122216 w 1476937"/>
                  <a:gd name="connsiteY4" fmla="*/ 85105 h 2000263"/>
                  <a:gd name="connsiteX5" fmla="*/ 1467656 w 1476937"/>
                  <a:gd name="connsiteY5" fmla="*/ 572785 h 2000263"/>
                  <a:gd name="connsiteX6" fmla="*/ 1376216 w 1476937"/>
                  <a:gd name="connsiteY6" fmla="*/ 1141745 h 2000263"/>
                  <a:gd name="connsiteX7" fmla="*/ 1355896 w 1476937"/>
                  <a:gd name="connsiteY7" fmla="*/ 1537985 h 2000263"/>
                  <a:gd name="connsiteX8" fmla="*/ 1091736 w 1476937"/>
                  <a:gd name="connsiteY8" fmla="*/ 1863105 h 2000263"/>
                  <a:gd name="connsiteX9" fmla="*/ 803476 w 1476937"/>
                  <a:gd name="connsiteY9" fmla="*/ 1992907 h 2000263"/>
                  <a:gd name="connsiteX10" fmla="*/ 573576 w 1476937"/>
                  <a:gd name="connsiteY10" fmla="*/ 1893585 h 2000263"/>
                  <a:gd name="connsiteX0" fmla="*/ 573576 w 1506582"/>
                  <a:gd name="connsiteY0" fmla="*/ 1893585 h 2000263"/>
                  <a:gd name="connsiteX1" fmla="*/ 126536 w 1506582"/>
                  <a:gd name="connsiteY1" fmla="*/ 1162065 h 2000263"/>
                  <a:gd name="connsiteX2" fmla="*/ 19891 w 1506582"/>
                  <a:gd name="connsiteY2" fmla="*/ 549114 h 2000263"/>
                  <a:gd name="connsiteX3" fmla="*/ 461816 w 1506582"/>
                  <a:gd name="connsiteY3" fmla="*/ 44465 h 2000263"/>
                  <a:gd name="connsiteX4" fmla="*/ 1122216 w 1506582"/>
                  <a:gd name="connsiteY4" fmla="*/ 85105 h 2000263"/>
                  <a:gd name="connsiteX5" fmla="*/ 1467656 w 1506582"/>
                  <a:gd name="connsiteY5" fmla="*/ 572785 h 2000263"/>
                  <a:gd name="connsiteX6" fmla="*/ 1376216 w 1506582"/>
                  <a:gd name="connsiteY6" fmla="*/ 1141745 h 2000263"/>
                  <a:gd name="connsiteX7" fmla="*/ 1497995 w 1506582"/>
                  <a:gd name="connsiteY7" fmla="*/ 1597788 h 2000263"/>
                  <a:gd name="connsiteX8" fmla="*/ 1091736 w 1506582"/>
                  <a:gd name="connsiteY8" fmla="*/ 1863105 h 2000263"/>
                  <a:gd name="connsiteX9" fmla="*/ 803476 w 1506582"/>
                  <a:gd name="connsiteY9" fmla="*/ 1992907 h 2000263"/>
                  <a:gd name="connsiteX10" fmla="*/ 573576 w 1506582"/>
                  <a:gd name="connsiteY10" fmla="*/ 1893585 h 2000263"/>
                  <a:gd name="connsiteX0" fmla="*/ 573576 w 1518466"/>
                  <a:gd name="connsiteY0" fmla="*/ 1893585 h 2000263"/>
                  <a:gd name="connsiteX1" fmla="*/ 126536 w 1518466"/>
                  <a:gd name="connsiteY1" fmla="*/ 1162065 h 2000263"/>
                  <a:gd name="connsiteX2" fmla="*/ 19891 w 1518466"/>
                  <a:gd name="connsiteY2" fmla="*/ 549114 h 2000263"/>
                  <a:gd name="connsiteX3" fmla="*/ 461816 w 1518466"/>
                  <a:gd name="connsiteY3" fmla="*/ 44465 h 2000263"/>
                  <a:gd name="connsiteX4" fmla="*/ 1122216 w 1518466"/>
                  <a:gd name="connsiteY4" fmla="*/ 85105 h 2000263"/>
                  <a:gd name="connsiteX5" fmla="*/ 1467656 w 1518466"/>
                  <a:gd name="connsiteY5" fmla="*/ 572785 h 2000263"/>
                  <a:gd name="connsiteX6" fmla="*/ 1459052 w 1518466"/>
                  <a:gd name="connsiteY6" fmla="*/ 1096613 h 2000263"/>
                  <a:gd name="connsiteX7" fmla="*/ 1497995 w 1518466"/>
                  <a:gd name="connsiteY7" fmla="*/ 1597788 h 2000263"/>
                  <a:gd name="connsiteX8" fmla="*/ 1091736 w 1518466"/>
                  <a:gd name="connsiteY8" fmla="*/ 1863105 h 2000263"/>
                  <a:gd name="connsiteX9" fmla="*/ 803476 w 1518466"/>
                  <a:gd name="connsiteY9" fmla="*/ 1992907 h 2000263"/>
                  <a:gd name="connsiteX10" fmla="*/ 573576 w 1518466"/>
                  <a:gd name="connsiteY10" fmla="*/ 1893585 h 2000263"/>
                  <a:gd name="connsiteX0" fmla="*/ 573576 w 1514888"/>
                  <a:gd name="connsiteY0" fmla="*/ 1893585 h 2031071"/>
                  <a:gd name="connsiteX1" fmla="*/ 126536 w 1514888"/>
                  <a:gd name="connsiteY1" fmla="*/ 1162065 h 2031071"/>
                  <a:gd name="connsiteX2" fmla="*/ 19891 w 1514888"/>
                  <a:gd name="connsiteY2" fmla="*/ 549114 h 2031071"/>
                  <a:gd name="connsiteX3" fmla="*/ 461816 w 1514888"/>
                  <a:gd name="connsiteY3" fmla="*/ 44465 h 2031071"/>
                  <a:gd name="connsiteX4" fmla="*/ 1122216 w 1514888"/>
                  <a:gd name="connsiteY4" fmla="*/ 85105 h 2031071"/>
                  <a:gd name="connsiteX5" fmla="*/ 1467656 w 1514888"/>
                  <a:gd name="connsiteY5" fmla="*/ 572785 h 2031071"/>
                  <a:gd name="connsiteX6" fmla="*/ 1459052 w 1514888"/>
                  <a:gd name="connsiteY6" fmla="*/ 1096613 h 2031071"/>
                  <a:gd name="connsiteX7" fmla="*/ 1497995 w 1514888"/>
                  <a:gd name="connsiteY7" fmla="*/ 1597788 h 2031071"/>
                  <a:gd name="connsiteX8" fmla="*/ 1143615 w 1514888"/>
                  <a:gd name="connsiteY8" fmla="*/ 1998379 h 2031071"/>
                  <a:gd name="connsiteX9" fmla="*/ 803476 w 1514888"/>
                  <a:gd name="connsiteY9" fmla="*/ 1992907 h 2031071"/>
                  <a:gd name="connsiteX10" fmla="*/ 573576 w 1514888"/>
                  <a:gd name="connsiteY10" fmla="*/ 1893585 h 2031071"/>
                  <a:gd name="connsiteX0" fmla="*/ 587713 w 1515208"/>
                  <a:gd name="connsiteY0" fmla="*/ 1666234 h 2042210"/>
                  <a:gd name="connsiteX1" fmla="*/ 126856 w 1515208"/>
                  <a:gd name="connsiteY1" fmla="*/ 1162065 h 2042210"/>
                  <a:gd name="connsiteX2" fmla="*/ 20211 w 1515208"/>
                  <a:gd name="connsiteY2" fmla="*/ 549114 h 2042210"/>
                  <a:gd name="connsiteX3" fmla="*/ 462136 w 1515208"/>
                  <a:gd name="connsiteY3" fmla="*/ 44465 h 2042210"/>
                  <a:gd name="connsiteX4" fmla="*/ 1122536 w 1515208"/>
                  <a:gd name="connsiteY4" fmla="*/ 85105 h 2042210"/>
                  <a:gd name="connsiteX5" fmla="*/ 1467976 w 1515208"/>
                  <a:gd name="connsiteY5" fmla="*/ 572785 h 2042210"/>
                  <a:gd name="connsiteX6" fmla="*/ 1459372 w 1515208"/>
                  <a:gd name="connsiteY6" fmla="*/ 1096613 h 2042210"/>
                  <a:gd name="connsiteX7" fmla="*/ 1498315 w 1515208"/>
                  <a:gd name="connsiteY7" fmla="*/ 1597788 h 2042210"/>
                  <a:gd name="connsiteX8" fmla="*/ 1143935 w 1515208"/>
                  <a:gd name="connsiteY8" fmla="*/ 1998379 h 2042210"/>
                  <a:gd name="connsiteX9" fmla="*/ 803796 w 1515208"/>
                  <a:gd name="connsiteY9" fmla="*/ 1992907 h 2042210"/>
                  <a:gd name="connsiteX10" fmla="*/ 587713 w 1515208"/>
                  <a:gd name="connsiteY10" fmla="*/ 1666234 h 2042210"/>
                  <a:gd name="connsiteX0" fmla="*/ 587713 w 1515208"/>
                  <a:gd name="connsiteY0" fmla="*/ 1666234 h 2015717"/>
                  <a:gd name="connsiteX1" fmla="*/ 126856 w 1515208"/>
                  <a:gd name="connsiteY1" fmla="*/ 1162065 h 2015717"/>
                  <a:gd name="connsiteX2" fmla="*/ 20211 w 1515208"/>
                  <a:gd name="connsiteY2" fmla="*/ 549114 h 2015717"/>
                  <a:gd name="connsiteX3" fmla="*/ 462136 w 1515208"/>
                  <a:gd name="connsiteY3" fmla="*/ 44465 h 2015717"/>
                  <a:gd name="connsiteX4" fmla="*/ 1122536 w 1515208"/>
                  <a:gd name="connsiteY4" fmla="*/ 85105 h 2015717"/>
                  <a:gd name="connsiteX5" fmla="*/ 1467976 w 1515208"/>
                  <a:gd name="connsiteY5" fmla="*/ 572785 h 2015717"/>
                  <a:gd name="connsiteX6" fmla="*/ 1459372 w 1515208"/>
                  <a:gd name="connsiteY6" fmla="*/ 1096613 h 2015717"/>
                  <a:gd name="connsiteX7" fmla="*/ 1498315 w 1515208"/>
                  <a:gd name="connsiteY7" fmla="*/ 1597788 h 2015717"/>
                  <a:gd name="connsiteX8" fmla="*/ 1143935 w 1515208"/>
                  <a:gd name="connsiteY8" fmla="*/ 1998379 h 2015717"/>
                  <a:gd name="connsiteX9" fmla="*/ 868154 w 1515208"/>
                  <a:gd name="connsiteY9" fmla="*/ 1861979 h 2015717"/>
                  <a:gd name="connsiteX10" fmla="*/ 587713 w 1515208"/>
                  <a:gd name="connsiteY10" fmla="*/ 1666234 h 2015717"/>
                  <a:gd name="connsiteX0" fmla="*/ 587713 w 1511880"/>
                  <a:gd name="connsiteY0" fmla="*/ 1666234 h 1872286"/>
                  <a:gd name="connsiteX1" fmla="*/ 126856 w 1511880"/>
                  <a:gd name="connsiteY1" fmla="*/ 1162065 h 1872286"/>
                  <a:gd name="connsiteX2" fmla="*/ 20211 w 1511880"/>
                  <a:gd name="connsiteY2" fmla="*/ 549114 h 1872286"/>
                  <a:gd name="connsiteX3" fmla="*/ 462136 w 1511880"/>
                  <a:gd name="connsiteY3" fmla="*/ 44465 h 1872286"/>
                  <a:gd name="connsiteX4" fmla="*/ 1122536 w 1511880"/>
                  <a:gd name="connsiteY4" fmla="*/ 85105 h 1872286"/>
                  <a:gd name="connsiteX5" fmla="*/ 1467976 w 1511880"/>
                  <a:gd name="connsiteY5" fmla="*/ 572785 h 1872286"/>
                  <a:gd name="connsiteX6" fmla="*/ 1459372 w 1511880"/>
                  <a:gd name="connsiteY6" fmla="*/ 1096613 h 1872286"/>
                  <a:gd name="connsiteX7" fmla="*/ 1498315 w 1511880"/>
                  <a:gd name="connsiteY7" fmla="*/ 1597788 h 1872286"/>
                  <a:gd name="connsiteX8" fmla="*/ 1193135 w 1511880"/>
                  <a:gd name="connsiteY8" fmla="*/ 1803648 h 1872286"/>
                  <a:gd name="connsiteX9" fmla="*/ 868154 w 1511880"/>
                  <a:gd name="connsiteY9" fmla="*/ 1861979 h 1872286"/>
                  <a:gd name="connsiteX10" fmla="*/ 587713 w 1511880"/>
                  <a:gd name="connsiteY10" fmla="*/ 1666234 h 1872286"/>
                  <a:gd name="connsiteX0" fmla="*/ 591285 w 1515452"/>
                  <a:gd name="connsiteY0" fmla="*/ 1615854 h 1821906"/>
                  <a:gd name="connsiteX1" fmla="*/ 130428 w 1515452"/>
                  <a:gd name="connsiteY1" fmla="*/ 1111685 h 1821906"/>
                  <a:gd name="connsiteX2" fmla="*/ 23783 w 1515452"/>
                  <a:gd name="connsiteY2" fmla="*/ 498734 h 1821906"/>
                  <a:gd name="connsiteX3" fmla="*/ 516250 w 1515452"/>
                  <a:gd name="connsiteY3" fmla="*/ 90507 h 1821906"/>
                  <a:gd name="connsiteX4" fmla="*/ 1126108 w 1515452"/>
                  <a:gd name="connsiteY4" fmla="*/ 34725 h 1821906"/>
                  <a:gd name="connsiteX5" fmla="*/ 1471548 w 1515452"/>
                  <a:gd name="connsiteY5" fmla="*/ 522405 h 1821906"/>
                  <a:gd name="connsiteX6" fmla="*/ 1462944 w 1515452"/>
                  <a:gd name="connsiteY6" fmla="*/ 1046233 h 1821906"/>
                  <a:gd name="connsiteX7" fmla="*/ 1501887 w 1515452"/>
                  <a:gd name="connsiteY7" fmla="*/ 1547408 h 1821906"/>
                  <a:gd name="connsiteX8" fmla="*/ 1196707 w 1515452"/>
                  <a:gd name="connsiteY8" fmla="*/ 1753268 h 1821906"/>
                  <a:gd name="connsiteX9" fmla="*/ 871726 w 1515452"/>
                  <a:gd name="connsiteY9" fmla="*/ 1811599 h 1821906"/>
                  <a:gd name="connsiteX10" fmla="*/ 591285 w 1515452"/>
                  <a:gd name="connsiteY10" fmla="*/ 1615854 h 1821906"/>
                  <a:gd name="connsiteX0" fmla="*/ 576545 w 1500712"/>
                  <a:gd name="connsiteY0" fmla="*/ 1615854 h 1821906"/>
                  <a:gd name="connsiteX1" fmla="*/ 211748 w 1500712"/>
                  <a:gd name="connsiteY1" fmla="*/ 1050754 h 1821906"/>
                  <a:gd name="connsiteX2" fmla="*/ 9043 w 1500712"/>
                  <a:gd name="connsiteY2" fmla="*/ 498734 h 1821906"/>
                  <a:gd name="connsiteX3" fmla="*/ 501510 w 1500712"/>
                  <a:gd name="connsiteY3" fmla="*/ 90507 h 1821906"/>
                  <a:gd name="connsiteX4" fmla="*/ 1111368 w 1500712"/>
                  <a:gd name="connsiteY4" fmla="*/ 34725 h 1821906"/>
                  <a:gd name="connsiteX5" fmla="*/ 1456808 w 1500712"/>
                  <a:gd name="connsiteY5" fmla="*/ 522405 h 1821906"/>
                  <a:gd name="connsiteX6" fmla="*/ 1448204 w 1500712"/>
                  <a:gd name="connsiteY6" fmla="*/ 1046233 h 1821906"/>
                  <a:gd name="connsiteX7" fmla="*/ 1487147 w 1500712"/>
                  <a:gd name="connsiteY7" fmla="*/ 1547408 h 1821906"/>
                  <a:gd name="connsiteX8" fmla="*/ 1181967 w 1500712"/>
                  <a:gd name="connsiteY8" fmla="*/ 1753268 h 1821906"/>
                  <a:gd name="connsiteX9" fmla="*/ 856986 w 1500712"/>
                  <a:gd name="connsiteY9" fmla="*/ 1811599 h 1821906"/>
                  <a:gd name="connsiteX10" fmla="*/ 576545 w 1500712"/>
                  <a:gd name="connsiteY10" fmla="*/ 1615854 h 1821906"/>
                  <a:gd name="connsiteX0" fmla="*/ 576545 w 1500712"/>
                  <a:gd name="connsiteY0" fmla="*/ 1615854 h 1774481"/>
                  <a:gd name="connsiteX1" fmla="*/ 211748 w 1500712"/>
                  <a:gd name="connsiteY1" fmla="*/ 1050754 h 1774481"/>
                  <a:gd name="connsiteX2" fmla="*/ 9043 w 1500712"/>
                  <a:gd name="connsiteY2" fmla="*/ 498734 h 1774481"/>
                  <a:gd name="connsiteX3" fmla="*/ 501510 w 1500712"/>
                  <a:gd name="connsiteY3" fmla="*/ 90507 h 1774481"/>
                  <a:gd name="connsiteX4" fmla="*/ 1111368 w 1500712"/>
                  <a:gd name="connsiteY4" fmla="*/ 34725 h 1774481"/>
                  <a:gd name="connsiteX5" fmla="*/ 1456808 w 1500712"/>
                  <a:gd name="connsiteY5" fmla="*/ 522405 h 1774481"/>
                  <a:gd name="connsiteX6" fmla="*/ 1448204 w 1500712"/>
                  <a:gd name="connsiteY6" fmla="*/ 1046233 h 1774481"/>
                  <a:gd name="connsiteX7" fmla="*/ 1487147 w 1500712"/>
                  <a:gd name="connsiteY7" fmla="*/ 1547408 h 1774481"/>
                  <a:gd name="connsiteX8" fmla="*/ 1181967 w 1500712"/>
                  <a:gd name="connsiteY8" fmla="*/ 1753268 h 1774481"/>
                  <a:gd name="connsiteX9" fmla="*/ 826671 w 1500712"/>
                  <a:gd name="connsiteY9" fmla="*/ 1683991 h 1774481"/>
                  <a:gd name="connsiteX10" fmla="*/ 576545 w 1500712"/>
                  <a:gd name="connsiteY10" fmla="*/ 1615854 h 1774481"/>
                  <a:gd name="connsiteX0" fmla="*/ 521031 w 1500329"/>
                  <a:gd name="connsiteY0" fmla="*/ 1478960 h 1777454"/>
                  <a:gd name="connsiteX1" fmla="*/ 211365 w 1500329"/>
                  <a:gd name="connsiteY1" fmla="*/ 1050754 h 1777454"/>
                  <a:gd name="connsiteX2" fmla="*/ 8660 w 1500329"/>
                  <a:gd name="connsiteY2" fmla="*/ 498734 h 1777454"/>
                  <a:gd name="connsiteX3" fmla="*/ 501127 w 1500329"/>
                  <a:gd name="connsiteY3" fmla="*/ 90507 h 1777454"/>
                  <a:gd name="connsiteX4" fmla="*/ 1110985 w 1500329"/>
                  <a:gd name="connsiteY4" fmla="*/ 34725 h 1777454"/>
                  <a:gd name="connsiteX5" fmla="*/ 1456425 w 1500329"/>
                  <a:gd name="connsiteY5" fmla="*/ 522405 h 1777454"/>
                  <a:gd name="connsiteX6" fmla="*/ 1447821 w 1500329"/>
                  <a:gd name="connsiteY6" fmla="*/ 1046233 h 1777454"/>
                  <a:gd name="connsiteX7" fmla="*/ 1486764 w 1500329"/>
                  <a:gd name="connsiteY7" fmla="*/ 1547408 h 1777454"/>
                  <a:gd name="connsiteX8" fmla="*/ 1181584 w 1500329"/>
                  <a:gd name="connsiteY8" fmla="*/ 1753268 h 1777454"/>
                  <a:gd name="connsiteX9" fmla="*/ 826288 w 1500329"/>
                  <a:gd name="connsiteY9" fmla="*/ 1683991 h 1777454"/>
                  <a:gd name="connsiteX10" fmla="*/ 521031 w 1500329"/>
                  <a:gd name="connsiteY10" fmla="*/ 1478960 h 1777454"/>
                  <a:gd name="connsiteX0" fmla="*/ 521031 w 1502107"/>
                  <a:gd name="connsiteY0" fmla="*/ 1478960 h 1730752"/>
                  <a:gd name="connsiteX1" fmla="*/ 211365 w 1502107"/>
                  <a:gd name="connsiteY1" fmla="*/ 1050754 h 1730752"/>
                  <a:gd name="connsiteX2" fmla="*/ 8660 w 1502107"/>
                  <a:gd name="connsiteY2" fmla="*/ 498734 h 1730752"/>
                  <a:gd name="connsiteX3" fmla="*/ 501127 w 1502107"/>
                  <a:gd name="connsiteY3" fmla="*/ 90507 h 1730752"/>
                  <a:gd name="connsiteX4" fmla="*/ 1110985 w 1502107"/>
                  <a:gd name="connsiteY4" fmla="*/ 34725 h 1730752"/>
                  <a:gd name="connsiteX5" fmla="*/ 1456425 w 1502107"/>
                  <a:gd name="connsiteY5" fmla="*/ 522405 h 1730752"/>
                  <a:gd name="connsiteX6" fmla="*/ 1447821 w 1502107"/>
                  <a:gd name="connsiteY6" fmla="*/ 1046233 h 1730752"/>
                  <a:gd name="connsiteX7" fmla="*/ 1486764 w 1502107"/>
                  <a:gd name="connsiteY7" fmla="*/ 1547408 h 1730752"/>
                  <a:gd name="connsiteX8" fmla="*/ 1155166 w 1502107"/>
                  <a:gd name="connsiteY8" fmla="*/ 1694938 h 1730752"/>
                  <a:gd name="connsiteX9" fmla="*/ 826288 w 1502107"/>
                  <a:gd name="connsiteY9" fmla="*/ 1683991 h 1730752"/>
                  <a:gd name="connsiteX10" fmla="*/ 521031 w 1502107"/>
                  <a:gd name="connsiteY10" fmla="*/ 1478960 h 1730752"/>
                  <a:gd name="connsiteX0" fmla="*/ 521031 w 1480625"/>
                  <a:gd name="connsiteY0" fmla="*/ 1478960 h 1730752"/>
                  <a:gd name="connsiteX1" fmla="*/ 211365 w 1480625"/>
                  <a:gd name="connsiteY1" fmla="*/ 1050754 h 1730752"/>
                  <a:gd name="connsiteX2" fmla="*/ 8660 w 1480625"/>
                  <a:gd name="connsiteY2" fmla="*/ 498734 h 1730752"/>
                  <a:gd name="connsiteX3" fmla="*/ 501127 w 1480625"/>
                  <a:gd name="connsiteY3" fmla="*/ 90507 h 1730752"/>
                  <a:gd name="connsiteX4" fmla="*/ 1110985 w 1480625"/>
                  <a:gd name="connsiteY4" fmla="*/ 34725 h 1730752"/>
                  <a:gd name="connsiteX5" fmla="*/ 1456425 w 1480625"/>
                  <a:gd name="connsiteY5" fmla="*/ 522405 h 1730752"/>
                  <a:gd name="connsiteX6" fmla="*/ 1447821 w 1480625"/>
                  <a:gd name="connsiteY6" fmla="*/ 1046233 h 1730752"/>
                  <a:gd name="connsiteX7" fmla="*/ 1417383 w 1480625"/>
                  <a:gd name="connsiteY7" fmla="*/ 1424556 h 1730752"/>
                  <a:gd name="connsiteX8" fmla="*/ 1155166 w 1480625"/>
                  <a:gd name="connsiteY8" fmla="*/ 1694938 h 1730752"/>
                  <a:gd name="connsiteX9" fmla="*/ 826288 w 1480625"/>
                  <a:gd name="connsiteY9" fmla="*/ 1683991 h 1730752"/>
                  <a:gd name="connsiteX10" fmla="*/ 521031 w 1480625"/>
                  <a:gd name="connsiteY10" fmla="*/ 1478960 h 1730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80625" h="1730752">
                    <a:moveTo>
                      <a:pt x="521031" y="1478960"/>
                    </a:moveTo>
                    <a:cubicBezTo>
                      <a:pt x="418544" y="1373421"/>
                      <a:pt x="296760" y="1214125"/>
                      <a:pt x="211365" y="1050754"/>
                    </a:cubicBezTo>
                    <a:cubicBezTo>
                      <a:pt x="125970" y="887383"/>
                      <a:pt x="-39634" y="658775"/>
                      <a:pt x="8660" y="498734"/>
                    </a:cubicBezTo>
                    <a:cubicBezTo>
                      <a:pt x="56954" y="338693"/>
                      <a:pt x="317406" y="167842"/>
                      <a:pt x="501127" y="90507"/>
                    </a:cubicBezTo>
                    <a:cubicBezTo>
                      <a:pt x="684848" y="13172"/>
                      <a:pt x="951769" y="-37258"/>
                      <a:pt x="1110985" y="34725"/>
                    </a:cubicBezTo>
                    <a:cubicBezTo>
                      <a:pt x="1270201" y="106708"/>
                      <a:pt x="1400286" y="353820"/>
                      <a:pt x="1456425" y="522405"/>
                    </a:cubicBezTo>
                    <a:cubicBezTo>
                      <a:pt x="1512564" y="690990"/>
                      <a:pt x="1454328" y="895875"/>
                      <a:pt x="1447821" y="1046233"/>
                    </a:cubicBezTo>
                    <a:cubicBezTo>
                      <a:pt x="1441314" y="1196592"/>
                      <a:pt x="1466159" y="1316439"/>
                      <a:pt x="1417383" y="1424556"/>
                    </a:cubicBezTo>
                    <a:cubicBezTo>
                      <a:pt x="1368607" y="1532673"/>
                      <a:pt x="1263539" y="1627205"/>
                      <a:pt x="1155166" y="1694938"/>
                    </a:cubicBezTo>
                    <a:cubicBezTo>
                      <a:pt x="1046793" y="1762671"/>
                      <a:pt x="931977" y="1719987"/>
                      <a:pt x="826288" y="1683991"/>
                    </a:cubicBezTo>
                    <a:cubicBezTo>
                      <a:pt x="720599" y="1647995"/>
                      <a:pt x="623518" y="1584500"/>
                      <a:pt x="521031" y="147896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shade val="30000"/>
                      <a:satMod val="115000"/>
                    </a:schemeClr>
                  </a:gs>
                  <a:gs pos="50000">
                    <a:schemeClr val="accent1">
                      <a:lumMod val="40000"/>
                      <a:lumOff val="60000"/>
                      <a:shade val="67500"/>
                      <a:satMod val="115000"/>
                    </a:schemeClr>
                  </a:gs>
                  <a:gs pos="100000">
                    <a:schemeClr val="accent1">
                      <a:lumMod val="40000"/>
                      <a:lumOff val="60000"/>
                      <a:shade val="100000"/>
                      <a:satMod val="115000"/>
                    </a:schemeClr>
                  </a:gs>
                </a:gsLst>
                <a:lin ang="18900000" scaled="1"/>
                <a:tileRect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08" name="Прямая со стрелкой 207"/>
              <p:cNvCxnSpPr/>
              <p:nvPr/>
            </p:nvCxnSpPr>
            <p:spPr>
              <a:xfrm rot="19717797">
                <a:off x="1160084" y="4332277"/>
                <a:ext cx="281200" cy="541506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Прямая со стрелкой 208"/>
              <p:cNvCxnSpPr/>
              <p:nvPr/>
            </p:nvCxnSpPr>
            <p:spPr>
              <a:xfrm rot="19717797" flipH="1">
                <a:off x="1754342" y="4093580"/>
                <a:ext cx="100077" cy="433048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7" name="Овал 196"/>
            <p:cNvSpPr/>
            <p:nvPr/>
          </p:nvSpPr>
          <p:spPr>
            <a:xfrm>
              <a:off x="1021731" y="442482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Овал 197"/>
            <p:cNvSpPr/>
            <p:nvPr/>
          </p:nvSpPr>
          <p:spPr>
            <a:xfrm>
              <a:off x="1710140" y="405772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47" name="Прямая соединительная линия 46"/>
          <p:cNvCxnSpPr>
            <a:stCxn id="197" idx="5"/>
          </p:cNvCxnSpPr>
          <p:nvPr/>
        </p:nvCxnSpPr>
        <p:spPr>
          <a:xfrm>
            <a:off x="4283638" y="4134989"/>
            <a:ext cx="857957" cy="155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stCxn id="198" idx="4"/>
          </p:cNvCxnSpPr>
          <p:nvPr/>
        </p:nvCxnSpPr>
        <p:spPr>
          <a:xfrm flipH="1">
            <a:off x="4914900" y="4202088"/>
            <a:ext cx="326057" cy="1396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Овал 212"/>
          <p:cNvSpPr/>
          <p:nvPr/>
        </p:nvSpPr>
        <p:spPr>
          <a:xfrm>
            <a:off x="4943426" y="5349935"/>
            <a:ext cx="57965" cy="559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4" name="TextBox 213"/>
          <p:cNvSpPr txBox="1"/>
          <p:nvPr/>
        </p:nvSpPr>
        <p:spPr>
          <a:xfrm>
            <a:off x="4618289" y="5180658"/>
            <a:ext cx="34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ru-RU" sz="16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" name="Дуга 214"/>
          <p:cNvSpPr/>
          <p:nvPr/>
        </p:nvSpPr>
        <p:spPr>
          <a:xfrm rot="514089">
            <a:off x="4730066" y="3425594"/>
            <a:ext cx="827737" cy="727144"/>
          </a:xfrm>
          <a:prstGeom prst="arc">
            <a:avLst>
              <a:gd name="adj1" fmla="val 14361768"/>
              <a:gd name="adj2" fmla="val 19568183"/>
            </a:avLst>
          </a:prstGeom>
          <a:ln w="28575">
            <a:solidFill>
              <a:srgbClr val="0000FF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Прямоугольник 71"/>
              <p:cNvSpPr/>
              <p:nvPr/>
            </p:nvSpPr>
            <p:spPr>
              <a:xfrm>
                <a:off x="5092492" y="3064502"/>
                <a:ext cx="4093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𝜔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2" name="Прямоугольник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492" y="3064502"/>
                <a:ext cx="409343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TextBox 215"/>
          <p:cNvSpPr txBox="1"/>
          <p:nvPr/>
        </p:nvSpPr>
        <p:spPr>
          <a:xfrm>
            <a:off x="3894759" y="3965712"/>
            <a:ext cx="34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ru-RU" sz="16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4892452" y="3965712"/>
            <a:ext cx="34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ru-RU" sz="1600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Прямоугольник 217"/>
              <p:cNvSpPr/>
              <p:nvPr/>
            </p:nvSpPr>
            <p:spPr>
              <a:xfrm>
                <a:off x="4166572" y="4549377"/>
                <a:ext cx="477760" cy="369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8" name="Прямоугольник 2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72" y="4549377"/>
                <a:ext cx="477760" cy="369331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Прямоугольник 218"/>
              <p:cNvSpPr/>
              <p:nvPr/>
            </p:nvSpPr>
            <p:spPr>
              <a:xfrm>
                <a:off x="5138450" y="4400789"/>
                <a:ext cx="4936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9" name="Прямоугольник 2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450" y="4400789"/>
                <a:ext cx="493661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/>
              <p:cNvSpPr txBox="1"/>
              <p:nvPr/>
            </p:nvSpPr>
            <p:spPr>
              <a:xfrm>
                <a:off x="6096000" y="3604500"/>
                <a:ext cx="3324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. Известны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ru-RU" b="0" i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=0,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2" name="TextBox 2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604500"/>
                <a:ext cx="3324128" cy="369332"/>
              </a:xfrm>
              <a:prstGeom prst="rect">
                <a:avLst/>
              </a:prstGeom>
              <a:blipFill rotWithShape="1">
                <a:blip r:embed="rId17"/>
                <a:stretch>
                  <a:fillRect l="-917" b="-180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/>
              <p:cNvSpPr txBox="1"/>
              <p:nvPr/>
            </p:nvSpPr>
            <p:spPr>
              <a:xfrm>
                <a:off x="6462310" y="4200155"/>
                <a:ext cx="2027863" cy="566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𝑎𝑟𝑐𝑡𝑔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l-GR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l-GR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num>
                        <m:den>
                          <m:r>
                            <a:rPr lang="el-GR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3" name="TextBox 2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310" y="4200155"/>
                <a:ext cx="2027863" cy="566694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/>
              <p:cNvSpPr txBox="1"/>
              <p:nvPr/>
            </p:nvSpPr>
            <p:spPr>
              <a:xfrm>
                <a:off x="6653516" y="5057168"/>
                <a:ext cx="1576009" cy="607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𝐴𝑄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𝐵𝑄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4" name="TextBox 2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516" y="5057168"/>
                <a:ext cx="1576009" cy="607923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5" name="Группа 224"/>
          <p:cNvGrpSpPr/>
          <p:nvPr/>
        </p:nvGrpSpPr>
        <p:grpSpPr>
          <a:xfrm>
            <a:off x="9479677" y="4068457"/>
            <a:ext cx="1725181" cy="2062830"/>
            <a:chOff x="803037" y="3726730"/>
            <a:chExt cx="1725181" cy="2062830"/>
          </a:xfrm>
        </p:grpSpPr>
        <p:grpSp>
          <p:nvGrpSpPr>
            <p:cNvPr id="226" name="Группа 225"/>
            <p:cNvGrpSpPr/>
            <p:nvPr/>
          </p:nvGrpSpPr>
          <p:grpSpPr>
            <a:xfrm>
              <a:off x="803037" y="3726730"/>
              <a:ext cx="1725181" cy="2062830"/>
              <a:chOff x="803037" y="3726730"/>
              <a:chExt cx="1725181" cy="2062830"/>
            </a:xfrm>
          </p:grpSpPr>
          <p:grpSp>
            <p:nvGrpSpPr>
              <p:cNvPr id="228" name="Группа 227"/>
              <p:cNvGrpSpPr/>
              <p:nvPr/>
            </p:nvGrpSpPr>
            <p:grpSpPr>
              <a:xfrm>
                <a:off x="803037" y="3726730"/>
                <a:ext cx="1725181" cy="2062830"/>
                <a:chOff x="803037" y="3726730"/>
                <a:chExt cx="1725181" cy="2062830"/>
              </a:xfrm>
            </p:grpSpPr>
            <p:sp>
              <p:nvSpPr>
                <p:cNvPr id="231" name="Полилиния 230"/>
                <p:cNvSpPr/>
                <p:nvPr/>
              </p:nvSpPr>
              <p:spPr>
                <a:xfrm rot="20408232">
                  <a:off x="867661" y="3789297"/>
                  <a:ext cx="1476937" cy="2000263"/>
                </a:xfrm>
                <a:custGeom>
                  <a:avLst/>
                  <a:gdLst>
                    <a:gd name="connsiteX0" fmla="*/ 451012 w 1354373"/>
                    <a:gd name="connsiteY0" fmla="*/ 1880760 h 1957328"/>
                    <a:gd name="connsiteX1" fmla="*/ 3972 w 1354373"/>
                    <a:gd name="connsiteY1" fmla="*/ 1149240 h 1957328"/>
                    <a:gd name="connsiteX2" fmla="*/ 237652 w 1354373"/>
                    <a:gd name="connsiteY2" fmla="*/ 356760 h 1957328"/>
                    <a:gd name="connsiteX3" fmla="*/ 339252 w 1354373"/>
                    <a:gd name="connsiteY3" fmla="*/ 31640 h 1957328"/>
                    <a:gd name="connsiteX4" fmla="*/ 999652 w 1354373"/>
                    <a:gd name="connsiteY4" fmla="*/ 72280 h 1957328"/>
                    <a:gd name="connsiteX5" fmla="*/ 1345092 w 1354373"/>
                    <a:gd name="connsiteY5" fmla="*/ 559960 h 1957328"/>
                    <a:gd name="connsiteX6" fmla="*/ 1253652 w 1354373"/>
                    <a:gd name="connsiteY6" fmla="*/ 1128920 h 1957328"/>
                    <a:gd name="connsiteX7" fmla="*/ 1233332 w 1354373"/>
                    <a:gd name="connsiteY7" fmla="*/ 1525160 h 1957328"/>
                    <a:gd name="connsiteX8" fmla="*/ 969172 w 1354373"/>
                    <a:gd name="connsiteY8" fmla="*/ 1850280 h 1957328"/>
                    <a:gd name="connsiteX9" fmla="*/ 583092 w 1354373"/>
                    <a:gd name="connsiteY9" fmla="*/ 1931560 h 1957328"/>
                    <a:gd name="connsiteX10" fmla="*/ 451012 w 1354373"/>
                    <a:gd name="connsiteY10" fmla="*/ 1880760 h 1957328"/>
                    <a:gd name="connsiteX0" fmla="*/ 457215 w 1360576"/>
                    <a:gd name="connsiteY0" fmla="*/ 1880163 h 1956731"/>
                    <a:gd name="connsiteX1" fmla="*/ 10175 w 1360576"/>
                    <a:gd name="connsiteY1" fmla="*/ 1148643 h 1956731"/>
                    <a:gd name="connsiteX2" fmla="*/ 160506 w 1360576"/>
                    <a:gd name="connsiteY2" fmla="*/ 347658 h 1956731"/>
                    <a:gd name="connsiteX3" fmla="*/ 345455 w 1360576"/>
                    <a:gd name="connsiteY3" fmla="*/ 31043 h 1956731"/>
                    <a:gd name="connsiteX4" fmla="*/ 1005855 w 1360576"/>
                    <a:gd name="connsiteY4" fmla="*/ 71683 h 1956731"/>
                    <a:gd name="connsiteX5" fmla="*/ 1351295 w 1360576"/>
                    <a:gd name="connsiteY5" fmla="*/ 559363 h 1956731"/>
                    <a:gd name="connsiteX6" fmla="*/ 1259855 w 1360576"/>
                    <a:gd name="connsiteY6" fmla="*/ 1128323 h 1956731"/>
                    <a:gd name="connsiteX7" fmla="*/ 1239535 w 1360576"/>
                    <a:gd name="connsiteY7" fmla="*/ 1524563 h 1956731"/>
                    <a:gd name="connsiteX8" fmla="*/ 975375 w 1360576"/>
                    <a:gd name="connsiteY8" fmla="*/ 1849683 h 1956731"/>
                    <a:gd name="connsiteX9" fmla="*/ 589295 w 1360576"/>
                    <a:gd name="connsiteY9" fmla="*/ 1930963 h 1956731"/>
                    <a:gd name="connsiteX10" fmla="*/ 457215 w 1360576"/>
                    <a:gd name="connsiteY10" fmla="*/ 1880163 h 1956731"/>
                    <a:gd name="connsiteX0" fmla="*/ 457215 w 1360576"/>
                    <a:gd name="connsiteY0" fmla="*/ 1880163 h 1978050"/>
                    <a:gd name="connsiteX1" fmla="*/ 10175 w 1360576"/>
                    <a:gd name="connsiteY1" fmla="*/ 1148643 h 1978050"/>
                    <a:gd name="connsiteX2" fmla="*/ 160506 w 1360576"/>
                    <a:gd name="connsiteY2" fmla="*/ 347658 h 1978050"/>
                    <a:gd name="connsiteX3" fmla="*/ 345455 w 1360576"/>
                    <a:gd name="connsiteY3" fmla="*/ 31043 h 1978050"/>
                    <a:gd name="connsiteX4" fmla="*/ 1005855 w 1360576"/>
                    <a:gd name="connsiteY4" fmla="*/ 71683 h 1978050"/>
                    <a:gd name="connsiteX5" fmla="*/ 1351295 w 1360576"/>
                    <a:gd name="connsiteY5" fmla="*/ 559363 h 1978050"/>
                    <a:gd name="connsiteX6" fmla="*/ 1259855 w 1360576"/>
                    <a:gd name="connsiteY6" fmla="*/ 1128323 h 1978050"/>
                    <a:gd name="connsiteX7" fmla="*/ 1239535 w 1360576"/>
                    <a:gd name="connsiteY7" fmla="*/ 1524563 h 1978050"/>
                    <a:gd name="connsiteX8" fmla="*/ 975375 w 1360576"/>
                    <a:gd name="connsiteY8" fmla="*/ 1849683 h 1978050"/>
                    <a:gd name="connsiteX9" fmla="*/ 625651 w 1360576"/>
                    <a:gd name="connsiteY9" fmla="*/ 1967167 h 1978050"/>
                    <a:gd name="connsiteX10" fmla="*/ 457215 w 1360576"/>
                    <a:gd name="connsiteY10" fmla="*/ 1880163 h 1978050"/>
                    <a:gd name="connsiteX0" fmla="*/ 457215 w 1360576"/>
                    <a:gd name="connsiteY0" fmla="*/ 1880163 h 1986841"/>
                    <a:gd name="connsiteX1" fmla="*/ 10175 w 1360576"/>
                    <a:gd name="connsiteY1" fmla="*/ 1148643 h 1986841"/>
                    <a:gd name="connsiteX2" fmla="*/ 160506 w 1360576"/>
                    <a:gd name="connsiteY2" fmla="*/ 347658 h 1986841"/>
                    <a:gd name="connsiteX3" fmla="*/ 345455 w 1360576"/>
                    <a:gd name="connsiteY3" fmla="*/ 31043 h 1986841"/>
                    <a:gd name="connsiteX4" fmla="*/ 1005855 w 1360576"/>
                    <a:gd name="connsiteY4" fmla="*/ 71683 h 1986841"/>
                    <a:gd name="connsiteX5" fmla="*/ 1351295 w 1360576"/>
                    <a:gd name="connsiteY5" fmla="*/ 559363 h 1986841"/>
                    <a:gd name="connsiteX6" fmla="*/ 1259855 w 1360576"/>
                    <a:gd name="connsiteY6" fmla="*/ 1128323 h 1986841"/>
                    <a:gd name="connsiteX7" fmla="*/ 1239535 w 1360576"/>
                    <a:gd name="connsiteY7" fmla="*/ 1524563 h 1986841"/>
                    <a:gd name="connsiteX8" fmla="*/ 975375 w 1360576"/>
                    <a:gd name="connsiteY8" fmla="*/ 1849683 h 1986841"/>
                    <a:gd name="connsiteX9" fmla="*/ 687115 w 1360576"/>
                    <a:gd name="connsiteY9" fmla="*/ 1979485 h 1986841"/>
                    <a:gd name="connsiteX10" fmla="*/ 457215 w 1360576"/>
                    <a:gd name="connsiteY10" fmla="*/ 1880163 h 1986841"/>
                    <a:gd name="connsiteX0" fmla="*/ 573576 w 1476937"/>
                    <a:gd name="connsiteY0" fmla="*/ 1893585 h 2000263"/>
                    <a:gd name="connsiteX1" fmla="*/ 126536 w 1476937"/>
                    <a:gd name="connsiteY1" fmla="*/ 1162065 h 2000263"/>
                    <a:gd name="connsiteX2" fmla="*/ 19891 w 1476937"/>
                    <a:gd name="connsiteY2" fmla="*/ 549114 h 2000263"/>
                    <a:gd name="connsiteX3" fmla="*/ 461816 w 1476937"/>
                    <a:gd name="connsiteY3" fmla="*/ 44465 h 2000263"/>
                    <a:gd name="connsiteX4" fmla="*/ 1122216 w 1476937"/>
                    <a:gd name="connsiteY4" fmla="*/ 85105 h 2000263"/>
                    <a:gd name="connsiteX5" fmla="*/ 1467656 w 1476937"/>
                    <a:gd name="connsiteY5" fmla="*/ 572785 h 2000263"/>
                    <a:gd name="connsiteX6" fmla="*/ 1376216 w 1476937"/>
                    <a:gd name="connsiteY6" fmla="*/ 1141745 h 2000263"/>
                    <a:gd name="connsiteX7" fmla="*/ 1355896 w 1476937"/>
                    <a:gd name="connsiteY7" fmla="*/ 1537985 h 2000263"/>
                    <a:gd name="connsiteX8" fmla="*/ 1091736 w 1476937"/>
                    <a:gd name="connsiteY8" fmla="*/ 1863105 h 2000263"/>
                    <a:gd name="connsiteX9" fmla="*/ 803476 w 1476937"/>
                    <a:gd name="connsiteY9" fmla="*/ 1992907 h 2000263"/>
                    <a:gd name="connsiteX10" fmla="*/ 573576 w 1476937"/>
                    <a:gd name="connsiteY10" fmla="*/ 1893585 h 2000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76937" h="2000263">
                      <a:moveTo>
                        <a:pt x="573576" y="1893585"/>
                      </a:moveTo>
                      <a:cubicBezTo>
                        <a:pt x="460753" y="1755111"/>
                        <a:pt x="218817" y="1386144"/>
                        <a:pt x="126536" y="1162065"/>
                      </a:cubicBezTo>
                      <a:cubicBezTo>
                        <a:pt x="34255" y="937987"/>
                        <a:pt x="-35989" y="735381"/>
                        <a:pt x="19891" y="549114"/>
                      </a:cubicBezTo>
                      <a:cubicBezTo>
                        <a:pt x="75771" y="362847"/>
                        <a:pt x="278095" y="121800"/>
                        <a:pt x="461816" y="44465"/>
                      </a:cubicBezTo>
                      <a:cubicBezTo>
                        <a:pt x="645537" y="-32870"/>
                        <a:pt x="954576" y="-2948"/>
                        <a:pt x="1122216" y="85105"/>
                      </a:cubicBezTo>
                      <a:cubicBezTo>
                        <a:pt x="1289856" y="173158"/>
                        <a:pt x="1425323" y="396678"/>
                        <a:pt x="1467656" y="572785"/>
                      </a:cubicBezTo>
                      <a:cubicBezTo>
                        <a:pt x="1509989" y="748892"/>
                        <a:pt x="1394843" y="980878"/>
                        <a:pt x="1376216" y="1141745"/>
                      </a:cubicBezTo>
                      <a:cubicBezTo>
                        <a:pt x="1357589" y="1302612"/>
                        <a:pt x="1403309" y="1417758"/>
                        <a:pt x="1355896" y="1537985"/>
                      </a:cubicBezTo>
                      <a:cubicBezTo>
                        <a:pt x="1308483" y="1658212"/>
                        <a:pt x="1200109" y="1795372"/>
                        <a:pt x="1091736" y="1863105"/>
                      </a:cubicBezTo>
                      <a:cubicBezTo>
                        <a:pt x="983363" y="1930838"/>
                        <a:pt x="891529" y="1987827"/>
                        <a:pt x="803476" y="1992907"/>
                      </a:cubicBezTo>
                      <a:cubicBezTo>
                        <a:pt x="715423" y="1997987"/>
                        <a:pt x="686399" y="2032059"/>
                        <a:pt x="573576" y="1893585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40000"/>
                        <a:lumOff val="6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shade val="100000"/>
                        <a:satMod val="115000"/>
                      </a:schemeClr>
                    </a:gs>
                  </a:gsLst>
                  <a:lin ang="18900000" scaled="1"/>
                  <a:tileRect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cxnSp>
              <p:nvCxnSpPr>
                <p:cNvPr id="232" name="Прямая со стрелкой 231"/>
                <p:cNvCxnSpPr/>
                <p:nvPr/>
              </p:nvCxnSpPr>
              <p:spPr>
                <a:xfrm flipV="1">
                  <a:off x="1095935" y="4380379"/>
                  <a:ext cx="295836" cy="277959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Прямая со стрелкой 232"/>
                <p:cNvCxnSpPr/>
                <p:nvPr/>
              </p:nvCxnSpPr>
              <p:spPr>
                <a:xfrm flipV="1">
                  <a:off x="1750311" y="4096062"/>
                  <a:ext cx="588155" cy="75643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4" name="TextBox 233"/>
                <p:cNvSpPr txBox="1"/>
                <p:nvPr/>
              </p:nvSpPr>
              <p:spPr>
                <a:xfrm>
                  <a:off x="1511664" y="3833150"/>
                  <a:ext cx="2700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i="1" dirty="0" smtClean="0">
                      <a:latin typeface="Times New Roman" pitchFamily="18" charset="0"/>
                      <a:cs typeface="Times New Roman" pitchFamily="18" charset="0"/>
                    </a:rPr>
                    <a:t>B</a:t>
                  </a:r>
                  <a:endParaRPr lang="ru-RU" sz="16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5" name="TextBox 234"/>
                <p:cNvSpPr txBox="1"/>
                <p:nvPr/>
              </p:nvSpPr>
              <p:spPr>
                <a:xfrm>
                  <a:off x="803037" y="4380434"/>
                  <a:ext cx="2700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i="1" dirty="0" smtClean="0">
                      <a:latin typeface="Times New Roman" pitchFamily="18" charset="0"/>
                      <a:cs typeface="Times New Roman" pitchFamily="18" charset="0"/>
                    </a:rPr>
                    <a:t>A</a:t>
                  </a:r>
                  <a:endParaRPr lang="ru-RU" sz="16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6" name="Прямоугольник 235"/>
                    <p:cNvSpPr/>
                    <p:nvPr/>
                  </p:nvSpPr>
                  <p:spPr>
                    <a:xfrm>
                      <a:off x="2034558" y="3726730"/>
                      <a:ext cx="493660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𝐵</m:t>
                                </m:r>
                              </m:sub>
                            </m:sSub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236" name="Прямоугольник 23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34558" y="3726730"/>
                      <a:ext cx="493660" cy="369332"/>
                    </a:xfrm>
                    <a:prstGeom prst="rect">
                      <a:avLst/>
                    </a:prstGeom>
                    <a:blipFill rotWithShape="1"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29" name="Овал 228"/>
              <p:cNvSpPr/>
              <p:nvPr/>
            </p:nvSpPr>
            <p:spPr>
              <a:xfrm>
                <a:off x="1073075" y="4635478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0" name="Овал 229"/>
              <p:cNvSpPr/>
              <p:nvPr/>
            </p:nvSpPr>
            <p:spPr>
              <a:xfrm>
                <a:off x="1727451" y="414884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Прямоугольник 226"/>
                <p:cNvSpPr/>
                <p:nvPr/>
              </p:nvSpPr>
              <p:spPr>
                <a:xfrm>
                  <a:off x="938056" y="4121611"/>
                  <a:ext cx="47775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27" name="Прямоугольник 2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056" y="4121611"/>
                  <a:ext cx="477759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7" name="Прямая соединительная линия 236"/>
          <p:cNvCxnSpPr/>
          <p:nvPr/>
        </p:nvCxnSpPr>
        <p:spPr>
          <a:xfrm flipH="1" flipV="1">
            <a:off x="9772575" y="5000065"/>
            <a:ext cx="740714" cy="7514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Прямая соединительная линия 237"/>
          <p:cNvCxnSpPr/>
          <p:nvPr/>
        </p:nvCxnSpPr>
        <p:spPr>
          <a:xfrm flipH="1" flipV="1">
            <a:off x="10426951" y="4527183"/>
            <a:ext cx="86338" cy="1238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Группа 238"/>
          <p:cNvGrpSpPr/>
          <p:nvPr/>
        </p:nvGrpSpPr>
        <p:grpSpPr>
          <a:xfrm>
            <a:off x="9840775" y="4939415"/>
            <a:ext cx="62318" cy="121300"/>
            <a:chOff x="6750045" y="1903995"/>
            <a:chExt cx="62318" cy="121300"/>
          </a:xfrm>
        </p:grpSpPr>
        <p:cxnSp>
          <p:nvCxnSpPr>
            <p:cNvPr id="240" name="Прямая соединительная линия 239"/>
            <p:cNvCxnSpPr/>
            <p:nvPr/>
          </p:nvCxnSpPr>
          <p:spPr>
            <a:xfrm flipV="1">
              <a:off x="6750046" y="1964645"/>
              <a:ext cx="62317" cy="606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Прямая соединительная линия 240"/>
            <p:cNvCxnSpPr/>
            <p:nvPr/>
          </p:nvCxnSpPr>
          <p:spPr>
            <a:xfrm flipH="1" flipV="1">
              <a:off x="6750045" y="1903995"/>
              <a:ext cx="62317" cy="606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Группа 241"/>
          <p:cNvGrpSpPr/>
          <p:nvPr/>
        </p:nvGrpSpPr>
        <p:grpSpPr>
          <a:xfrm rot="21189762">
            <a:off x="10445574" y="4528617"/>
            <a:ext cx="103727" cy="105011"/>
            <a:chOff x="6172569" y="3037575"/>
            <a:chExt cx="103727" cy="105011"/>
          </a:xfrm>
        </p:grpSpPr>
        <p:cxnSp>
          <p:nvCxnSpPr>
            <p:cNvPr id="243" name="Прямая соединительная линия 242"/>
            <p:cNvCxnSpPr/>
            <p:nvPr/>
          </p:nvCxnSpPr>
          <p:spPr>
            <a:xfrm rot="2715392" flipV="1">
              <a:off x="6171735" y="3081103"/>
              <a:ext cx="62317" cy="606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Прямая соединительная линия 243"/>
            <p:cNvCxnSpPr/>
            <p:nvPr/>
          </p:nvCxnSpPr>
          <p:spPr>
            <a:xfrm rot="2715392" flipH="1" flipV="1">
              <a:off x="6214812" y="3038409"/>
              <a:ext cx="62317" cy="606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" name="Овал 244"/>
          <p:cNvSpPr/>
          <p:nvPr/>
        </p:nvSpPr>
        <p:spPr>
          <a:xfrm>
            <a:off x="10490429" y="572866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6" name="TextBox 245"/>
          <p:cNvSpPr txBox="1"/>
          <p:nvPr/>
        </p:nvSpPr>
        <p:spPr>
          <a:xfrm>
            <a:off x="10559538" y="5605110"/>
            <a:ext cx="270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ru-RU" sz="1600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/>
              <p:cNvSpPr txBox="1"/>
              <p:nvPr/>
            </p:nvSpPr>
            <p:spPr>
              <a:xfrm>
                <a:off x="9730184" y="3568691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7" name="TextBox 2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0184" y="3568691"/>
                <a:ext cx="350673" cy="3693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Дуга 247"/>
          <p:cNvSpPr/>
          <p:nvPr/>
        </p:nvSpPr>
        <p:spPr>
          <a:xfrm rot="17356255">
            <a:off x="9722885" y="3880102"/>
            <a:ext cx="708540" cy="830545"/>
          </a:xfrm>
          <a:prstGeom prst="arc">
            <a:avLst>
              <a:gd name="adj1" fmla="val 16388392"/>
              <a:gd name="adj2" fmla="val 154491"/>
            </a:avLst>
          </a:prstGeom>
          <a:ln w="28575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49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2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2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2" grpId="0"/>
      <p:bldP spid="135" grpId="0"/>
      <p:bldP spid="137" grpId="0" animBg="1"/>
      <p:bldP spid="149" grpId="0" animBg="1"/>
      <p:bldP spid="38" grpId="0"/>
      <p:bldP spid="154" grpId="0"/>
      <p:bldP spid="155" grpId="0" animBg="1"/>
      <p:bldP spid="156" grpId="0"/>
      <p:bldP spid="158" grpId="0" animBg="1"/>
      <p:bldP spid="40" grpId="0"/>
      <p:bldP spid="160" grpId="0"/>
      <p:bldP spid="172" grpId="0"/>
      <p:bldP spid="175" grpId="0"/>
      <p:bldP spid="213" grpId="0" animBg="1"/>
      <p:bldP spid="214" grpId="0"/>
      <p:bldP spid="215" grpId="0" animBg="1"/>
      <p:bldP spid="72" grpId="0"/>
      <p:bldP spid="216" grpId="0"/>
      <p:bldP spid="217" grpId="0"/>
      <p:bldP spid="218" grpId="0"/>
      <p:bldP spid="219" grpId="0"/>
      <p:bldP spid="222" grpId="0"/>
      <p:bldP spid="223" grpId="0"/>
      <p:bldP spid="224" grpId="0"/>
      <p:bldP spid="245" grpId="0" animBg="1"/>
      <p:bldP spid="246" grpId="0"/>
      <p:bldP spid="247" grpId="0"/>
      <p:bldP spid="2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2"/>
          <p:cNvSpPr>
            <a:spLocks noGrp="1"/>
          </p:cNvSpPr>
          <p:nvPr>
            <p:ph type="title"/>
          </p:nvPr>
        </p:nvSpPr>
        <p:spPr>
          <a:xfrm>
            <a:off x="412478" y="222250"/>
            <a:ext cx="9143905" cy="652462"/>
          </a:xfrm>
        </p:spPr>
        <p:txBody>
          <a:bodyPr rtlCol="0">
            <a:normAutofit/>
          </a:bodyPr>
          <a:lstStyle/>
          <a:p>
            <a:pPr rtl="0"/>
            <a:r>
              <a:rPr lang="ru-RU" sz="2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Способы вычисления углового ускорения при плоском движении.</a:t>
            </a:r>
            <a:endParaRPr lang="ru-RU" sz="22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>
            <a:off x="335360" y="78340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58802" y="846581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6080" y="1009283"/>
                <a:ext cx="108610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1.  Если известно уравнение движения </a:t>
                </a:r>
                <a14:m>
                  <m:oMath xmlns:m="http://schemas.openxmlformats.org/officeDocument/2006/math">
                    <m:r>
                      <a:rPr lang="ru-RU" sz="16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𝜑</m:t>
                    </m:r>
                    <m:r>
                      <a:rPr lang="ru-RU" sz="16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r>
                      <a:rPr lang="ru-RU" sz="16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𝜑</m:t>
                    </m:r>
                    <m:r>
                      <a:rPr lang="ru-RU" sz="16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, то по определению:</a:t>
                </a:r>
              </a:p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  <a:ea typeface="Cambria Math"/>
                      </a:rPr>
                      <m:t>ε</m:t>
                    </m:r>
                    <m:r>
                      <a:rPr lang="ru-RU" sz="1600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sz="1600" i="1" smtClean="0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ru-RU" sz="1600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ru-RU" sz="1600" i="1" smtClean="0">
                                <a:latin typeface="Cambria Math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ru-RU" sz="1600" i="1" smtClean="0">
                                <a:latin typeface="Cambria Math"/>
                                <a:ea typeface="Cambria Math"/>
                              </a:rPr>
                              <m:t>𝜑</m:t>
                            </m:r>
                          </m:e>
                        </m:acc>
                      </m:e>
                    </m:d>
                    <m:r>
                      <a:rPr lang="en-US" sz="1600" b="0" i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Направление углового ускорения определяется знаком второй производной.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80" y="1009283"/>
                <a:ext cx="10861040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281" t="-3158" b="-136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Группа 36"/>
          <p:cNvGrpSpPr/>
          <p:nvPr/>
        </p:nvGrpSpPr>
        <p:grpSpPr>
          <a:xfrm>
            <a:off x="1989897" y="1446096"/>
            <a:ext cx="3356436" cy="1504645"/>
            <a:chOff x="1455674" y="1856644"/>
            <a:chExt cx="3356436" cy="1504645"/>
          </a:xfrm>
        </p:grpSpPr>
        <p:grpSp>
          <p:nvGrpSpPr>
            <p:cNvPr id="14" name="Группа 13"/>
            <p:cNvGrpSpPr/>
            <p:nvPr/>
          </p:nvGrpSpPr>
          <p:grpSpPr>
            <a:xfrm>
              <a:off x="2566003" y="1856644"/>
              <a:ext cx="1065244" cy="1504645"/>
              <a:chOff x="6558883" y="3081300"/>
              <a:chExt cx="1065244" cy="150464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Прямоугольник 14"/>
                  <p:cNvSpPr/>
                  <p:nvPr/>
                </p:nvSpPr>
                <p:spPr>
                  <a:xfrm>
                    <a:off x="6789176" y="3081300"/>
                    <a:ext cx="39959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i="1" smtClean="0">
                              <a:latin typeface="Cambria Math"/>
                              <a:ea typeface="Cambria Math"/>
                            </a:rPr>
                            <m:t>𝜑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5" name="Прямоугольник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9176" y="3081300"/>
                    <a:ext cx="399597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b="-4918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" name="Группа 15"/>
              <p:cNvGrpSpPr/>
              <p:nvPr/>
            </p:nvGrpSpPr>
            <p:grpSpPr>
              <a:xfrm>
                <a:off x="6558883" y="3425553"/>
                <a:ext cx="1065244" cy="1160392"/>
                <a:chOff x="6558883" y="3425553"/>
                <a:chExt cx="1065244" cy="1160392"/>
              </a:xfrm>
            </p:grpSpPr>
            <p:sp>
              <p:nvSpPr>
                <p:cNvPr id="17" name="Овал 16"/>
                <p:cNvSpPr/>
                <p:nvPr/>
              </p:nvSpPr>
              <p:spPr>
                <a:xfrm rot="2431133">
                  <a:off x="6558883" y="3565499"/>
                  <a:ext cx="1065244" cy="1020446"/>
                </a:xfrm>
                <a:custGeom>
                  <a:avLst/>
                  <a:gdLst>
                    <a:gd name="connsiteX0" fmla="*/ 0 w 1158240"/>
                    <a:gd name="connsiteY0" fmla="*/ 579120 h 1158240"/>
                    <a:gd name="connsiteX1" fmla="*/ 579120 w 1158240"/>
                    <a:gd name="connsiteY1" fmla="*/ 0 h 1158240"/>
                    <a:gd name="connsiteX2" fmla="*/ 1158240 w 1158240"/>
                    <a:gd name="connsiteY2" fmla="*/ 579120 h 1158240"/>
                    <a:gd name="connsiteX3" fmla="*/ 579120 w 1158240"/>
                    <a:gd name="connsiteY3" fmla="*/ 1158240 h 1158240"/>
                    <a:gd name="connsiteX4" fmla="*/ 0 w 1158240"/>
                    <a:gd name="connsiteY4" fmla="*/ 579120 h 1158240"/>
                    <a:gd name="connsiteX0" fmla="*/ 0 w 1055370"/>
                    <a:gd name="connsiteY0" fmla="*/ 605845 h 1158356"/>
                    <a:gd name="connsiteX1" fmla="*/ 476250 w 1055370"/>
                    <a:gd name="connsiteY1" fmla="*/ 55 h 1158356"/>
                    <a:gd name="connsiteX2" fmla="*/ 1055370 w 1055370"/>
                    <a:gd name="connsiteY2" fmla="*/ 579175 h 1158356"/>
                    <a:gd name="connsiteX3" fmla="*/ 476250 w 1055370"/>
                    <a:gd name="connsiteY3" fmla="*/ 1158295 h 1158356"/>
                    <a:gd name="connsiteX4" fmla="*/ 0 w 1055370"/>
                    <a:gd name="connsiteY4" fmla="*/ 605845 h 1158356"/>
                    <a:gd name="connsiteX0" fmla="*/ 15 w 1055385"/>
                    <a:gd name="connsiteY0" fmla="*/ 461130 h 1013617"/>
                    <a:gd name="connsiteX1" fmla="*/ 491505 w 1055385"/>
                    <a:gd name="connsiteY1" fmla="*/ 120 h 1013617"/>
                    <a:gd name="connsiteX2" fmla="*/ 1055385 w 1055385"/>
                    <a:gd name="connsiteY2" fmla="*/ 434460 h 1013617"/>
                    <a:gd name="connsiteX3" fmla="*/ 476265 w 1055385"/>
                    <a:gd name="connsiteY3" fmla="*/ 1013580 h 1013617"/>
                    <a:gd name="connsiteX4" fmla="*/ 15 w 1055385"/>
                    <a:gd name="connsiteY4" fmla="*/ 461130 h 1013617"/>
                    <a:gd name="connsiteX0" fmla="*/ 30214 w 1085584"/>
                    <a:gd name="connsiteY0" fmla="*/ 461130 h 1034097"/>
                    <a:gd name="connsiteX1" fmla="*/ 521704 w 1085584"/>
                    <a:gd name="connsiteY1" fmla="*/ 120 h 1034097"/>
                    <a:gd name="connsiteX2" fmla="*/ 1085584 w 1085584"/>
                    <a:gd name="connsiteY2" fmla="*/ 434460 h 1034097"/>
                    <a:gd name="connsiteX3" fmla="*/ 506464 w 1085584"/>
                    <a:gd name="connsiteY3" fmla="*/ 1013580 h 1034097"/>
                    <a:gd name="connsiteX4" fmla="*/ 102463 w 1085584"/>
                    <a:gd name="connsiteY4" fmla="*/ 862475 h 1034097"/>
                    <a:gd name="connsiteX5" fmla="*/ 30214 w 1085584"/>
                    <a:gd name="connsiteY5" fmla="*/ 461130 h 1034097"/>
                    <a:gd name="connsiteX0" fmla="*/ 30214 w 1097248"/>
                    <a:gd name="connsiteY0" fmla="*/ 461058 h 1017382"/>
                    <a:gd name="connsiteX1" fmla="*/ 521704 w 1097248"/>
                    <a:gd name="connsiteY1" fmla="*/ 48 h 1017382"/>
                    <a:gd name="connsiteX2" fmla="*/ 1085584 w 1097248"/>
                    <a:gd name="connsiteY2" fmla="*/ 434388 h 1017382"/>
                    <a:gd name="connsiteX3" fmla="*/ 853033 w 1097248"/>
                    <a:gd name="connsiteY3" fmla="*/ 725243 h 1017382"/>
                    <a:gd name="connsiteX4" fmla="*/ 506464 w 1097248"/>
                    <a:gd name="connsiteY4" fmla="*/ 1013508 h 1017382"/>
                    <a:gd name="connsiteX5" fmla="*/ 102463 w 1097248"/>
                    <a:gd name="connsiteY5" fmla="*/ 862403 h 1017382"/>
                    <a:gd name="connsiteX6" fmla="*/ 30214 w 1097248"/>
                    <a:gd name="connsiteY6" fmla="*/ 461058 h 1017382"/>
                    <a:gd name="connsiteX0" fmla="*/ 30214 w 1085599"/>
                    <a:gd name="connsiteY0" fmla="*/ 473444 h 1029768"/>
                    <a:gd name="connsiteX1" fmla="*/ 521704 w 1085599"/>
                    <a:gd name="connsiteY1" fmla="*/ 12434 h 1029768"/>
                    <a:gd name="connsiteX2" fmla="*/ 913993 w 1085599"/>
                    <a:gd name="connsiteY2" fmla="*/ 158509 h 1029768"/>
                    <a:gd name="connsiteX3" fmla="*/ 1085584 w 1085599"/>
                    <a:gd name="connsiteY3" fmla="*/ 446774 h 1029768"/>
                    <a:gd name="connsiteX4" fmla="*/ 853033 w 1085599"/>
                    <a:gd name="connsiteY4" fmla="*/ 737629 h 1029768"/>
                    <a:gd name="connsiteX5" fmla="*/ 506464 w 1085599"/>
                    <a:gd name="connsiteY5" fmla="*/ 1025894 h 1029768"/>
                    <a:gd name="connsiteX6" fmla="*/ 102463 w 1085599"/>
                    <a:gd name="connsiteY6" fmla="*/ 874789 h 1029768"/>
                    <a:gd name="connsiteX7" fmla="*/ 30214 w 1085599"/>
                    <a:gd name="connsiteY7" fmla="*/ 473444 h 1029768"/>
                    <a:gd name="connsiteX0" fmla="*/ 9859 w 1065244"/>
                    <a:gd name="connsiteY0" fmla="*/ 464122 h 1020446"/>
                    <a:gd name="connsiteX1" fmla="*/ 223079 w 1065244"/>
                    <a:gd name="connsiteY1" fmla="*/ 278727 h 1020446"/>
                    <a:gd name="connsiteX2" fmla="*/ 501349 w 1065244"/>
                    <a:gd name="connsiteY2" fmla="*/ 3112 h 1020446"/>
                    <a:gd name="connsiteX3" fmla="*/ 893638 w 1065244"/>
                    <a:gd name="connsiteY3" fmla="*/ 149187 h 1020446"/>
                    <a:gd name="connsiteX4" fmla="*/ 1065229 w 1065244"/>
                    <a:gd name="connsiteY4" fmla="*/ 437452 h 1020446"/>
                    <a:gd name="connsiteX5" fmla="*/ 832678 w 1065244"/>
                    <a:gd name="connsiteY5" fmla="*/ 728307 h 1020446"/>
                    <a:gd name="connsiteX6" fmla="*/ 486109 w 1065244"/>
                    <a:gd name="connsiteY6" fmla="*/ 1016572 h 1020446"/>
                    <a:gd name="connsiteX7" fmla="*/ 82108 w 1065244"/>
                    <a:gd name="connsiteY7" fmla="*/ 865467 h 1020446"/>
                    <a:gd name="connsiteX8" fmla="*/ 9859 w 1065244"/>
                    <a:gd name="connsiteY8" fmla="*/ 464122 h 1020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65244" h="1020446">
                      <a:moveTo>
                        <a:pt x="9859" y="464122"/>
                      </a:moveTo>
                      <a:cubicBezTo>
                        <a:pt x="33354" y="366332"/>
                        <a:pt x="141164" y="355562"/>
                        <a:pt x="223079" y="278727"/>
                      </a:cubicBezTo>
                      <a:cubicBezTo>
                        <a:pt x="304994" y="201892"/>
                        <a:pt x="389589" y="24702"/>
                        <a:pt x="501349" y="3112"/>
                      </a:cubicBezTo>
                      <a:cubicBezTo>
                        <a:pt x="613109" y="-18478"/>
                        <a:pt x="799658" y="76797"/>
                        <a:pt x="893638" y="149187"/>
                      </a:cubicBezTo>
                      <a:cubicBezTo>
                        <a:pt x="987618" y="221577"/>
                        <a:pt x="1066499" y="346647"/>
                        <a:pt x="1065229" y="437452"/>
                      </a:cubicBezTo>
                      <a:cubicBezTo>
                        <a:pt x="1063959" y="528257"/>
                        <a:pt x="929198" y="631787"/>
                        <a:pt x="832678" y="728307"/>
                      </a:cubicBezTo>
                      <a:cubicBezTo>
                        <a:pt x="736158" y="824827"/>
                        <a:pt x="611204" y="993712"/>
                        <a:pt x="486109" y="1016572"/>
                      </a:cubicBezTo>
                      <a:cubicBezTo>
                        <a:pt x="361014" y="1039432"/>
                        <a:pt x="161483" y="957542"/>
                        <a:pt x="82108" y="865467"/>
                      </a:cubicBezTo>
                      <a:cubicBezTo>
                        <a:pt x="2733" y="773392"/>
                        <a:pt x="-13636" y="561912"/>
                        <a:pt x="9859" y="4641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tx2">
                        <a:lumMod val="40000"/>
                        <a:lumOff val="60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40000"/>
                        <a:lumOff val="60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40000"/>
                        <a:lumOff val="60000"/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9" name="Дуга 18"/>
                <p:cNvSpPr/>
                <p:nvPr/>
              </p:nvSpPr>
              <p:spPr>
                <a:xfrm rot="18954977">
                  <a:off x="6658361" y="3425553"/>
                  <a:ext cx="606925" cy="553518"/>
                </a:xfrm>
                <a:prstGeom prst="arc">
                  <a:avLst>
                    <a:gd name="adj1" fmla="val 16388392"/>
                    <a:gd name="adj2" fmla="val 154491"/>
                  </a:avLst>
                </a:prstGeom>
                <a:ln w="12700">
                  <a:solidFill>
                    <a:schemeClr val="tx1"/>
                  </a:solidFill>
                  <a:headEnd type="stealt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sp>
          <p:nvSpPr>
            <p:cNvPr id="31" name="Дуга 30"/>
            <p:cNvSpPr/>
            <p:nvPr/>
          </p:nvSpPr>
          <p:spPr>
            <a:xfrm rot="542737">
              <a:off x="3079386" y="2362564"/>
              <a:ext cx="606925" cy="553518"/>
            </a:xfrm>
            <a:prstGeom prst="arc">
              <a:avLst>
                <a:gd name="adj1" fmla="val 16388392"/>
                <a:gd name="adj2" fmla="val 154491"/>
              </a:avLst>
            </a:prstGeom>
            <a:ln w="28575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612775" y="2224497"/>
                  <a:ext cx="40036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oMath>
                    </m:oMathPara>
                  </a14:m>
                  <a:endParaRPr lang="en-US" b="0" i="1" dirty="0" smtClean="0">
                    <a:latin typeface="Cambria Math"/>
                    <a:ea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 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775" y="2224497"/>
                  <a:ext cx="400366" cy="64633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2067893" y="2362997"/>
                  <a:ext cx="3506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i="1" smtClean="0">
                            <a:latin typeface="Cambria Math"/>
                            <a:ea typeface="Cambria Math"/>
                          </a:rPr>
                          <m:t>𝜀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893" y="2362997"/>
                  <a:ext cx="350673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Прямоугольник 33"/>
                <p:cNvSpPr/>
                <p:nvPr/>
              </p:nvSpPr>
              <p:spPr>
                <a:xfrm>
                  <a:off x="3790548" y="2440846"/>
                  <a:ext cx="10215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(</m:t>
                      </m:r>
                      <m:acc>
                        <m:accPr>
                          <m:chr m:val="̈"/>
                          <m:ctrlPr>
                            <a:rPr lang="en-US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𝜑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0)</m:t>
                      </m:r>
                    </m:oMath>
                  </a14:m>
                  <a:r>
                    <a:rPr lang="en-US" dirty="0"/>
                    <a:t> </a:t>
                  </a:r>
                  <a:endParaRPr lang="ru-RU" dirty="0"/>
                </a:p>
              </p:txBody>
            </p:sp>
          </mc:Choice>
          <mc:Fallback xmlns="">
            <p:sp>
              <p:nvSpPr>
                <p:cNvPr id="34" name="Прямоугольник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0548" y="2440846"/>
                  <a:ext cx="10215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190" b="-1147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Прямоугольник 34"/>
                <p:cNvSpPr/>
                <p:nvPr/>
              </p:nvSpPr>
              <p:spPr>
                <a:xfrm>
                  <a:off x="1455674" y="2732329"/>
                  <a:ext cx="10215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(</m:t>
                      </m:r>
                      <m:acc>
                        <m:accPr>
                          <m:chr m:val="̈"/>
                          <m:ctrlPr>
                            <a:rPr lang="en-US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𝜑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&gt;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0)</m:t>
                      </m:r>
                    </m:oMath>
                  </a14:m>
                  <a:r>
                    <a:rPr lang="en-US" dirty="0"/>
                    <a:t> </a:t>
                  </a:r>
                  <a:endParaRPr lang="ru-RU" dirty="0"/>
                </a:p>
              </p:txBody>
            </p:sp>
          </mc:Choice>
          <mc:Fallback xmlns="">
            <p:sp>
              <p:nvSpPr>
                <p:cNvPr id="35" name="Прямоугольник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5674" y="2732329"/>
                  <a:ext cx="102156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1190" b="-133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Дуга 35"/>
            <p:cNvSpPr/>
            <p:nvPr/>
          </p:nvSpPr>
          <p:spPr>
            <a:xfrm rot="15625784">
              <a:off x="2387680" y="2450236"/>
              <a:ext cx="606925" cy="553518"/>
            </a:xfrm>
            <a:prstGeom prst="arc">
              <a:avLst>
                <a:gd name="adj1" fmla="val 16388392"/>
                <a:gd name="adj2" fmla="val 154491"/>
              </a:avLst>
            </a:prstGeom>
            <a:ln w="28575">
              <a:solidFill>
                <a:srgbClr val="FF0000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482672" y="2958987"/>
            <a:ext cx="4597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2. По теореме о сложении ускорений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/>
              <p:cNvSpPr/>
              <p:nvPr/>
            </p:nvSpPr>
            <p:spPr>
              <a:xfrm>
                <a:off x="2831761" y="5756458"/>
                <a:ext cx="997516" cy="6278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𝜀</m:t>
                      </m:r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den>
                      </m:f>
                      <m:r>
                        <a:rPr lang="ru-R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8" name="Прямоугольник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1" y="5756458"/>
                <a:ext cx="997516" cy="627864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Прямоугольник 68"/>
              <p:cNvSpPr/>
              <p:nvPr/>
            </p:nvSpPr>
            <p:spPr>
              <a:xfrm>
                <a:off x="1891671" y="3791799"/>
                <a:ext cx="4282830" cy="610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Направление углового ускорения </a:t>
                </a:r>
              </a:p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определяется по направлению ускорения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𝜏</m:t>
                        </m:r>
                      </m:sup>
                    </m:sSubSup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9" name="Прямоугольник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671" y="3791799"/>
                <a:ext cx="4282830" cy="610936"/>
              </a:xfrm>
              <a:prstGeom prst="rect">
                <a:avLst/>
              </a:prstGeom>
              <a:blipFill rotWithShape="1">
                <a:blip r:embed="rId13"/>
                <a:stretch>
                  <a:fillRect l="-711" t="-3000" r="-142" b="-1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Дуга 100"/>
          <p:cNvSpPr/>
          <p:nvPr/>
        </p:nvSpPr>
        <p:spPr>
          <a:xfrm rot="4589088">
            <a:off x="7954398" y="2148070"/>
            <a:ext cx="1136014" cy="887368"/>
          </a:xfrm>
          <a:prstGeom prst="arc">
            <a:avLst>
              <a:gd name="adj1" fmla="val 16388392"/>
              <a:gd name="adj2" fmla="val 154491"/>
            </a:avLst>
          </a:prstGeom>
          <a:ln w="28575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791316" y="2171998"/>
                <a:ext cx="656235" cy="532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316" y="2171998"/>
                <a:ext cx="656235" cy="532013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Группа 170"/>
          <p:cNvGrpSpPr/>
          <p:nvPr/>
        </p:nvGrpSpPr>
        <p:grpSpPr>
          <a:xfrm>
            <a:off x="6664961" y="2171998"/>
            <a:ext cx="4582159" cy="2607742"/>
            <a:chOff x="6664961" y="2171998"/>
            <a:chExt cx="4582159" cy="2607742"/>
          </a:xfrm>
        </p:grpSpPr>
        <p:grpSp>
          <p:nvGrpSpPr>
            <p:cNvPr id="121" name="Группа 120"/>
            <p:cNvGrpSpPr/>
            <p:nvPr/>
          </p:nvGrpSpPr>
          <p:grpSpPr>
            <a:xfrm>
              <a:off x="6664961" y="2171998"/>
              <a:ext cx="4582159" cy="2224247"/>
              <a:chOff x="8614432" y="5205877"/>
              <a:chExt cx="2858240" cy="1188322"/>
            </a:xfrm>
          </p:grpSpPr>
          <p:grpSp>
            <p:nvGrpSpPr>
              <p:cNvPr id="99" name="Группа 98"/>
              <p:cNvGrpSpPr/>
              <p:nvPr/>
            </p:nvGrpSpPr>
            <p:grpSpPr>
              <a:xfrm>
                <a:off x="8614432" y="5368844"/>
                <a:ext cx="2858240" cy="894796"/>
                <a:chOff x="8614432" y="5368844"/>
                <a:chExt cx="2858240" cy="894796"/>
              </a:xfrm>
            </p:grpSpPr>
            <p:grpSp>
              <p:nvGrpSpPr>
                <p:cNvPr id="92" name="Группа 91"/>
                <p:cNvGrpSpPr/>
                <p:nvPr/>
              </p:nvGrpSpPr>
              <p:grpSpPr>
                <a:xfrm>
                  <a:off x="8614432" y="5368844"/>
                  <a:ext cx="2858240" cy="894796"/>
                  <a:chOff x="8614432" y="5368844"/>
                  <a:chExt cx="2858240" cy="894796"/>
                </a:xfrm>
              </p:grpSpPr>
              <p:grpSp>
                <p:nvGrpSpPr>
                  <p:cNvPr id="81" name="Группа 80"/>
                  <p:cNvGrpSpPr/>
                  <p:nvPr/>
                </p:nvGrpSpPr>
                <p:grpSpPr>
                  <a:xfrm>
                    <a:off x="8614432" y="5368844"/>
                    <a:ext cx="1105540" cy="894796"/>
                    <a:chOff x="8614432" y="5368844"/>
                    <a:chExt cx="1105540" cy="894796"/>
                  </a:xfrm>
                </p:grpSpPr>
                <p:grpSp>
                  <p:nvGrpSpPr>
                    <p:cNvPr id="77" name="Группа 76"/>
                    <p:cNvGrpSpPr/>
                    <p:nvPr/>
                  </p:nvGrpSpPr>
                  <p:grpSpPr>
                    <a:xfrm>
                      <a:off x="8614432" y="5999579"/>
                      <a:ext cx="169904" cy="264061"/>
                      <a:chOff x="8614432" y="5999579"/>
                      <a:chExt cx="169904" cy="264061"/>
                    </a:xfrm>
                  </p:grpSpPr>
                  <p:grpSp>
                    <p:nvGrpSpPr>
                      <p:cNvPr id="72" name="Группа 71"/>
                      <p:cNvGrpSpPr/>
                      <p:nvPr/>
                    </p:nvGrpSpPr>
                    <p:grpSpPr>
                      <a:xfrm>
                        <a:off x="8628823" y="5999579"/>
                        <a:ext cx="155513" cy="193957"/>
                        <a:chOff x="8628823" y="5999579"/>
                        <a:chExt cx="155513" cy="193957"/>
                      </a:xfrm>
                      <a:solidFill>
                        <a:schemeClr val="bg1">
                          <a:lumMod val="85000"/>
                        </a:schemeClr>
                      </a:solidFill>
                    </p:grpSpPr>
                    <p:sp>
                      <p:nvSpPr>
                        <p:cNvPr id="70" name="Равнобедренный треугольник 69"/>
                        <p:cNvSpPr/>
                        <p:nvPr/>
                      </p:nvSpPr>
                      <p:spPr>
                        <a:xfrm>
                          <a:off x="8628823" y="6028944"/>
                          <a:ext cx="155513" cy="164592"/>
                        </a:xfrm>
                        <a:prstGeom prst="triangl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  <p:sp>
                      <p:nvSpPr>
                        <p:cNvPr id="71" name="Овал 70"/>
                        <p:cNvSpPr/>
                        <p:nvPr/>
                      </p:nvSpPr>
                      <p:spPr>
                        <a:xfrm>
                          <a:off x="8673964" y="5999579"/>
                          <a:ext cx="74337" cy="74337"/>
                        </a:xfrm>
                        <a:prstGeom prst="ellipse">
                          <a:avLst/>
                        </a:prstGeom>
                        <a:grp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</p:grpSp>
                  <p:cxnSp>
                    <p:nvCxnSpPr>
                      <p:cNvPr id="74" name="Прямая соединительная линия 73"/>
                      <p:cNvCxnSpPr/>
                      <p:nvPr/>
                    </p:nvCxnSpPr>
                    <p:spPr>
                      <a:xfrm flipH="1">
                        <a:off x="8614432" y="6193536"/>
                        <a:ext cx="32614" cy="70104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" name="Прямая соединительная линия 74"/>
                      <p:cNvCxnSpPr/>
                      <p:nvPr/>
                    </p:nvCxnSpPr>
                    <p:spPr>
                      <a:xfrm flipH="1">
                        <a:off x="8673965" y="6193536"/>
                        <a:ext cx="32614" cy="70104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" name="Прямая соединительная линия 75"/>
                      <p:cNvCxnSpPr/>
                      <p:nvPr/>
                    </p:nvCxnSpPr>
                    <p:spPr>
                      <a:xfrm flipH="1">
                        <a:off x="8731995" y="6193536"/>
                        <a:ext cx="32614" cy="70104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79" name="Прямая соединительная линия 78"/>
                    <p:cNvCxnSpPr>
                      <a:stCxn id="71" idx="7"/>
                    </p:cNvCxnSpPr>
                    <p:nvPr/>
                  </p:nvCxnSpPr>
                  <p:spPr>
                    <a:xfrm flipV="1">
                      <a:off x="8737416" y="5402630"/>
                      <a:ext cx="936936" cy="607836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Овал 79"/>
                    <p:cNvSpPr/>
                    <p:nvPr/>
                  </p:nvSpPr>
                  <p:spPr>
                    <a:xfrm>
                      <a:off x="9641253" y="5368844"/>
                      <a:ext cx="78719" cy="78719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cxnSp>
                <p:nvCxnSpPr>
                  <p:cNvPr id="83" name="Прямая соединительная линия 82"/>
                  <p:cNvCxnSpPr/>
                  <p:nvPr/>
                </p:nvCxnSpPr>
                <p:spPr>
                  <a:xfrm flipV="1">
                    <a:off x="10110487" y="5990471"/>
                    <a:ext cx="1362185" cy="12219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6" name="Группа 85"/>
                  <p:cNvGrpSpPr/>
                  <p:nvPr/>
                </p:nvGrpSpPr>
                <p:grpSpPr>
                  <a:xfrm>
                    <a:off x="10687113" y="5927547"/>
                    <a:ext cx="253364" cy="150285"/>
                    <a:chOff x="10687113" y="5927547"/>
                    <a:chExt cx="253364" cy="150285"/>
                  </a:xfrm>
                </p:grpSpPr>
                <p:sp>
                  <p:nvSpPr>
                    <p:cNvPr id="84" name="Прямоугольник 83"/>
                    <p:cNvSpPr/>
                    <p:nvPr/>
                  </p:nvSpPr>
                  <p:spPr>
                    <a:xfrm>
                      <a:off x="10687113" y="5927547"/>
                      <a:ext cx="253364" cy="150285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85" name="Овал 84"/>
                    <p:cNvSpPr/>
                    <p:nvPr/>
                  </p:nvSpPr>
                  <p:spPr>
                    <a:xfrm>
                      <a:off x="10768862" y="5970241"/>
                      <a:ext cx="64897" cy="64897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cxnSp>
                <p:nvCxnSpPr>
                  <p:cNvPr id="89" name="Прямая соединительная линия 88"/>
                  <p:cNvCxnSpPr/>
                  <p:nvPr/>
                </p:nvCxnSpPr>
                <p:spPr>
                  <a:xfrm>
                    <a:off x="9719971" y="5418516"/>
                    <a:ext cx="1062051" cy="568287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3" name="Прямая соединительная линия 92"/>
                <p:cNvCxnSpPr/>
                <p:nvPr/>
              </p:nvCxnSpPr>
              <p:spPr>
                <a:xfrm flipH="1">
                  <a:off x="10185265" y="6002690"/>
                  <a:ext cx="32614" cy="701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Прямая соединительная линия 93"/>
                <p:cNvCxnSpPr/>
                <p:nvPr/>
              </p:nvCxnSpPr>
              <p:spPr>
                <a:xfrm flipH="1">
                  <a:off x="10134465" y="6001165"/>
                  <a:ext cx="32614" cy="701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Прямая соединительная линия 94"/>
                <p:cNvCxnSpPr/>
                <p:nvPr/>
              </p:nvCxnSpPr>
              <p:spPr>
                <a:xfrm flipH="1">
                  <a:off x="10234689" y="6002690"/>
                  <a:ext cx="32614" cy="701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Прямая соединительная линия 95"/>
                <p:cNvCxnSpPr/>
                <p:nvPr/>
              </p:nvCxnSpPr>
              <p:spPr>
                <a:xfrm flipH="1">
                  <a:off x="11247120" y="5992516"/>
                  <a:ext cx="32614" cy="701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Прямая соединительная линия 96"/>
                <p:cNvCxnSpPr/>
                <p:nvPr/>
              </p:nvCxnSpPr>
              <p:spPr>
                <a:xfrm flipH="1">
                  <a:off x="11302865" y="5992516"/>
                  <a:ext cx="32614" cy="701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Прямая соединительная линия 97"/>
                <p:cNvCxnSpPr/>
                <p:nvPr/>
              </p:nvCxnSpPr>
              <p:spPr>
                <a:xfrm flipH="1">
                  <a:off x="11366365" y="5986803"/>
                  <a:ext cx="32614" cy="7010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Прямоугольник 115"/>
              <p:cNvSpPr/>
              <p:nvPr/>
            </p:nvSpPr>
            <p:spPr>
              <a:xfrm>
                <a:off x="10122511" y="5957756"/>
                <a:ext cx="161960" cy="2842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ru-RU" dirty="0"/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9344003" y="5205877"/>
                <a:ext cx="2700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i="1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ru-RU" sz="16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10718428" y="6055645"/>
                <a:ext cx="2700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i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ru-RU" sz="16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" name="Прямая со стрелкой 17"/>
            <p:cNvCxnSpPr/>
            <p:nvPr/>
          </p:nvCxnSpPr>
          <p:spPr>
            <a:xfrm flipH="1" flipV="1">
              <a:off x="8946341" y="3657714"/>
              <a:ext cx="501208" cy="916998"/>
            </a:xfrm>
            <a:prstGeom prst="straightConnector1">
              <a:avLst/>
            </a:prstGeom>
            <a:ln w="9525">
              <a:solidFill>
                <a:srgbClr val="0000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/>
            <p:cNvCxnSpPr>
              <a:stCxn id="85" idx="2"/>
            </p:cNvCxnSpPr>
            <p:nvPr/>
          </p:nvCxnSpPr>
          <p:spPr>
            <a:xfrm flipH="1" flipV="1">
              <a:off x="8943998" y="3657613"/>
              <a:ext cx="1174816" cy="5823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 стрелкой 103"/>
            <p:cNvCxnSpPr/>
            <p:nvPr/>
          </p:nvCxnSpPr>
          <p:spPr>
            <a:xfrm flipH="1" flipV="1">
              <a:off x="9667923" y="2729282"/>
              <a:ext cx="476359" cy="922715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/>
            <p:cNvCxnSpPr>
              <a:stCxn id="85" idx="2"/>
            </p:cNvCxnSpPr>
            <p:nvPr/>
          </p:nvCxnSpPr>
          <p:spPr>
            <a:xfrm flipH="1">
              <a:off x="9447550" y="3663435"/>
              <a:ext cx="671264" cy="887909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 стрелкой 104"/>
            <p:cNvCxnSpPr/>
            <p:nvPr/>
          </p:nvCxnSpPr>
          <p:spPr>
            <a:xfrm flipH="1">
              <a:off x="8946341" y="2729282"/>
              <a:ext cx="721582" cy="917863"/>
            </a:xfrm>
            <a:prstGeom prst="straightConnector1">
              <a:avLst/>
            </a:prstGeom>
            <a:ln w="9525">
              <a:solidFill>
                <a:srgbClr val="0000FF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Прямая со стрелкой 106"/>
            <p:cNvCxnSpPr/>
            <p:nvPr/>
          </p:nvCxnSpPr>
          <p:spPr>
            <a:xfrm flipH="1">
              <a:off x="7640926" y="2614653"/>
              <a:ext cx="690560" cy="908132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Прямоугольник 86"/>
                <p:cNvSpPr/>
                <p:nvPr/>
              </p:nvSpPr>
              <p:spPr>
                <a:xfrm>
                  <a:off x="7612073" y="3302515"/>
                  <a:ext cx="671500" cy="53201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87" name="Прямоугольник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2073" y="3302515"/>
                  <a:ext cx="671500" cy="532013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r="-90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Прямоугольник 87"/>
                <p:cNvSpPr/>
                <p:nvPr/>
              </p:nvSpPr>
              <p:spPr>
                <a:xfrm>
                  <a:off x="9519350" y="4247727"/>
                  <a:ext cx="671500" cy="53201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88" name="Прямоугольник 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9350" y="4247727"/>
                  <a:ext cx="671500" cy="532013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r="-90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Прямоугольник 119"/>
                <p:cNvSpPr/>
                <p:nvPr/>
              </p:nvSpPr>
              <p:spPr>
                <a:xfrm>
                  <a:off x="8489373" y="3573994"/>
                  <a:ext cx="693852" cy="53201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20" name="Прямоугольник 1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9373" y="3573994"/>
                  <a:ext cx="693852" cy="532013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Прямоугольник 122"/>
                <p:cNvSpPr/>
                <p:nvPr/>
              </p:nvSpPr>
              <p:spPr>
                <a:xfrm>
                  <a:off x="9600981" y="2492870"/>
                  <a:ext cx="847601" cy="53201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𝐵</m:t>
                            </m:r>
                            <m:r>
                              <a:rPr lang="en-US" i="1"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23" name="Прямоугольник 1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0981" y="2492870"/>
                  <a:ext cx="847601" cy="532013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Прямоугольник 108"/>
              <p:cNvSpPr/>
              <p:nvPr/>
            </p:nvSpPr>
            <p:spPr>
              <a:xfrm>
                <a:off x="10312204" y="2924633"/>
                <a:ext cx="847601" cy="532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𝐵𝐴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9" name="Прямоугольник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204" y="2924633"/>
                <a:ext cx="847601" cy="532013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Прямоугольник 109"/>
              <p:cNvSpPr/>
              <p:nvPr/>
            </p:nvSpPr>
            <p:spPr>
              <a:xfrm>
                <a:off x="691757" y="3303812"/>
                <a:ext cx="38556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𝜏</m:t>
                        </m:r>
                      </m:sup>
                    </m:sSubSup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,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𝜏</m:t>
                        </m:r>
                      </m:sup>
                    </m:sSubSup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𝜀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𝐴𝐵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110" name="Прямоугольник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57" y="3303812"/>
                <a:ext cx="3855607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9836" r="-474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/>
          <p:cNvSpPr txBox="1"/>
          <p:nvPr/>
        </p:nvSpPr>
        <p:spPr>
          <a:xfrm>
            <a:off x="482672" y="4567245"/>
            <a:ext cx="3472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Если известно положение МЦС, то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3913695" y="4442998"/>
                <a:ext cx="1004890" cy="565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𝜔</m:t>
                      </m:r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𝐴𝑃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695" y="4442998"/>
                <a:ext cx="1004890" cy="565348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3225365" y="5008346"/>
                <a:ext cx="3014543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𝐴𝑃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  <m:f>
                        <m:fPr>
                          <m:ctrlPr>
                            <a:rPr lang="en-U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𝐴𝑃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365" y="5008346"/>
                <a:ext cx="3014543" cy="714683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/>
          <p:cNvSpPr txBox="1"/>
          <p:nvPr/>
        </p:nvSpPr>
        <p:spPr>
          <a:xfrm>
            <a:off x="589279" y="5123718"/>
            <a:ext cx="2741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Дифференцируя по времени: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0" name="Прямая соединительная линия 129"/>
          <p:cNvCxnSpPr/>
          <p:nvPr/>
        </p:nvCxnSpPr>
        <p:spPr>
          <a:xfrm flipV="1">
            <a:off x="5080000" y="4905800"/>
            <a:ext cx="843280" cy="92604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891202" y="5907695"/>
            <a:ext cx="2334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AP=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то: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Прямоугольник 133"/>
              <p:cNvSpPr/>
              <p:nvPr/>
            </p:nvSpPr>
            <p:spPr>
              <a:xfrm>
                <a:off x="691757" y="3772330"/>
                <a:ext cx="1068819" cy="6278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𝜀</m:t>
                      </m:r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𝐵𝐴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den>
                      </m:f>
                      <m:r>
                        <a:rPr lang="ru-R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4" name="Прямоугольник 1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57" y="3772330"/>
                <a:ext cx="1068819" cy="627864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Группа 134"/>
          <p:cNvGrpSpPr/>
          <p:nvPr/>
        </p:nvGrpSpPr>
        <p:grpSpPr>
          <a:xfrm>
            <a:off x="7323696" y="4449313"/>
            <a:ext cx="1762760" cy="1990826"/>
            <a:chOff x="6494780" y="747077"/>
            <a:chExt cx="1762760" cy="1990826"/>
          </a:xfrm>
        </p:grpSpPr>
        <p:grpSp>
          <p:nvGrpSpPr>
            <p:cNvPr id="136" name="Группа 135"/>
            <p:cNvGrpSpPr/>
            <p:nvPr/>
          </p:nvGrpSpPr>
          <p:grpSpPr>
            <a:xfrm>
              <a:off x="6618527" y="747077"/>
              <a:ext cx="1246290" cy="1990826"/>
              <a:chOff x="7216375" y="874712"/>
              <a:chExt cx="1246290" cy="1990826"/>
            </a:xfrm>
          </p:grpSpPr>
          <p:grpSp>
            <p:nvGrpSpPr>
              <p:cNvPr id="138" name="Группа 137"/>
              <p:cNvGrpSpPr/>
              <p:nvPr/>
            </p:nvGrpSpPr>
            <p:grpSpPr>
              <a:xfrm>
                <a:off x="7216375" y="874712"/>
                <a:ext cx="1246290" cy="1990826"/>
                <a:chOff x="6318846" y="3047194"/>
                <a:chExt cx="1246290" cy="1990826"/>
              </a:xfrm>
            </p:grpSpPr>
            <p:sp>
              <p:nvSpPr>
                <p:cNvPr id="153" name="Прямоугольник 152"/>
                <p:cNvSpPr/>
                <p:nvPr/>
              </p:nvSpPr>
              <p:spPr>
                <a:xfrm>
                  <a:off x="6781865" y="3047194"/>
                  <a:ext cx="1847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ru-RU" dirty="0"/>
                </a:p>
              </p:txBody>
            </p:sp>
            <p:grpSp>
              <p:nvGrpSpPr>
                <p:cNvPr id="154" name="Группа 153"/>
                <p:cNvGrpSpPr/>
                <p:nvPr/>
              </p:nvGrpSpPr>
              <p:grpSpPr>
                <a:xfrm>
                  <a:off x="6318846" y="3287256"/>
                  <a:ext cx="1246290" cy="1750764"/>
                  <a:chOff x="6318846" y="3287256"/>
                  <a:chExt cx="1246290" cy="1750764"/>
                </a:xfrm>
              </p:grpSpPr>
              <p:sp>
                <p:nvSpPr>
                  <p:cNvPr id="155" name="Овал 154"/>
                  <p:cNvSpPr/>
                  <p:nvPr/>
                </p:nvSpPr>
                <p:spPr>
                  <a:xfrm>
                    <a:off x="6406896" y="3533116"/>
                    <a:ext cx="1158240" cy="115824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40000"/>
                          <a:lumOff val="60000"/>
                          <a:shade val="30000"/>
                          <a:satMod val="115000"/>
                        </a:schemeClr>
                      </a:gs>
                      <a:gs pos="50000">
                        <a:schemeClr val="accent1">
                          <a:lumMod val="40000"/>
                          <a:lumOff val="60000"/>
                          <a:shade val="67500"/>
                          <a:satMod val="115000"/>
                        </a:schemeClr>
                      </a:gs>
                      <a:gs pos="100000">
                        <a:schemeClr val="accent1">
                          <a:lumMod val="40000"/>
                          <a:lumOff val="60000"/>
                          <a:shade val="100000"/>
                          <a:satMod val="115000"/>
                        </a:schemeClr>
                      </a:gs>
                    </a:gsLst>
                    <a:lin ang="18900000" scaled="1"/>
                    <a:tileRect/>
                  </a:gra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156" name="Прямая со стрелкой 155"/>
                  <p:cNvCxnSpPr/>
                  <p:nvPr/>
                </p:nvCxnSpPr>
                <p:spPr>
                  <a:xfrm>
                    <a:off x="6986016" y="4112236"/>
                    <a:ext cx="403479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tailEnd type="stealt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7" name="Дуга 156"/>
                  <p:cNvSpPr/>
                  <p:nvPr/>
                </p:nvSpPr>
                <p:spPr>
                  <a:xfrm rot="19872268">
                    <a:off x="6675691" y="3287256"/>
                    <a:ext cx="606925" cy="553518"/>
                  </a:xfrm>
                  <a:prstGeom prst="arc">
                    <a:avLst>
                      <a:gd name="adj1" fmla="val 14923845"/>
                      <a:gd name="adj2" fmla="val 154491"/>
                    </a:avLst>
                  </a:prstGeom>
                  <a:ln w="28575">
                    <a:solidFill>
                      <a:srgbClr val="FF0000"/>
                    </a:solidFill>
                    <a:tailEnd type="stealt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grpSp>
                <p:nvGrpSpPr>
                  <p:cNvPr id="159" name="Группа 158"/>
                  <p:cNvGrpSpPr/>
                  <p:nvPr/>
                </p:nvGrpSpPr>
                <p:grpSpPr>
                  <a:xfrm>
                    <a:off x="6318846" y="4668496"/>
                    <a:ext cx="1246290" cy="369524"/>
                    <a:chOff x="6318846" y="4668496"/>
                    <a:chExt cx="1246290" cy="369524"/>
                  </a:xfrm>
                </p:grpSpPr>
                <p:sp>
                  <p:nvSpPr>
                    <p:cNvPr id="160" name="Овал 159"/>
                    <p:cNvSpPr/>
                    <p:nvPr/>
                  </p:nvSpPr>
                  <p:spPr>
                    <a:xfrm>
                      <a:off x="6973072" y="4668496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sp>
                  <p:nvSpPr>
                    <p:cNvPr id="161" name="TextBox 160"/>
                    <p:cNvSpPr txBox="1"/>
                    <p:nvPr/>
                  </p:nvSpPr>
                  <p:spPr>
                    <a:xfrm>
                      <a:off x="6889251" y="4668688"/>
                      <a:ext cx="25908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endParaRPr lang="ru-RU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  <p:cxnSp>
                  <p:nvCxnSpPr>
                    <p:cNvPr id="162" name="Прямая соединительная линия 161"/>
                    <p:cNvCxnSpPr/>
                    <p:nvPr/>
                  </p:nvCxnSpPr>
                  <p:spPr>
                    <a:xfrm flipH="1">
                      <a:off x="6318846" y="4816903"/>
                      <a:ext cx="57150" cy="7290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Прямая соединительная линия 162"/>
                    <p:cNvCxnSpPr/>
                    <p:nvPr/>
                  </p:nvCxnSpPr>
                  <p:spPr>
                    <a:xfrm flipH="1">
                      <a:off x="6436956" y="4764405"/>
                      <a:ext cx="57150" cy="7290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4" name="Прямая соединительная линия 163"/>
                    <p:cNvCxnSpPr/>
                    <p:nvPr/>
                  </p:nvCxnSpPr>
                  <p:spPr>
                    <a:xfrm flipH="1">
                      <a:off x="6539191" y="4727954"/>
                      <a:ext cx="57150" cy="7290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5" name="Прямая соединительная линия 164"/>
                    <p:cNvCxnSpPr/>
                    <p:nvPr/>
                  </p:nvCxnSpPr>
                  <p:spPr>
                    <a:xfrm flipH="1">
                      <a:off x="7360920" y="4783165"/>
                      <a:ext cx="57150" cy="7290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6" name="Прямая соединительная линия 165"/>
                    <p:cNvCxnSpPr/>
                    <p:nvPr/>
                  </p:nvCxnSpPr>
                  <p:spPr>
                    <a:xfrm flipH="1">
                      <a:off x="7432861" y="4800234"/>
                      <a:ext cx="57150" cy="7290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7" name="Прямая соединительная линия 166"/>
                    <p:cNvCxnSpPr/>
                    <p:nvPr/>
                  </p:nvCxnSpPr>
                  <p:spPr>
                    <a:xfrm flipH="1">
                      <a:off x="7507986" y="4806340"/>
                      <a:ext cx="57150" cy="7290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TextBox 138"/>
                  <p:cNvSpPr txBox="1"/>
                  <p:nvPr/>
                </p:nvSpPr>
                <p:spPr>
                  <a:xfrm>
                    <a:off x="8085284" y="954399"/>
                    <a:ext cx="35067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39" name="TextBox 1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5284" y="954399"/>
                    <a:ext cx="350673" cy="36933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3" name="Прямая соединительная линия 142"/>
              <p:cNvCxnSpPr/>
              <p:nvPr/>
            </p:nvCxnSpPr>
            <p:spPr>
              <a:xfrm>
                <a:off x="7883545" y="1939754"/>
                <a:ext cx="9915" cy="5562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TextBox 144"/>
              <p:cNvSpPr txBox="1"/>
              <p:nvPr/>
            </p:nvSpPr>
            <p:spPr>
              <a:xfrm>
                <a:off x="7643219" y="1661898"/>
                <a:ext cx="2209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i="1" dirty="0" smtClean="0"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ru-RU" sz="16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46" name="Прямая соединительная линия 145"/>
              <p:cNvCxnSpPr>
                <a:stCxn id="155" idx="2"/>
                <a:endCxn id="155" idx="2"/>
              </p:cNvCxnSpPr>
              <p:nvPr/>
            </p:nvCxnSpPr>
            <p:spPr>
              <a:xfrm>
                <a:off x="7304425" y="193975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7" name="Полилиния 136"/>
            <p:cNvSpPr/>
            <p:nvPr/>
          </p:nvSpPr>
          <p:spPr>
            <a:xfrm>
              <a:off x="6494780" y="2393077"/>
              <a:ext cx="1762760" cy="179942"/>
            </a:xfrm>
            <a:custGeom>
              <a:avLst/>
              <a:gdLst>
                <a:gd name="connsiteX0" fmla="*/ 0 w 1717040"/>
                <a:gd name="connsiteY0" fmla="*/ 211940 h 211940"/>
                <a:gd name="connsiteX1" fmla="*/ 302260 w 1717040"/>
                <a:gd name="connsiteY1" fmla="*/ 26520 h 211940"/>
                <a:gd name="connsiteX2" fmla="*/ 762000 w 1717040"/>
                <a:gd name="connsiteY2" fmla="*/ 6200 h 211940"/>
                <a:gd name="connsiteX3" fmla="*/ 1117600 w 1717040"/>
                <a:gd name="connsiteY3" fmla="*/ 74780 h 211940"/>
                <a:gd name="connsiteX4" fmla="*/ 1457960 w 1717040"/>
                <a:gd name="connsiteY4" fmla="*/ 128120 h 211940"/>
                <a:gd name="connsiteX5" fmla="*/ 1717040 w 1717040"/>
                <a:gd name="connsiteY5" fmla="*/ 92560 h 211940"/>
                <a:gd name="connsiteX6" fmla="*/ 1717040 w 1717040"/>
                <a:gd name="connsiteY6" fmla="*/ 92560 h 211940"/>
                <a:gd name="connsiteX0" fmla="*/ 0 w 1717040"/>
                <a:gd name="connsiteY0" fmla="*/ 213034 h 213034"/>
                <a:gd name="connsiteX1" fmla="*/ 302260 w 1717040"/>
                <a:gd name="connsiteY1" fmla="*/ 27614 h 213034"/>
                <a:gd name="connsiteX2" fmla="*/ 762000 w 1717040"/>
                <a:gd name="connsiteY2" fmla="*/ 7294 h 213034"/>
                <a:gd name="connsiteX3" fmla="*/ 1117600 w 1717040"/>
                <a:gd name="connsiteY3" fmla="*/ 91114 h 213034"/>
                <a:gd name="connsiteX4" fmla="*/ 1457960 w 1717040"/>
                <a:gd name="connsiteY4" fmla="*/ 129214 h 213034"/>
                <a:gd name="connsiteX5" fmla="*/ 1717040 w 1717040"/>
                <a:gd name="connsiteY5" fmla="*/ 93654 h 213034"/>
                <a:gd name="connsiteX6" fmla="*/ 1717040 w 1717040"/>
                <a:gd name="connsiteY6" fmla="*/ 93654 h 213034"/>
                <a:gd name="connsiteX0" fmla="*/ 0 w 1717040"/>
                <a:gd name="connsiteY0" fmla="*/ 206582 h 206582"/>
                <a:gd name="connsiteX1" fmla="*/ 309880 w 1717040"/>
                <a:gd name="connsiteY1" fmla="*/ 51642 h 206582"/>
                <a:gd name="connsiteX2" fmla="*/ 762000 w 1717040"/>
                <a:gd name="connsiteY2" fmla="*/ 842 h 206582"/>
                <a:gd name="connsiteX3" fmla="*/ 1117600 w 1717040"/>
                <a:gd name="connsiteY3" fmla="*/ 84662 h 206582"/>
                <a:gd name="connsiteX4" fmla="*/ 1457960 w 1717040"/>
                <a:gd name="connsiteY4" fmla="*/ 122762 h 206582"/>
                <a:gd name="connsiteX5" fmla="*/ 1717040 w 1717040"/>
                <a:gd name="connsiteY5" fmla="*/ 87202 h 206582"/>
                <a:gd name="connsiteX6" fmla="*/ 1717040 w 1717040"/>
                <a:gd name="connsiteY6" fmla="*/ 87202 h 206582"/>
                <a:gd name="connsiteX0" fmla="*/ 0 w 1762760"/>
                <a:gd name="connsiteY0" fmla="*/ 178526 h 178526"/>
                <a:gd name="connsiteX1" fmla="*/ 355600 w 1762760"/>
                <a:gd name="connsiteY1" fmla="*/ 51526 h 178526"/>
                <a:gd name="connsiteX2" fmla="*/ 807720 w 1762760"/>
                <a:gd name="connsiteY2" fmla="*/ 726 h 178526"/>
                <a:gd name="connsiteX3" fmla="*/ 1163320 w 1762760"/>
                <a:gd name="connsiteY3" fmla="*/ 84546 h 178526"/>
                <a:gd name="connsiteX4" fmla="*/ 1503680 w 1762760"/>
                <a:gd name="connsiteY4" fmla="*/ 122646 h 178526"/>
                <a:gd name="connsiteX5" fmla="*/ 1762760 w 1762760"/>
                <a:gd name="connsiteY5" fmla="*/ 87086 h 178526"/>
                <a:gd name="connsiteX6" fmla="*/ 1762760 w 1762760"/>
                <a:gd name="connsiteY6" fmla="*/ 87086 h 178526"/>
                <a:gd name="connsiteX0" fmla="*/ 0 w 1762760"/>
                <a:gd name="connsiteY0" fmla="*/ 178366 h 178366"/>
                <a:gd name="connsiteX1" fmla="*/ 121920 w 1762760"/>
                <a:gd name="connsiteY1" fmla="*/ 122486 h 178366"/>
                <a:gd name="connsiteX2" fmla="*/ 355600 w 1762760"/>
                <a:gd name="connsiteY2" fmla="*/ 51366 h 178366"/>
                <a:gd name="connsiteX3" fmla="*/ 807720 w 1762760"/>
                <a:gd name="connsiteY3" fmla="*/ 566 h 178366"/>
                <a:gd name="connsiteX4" fmla="*/ 1163320 w 1762760"/>
                <a:gd name="connsiteY4" fmla="*/ 84386 h 178366"/>
                <a:gd name="connsiteX5" fmla="*/ 1503680 w 1762760"/>
                <a:gd name="connsiteY5" fmla="*/ 122486 h 178366"/>
                <a:gd name="connsiteX6" fmla="*/ 1762760 w 1762760"/>
                <a:gd name="connsiteY6" fmla="*/ 86926 h 178366"/>
                <a:gd name="connsiteX7" fmla="*/ 1762760 w 1762760"/>
                <a:gd name="connsiteY7" fmla="*/ 86926 h 178366"/>
                <a:gd name="connsiteX0" fmla="*/ 0 w 1762760"/>
                <a:gd name="connsiteY0" fmla="*/ 180423 h 180423"/>
                <a:gd name="connsiteX1" fmla="*/ 121920 w 1762760"/>
                <a:gd name="connsiteY1" fmla="*/ 124543 h 180423"/>
                <a:gd name="connsiteX2" fmla="*/ 353060 w 1762760"/>
                <a:gd name="connsiteY2" fmla="*/ 30563 h 180423"/>
                <a:gd name="connsiteX3" fmla="*/ 807720 w 1762760"/>
                <a:gd name="connsiteY3" fmla="*/ 2623 h 180423"/>
                <a:gd name="connsiteX4" fmla="*/ 1163320 w 1762760"/>
                <a:gd name="connsiteY4" fmla="*/ 86443 h 180423"/>
                <a:gd name="connsiteX5" fmla="*/ 1503680 w 1762760"/>
                <a:gd name="connsiteY5" fmla="*/ 124543 h 180423"/>
                <a:gd name="connsiteX6" fmla="*/ 1762760 w 1762760"/>
                <a:gd name="connsiteY6" fmla="*/ 88983 h 180423"/>
                <a:gd name="connsiteX7" fmla="*/ 1762760 w 1762760"/>
                <a:gd name="connsiteY7" fmla="*/ 88983 h 180423"/>
                <a:gd name="connsiteX0" fmla="*/ 0 w 1762760"/>
                <a:gd name="connsiteY0" fmla="*/ 177930 h 177930"/>
                <a:gd name="connsiteX1" fmla="*/ 121920 w 1762760"/>
                <a:gd name="connsiteY1" fmla="*/ 122050 h 177930"/>
                <a:gd name="connsiteX2" fmla="*/ 411480 w 1762760"/>
                <a:gd name="connsiteY2" fmla="*/ 66170 h 177930"/>
                <a:gd name="connsiteX3" fmla="*/ 807720 w 1762760"/>
                <a:gd name="connsiteY3" fmla="*/ 130 h 177930"/>
                <a:gd name="connsiteX4" fmla="*/ 1163320 w 1762760"/>
                <a:gd name="connsiteY4" fmla="*/ 83950 h 177930"/>
                <a:gd name="connsiteX5" fmla="*/ 1503680 w 1762760"/>
                <a:gd name="connsiteY5" fmla="*/ 122050 h 177930"/>
                <a:gd name="connsiteX6" fmla="*/ 1762760 w 1762760"/>
                <a:gd name="connsiteY6" fmla="*/ 86490 h 177930"/>
                <a:gd name="connsiteX7" fmla="*/ 1762760 w 1762760"/>
                <a:gd name="connsiteY7" fmla="*/ 86490 h 177930"/>
                <a:gd name="connsiteX0" fmla="*/ 0 w 1762760"/>
                <a:gd name="connsiteY0" fmla="*/ 177938 h 177938"/>
                <a:gd name="connsiteX1" fmla="*/ 134620 w 1762760"/>
                <a:gd name="connsiteY1" fmla="*/ 142378 h 177938"/>
                <a:gd name="connsiteX2" fmla="*/ 411480 w 1762760"/>
                <a:gd name="connsiteY2" fmla="*/ 66178 h 177938"/>
                <a:gd name="connsiteX3" fmla="*/ 807720 w 1762760"/>
                <a:gd name="connsiteY3" fmla="*/ 138 h 177938"/>
                <a:gd name="connsiteX4" fmla="*/ 1163320 w 1762760"/>
                <a:gd name="connsiteY4" fmla="*/ 83958 h 177938"/>
                <a:gd name="connsiteX5" fmla="*/ 1503680 w 1762760"/>
                <a:gd name="connsiteY5" fmla="*/ 122058 h 177938"/>
                <a:gd name="connsiteX6" fmla="*/ 1762760 w 1762760"/>
                <a:gd name="connsiteY6" fmla="*/ 86498 h 177938"/>
                <a:gd name="connsiteX7" fmla="*/ 1762760 w 1762760"/>
                <a:gd name="connsiteY7" fmla="*/ 86498 h 177938"/>
                <a:gd name="connsiteX0" fmla="*/ 0 w 1762760"/>
                <a:gd name="connsiteY0" fmla="*/ 178883 h 178883"/>
                <a:gd name="connsiteX1" fmla="*/ 134620 w 1762760"/>
                <a:gd name="connsiteY1" fmla="*/ 143323 h 178883"/>
                <a:gd name="connsiteX2" fmla="*/ 411480 w 1762760"/>
                <a:gd name="connsiteY2" fmla="*/ 44263 h 178883"/>
                <a:gd name="connsiteX3" fmla="*/ 807720 w 1762760"/>
                <a:gd name="connsiteY3" fmla="*/ 1083 h 178883"/>
                <a:gd name="connsiteX4" fmla="*/ 1163320 w 1762760"/>
                <a:gd name="connsiteY4" fmla="*/ 84903 h 178883"/>
                <a:gd name="connsiteX5" fmla="*/ 1503680 w 1762760"/>
                <a:gd name="connsiteY5" fmla="*/ 123003 h 178883"/>
                <a:gd name="connsiteX6" fmla="*/ 1762760 w 1762760"/>
                <a:gd name="connsiteY6" fmla="*/ 87443 h 178883"/>
                <a:gd name="connsiteX7" fmla="*/ 1762760 w 1762760"/>
                <a:gd name="connsiteY7" fmla="*/ 87443 h 178883"/>
                <a:gd name="connsiteX0" fmla="*/ 0 w 1762760"/>
                <a:gd name="connsiteY0" fmla="*/ 179942 h 179942"/>
                <a:gd name="connsiteX1" fmla="*/ 134620 w 1762760"/>
                <a:gd name="connsiteY1" fmla="*/ 144382 h 179942"/>
                <a:gd name="connsiteX2" fmla="*/ 411480 w 1762760"/>
                <a:gd name="connsiteY2" fmla="*/ 35162 h 179942"/>
                <a:gd name="connsiteX3" fmla="*/ 807720 w 1762760"/>
                <a:gd name="connsiteY3" fmla="*/ 2142 h 179942"/>
                <a:gd name="connsiteX4" fmla="*/ 1163320 w 1762760"/>
                <a:gd name="connsiteY4" fmla="*/ 85962 h 179942"/>
                <a:gd name="connsiteX5" fmla="*/ 1503680 w 1762760"/>
                <a:gd name="connsiteY5" fmla="*/ 124062 h 179942"/>
                <a:gd name="connsiteX6" fmla="*/ 1762760 w 1762760"/>
                <a:gd name="connsiteY6" fmla="*/ 88502 h 179942"/>
                <a:gd name="connsiteX7" fmla="*/ 1762760 w 1762760"/>
                <a:gd name="connsiteY7" fmla="*/ 88502 h 17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2760" h="179942">
                  <a:moveTo>
                    <a:pt x="0" y="179942"/>
                  </a:moveTo>
                  <a:cubicBezTo>
                    <a:pt x="19473" y="168935"/>
                    <a:pt x="75353" y="165549"/>
                    <a:pt x="134620" y="144382"/>
                  </a:cubicBezTo>
                  <a:cubicBezTo>
                    <a:pt x="193887" y="123215"/>
                    <a:pt x="299297" y="58869"/>
                    <a:pt x="411480" y="35162"/>
                  </a:cubicBezTo>
                  <a:cubicBezTo>
                    <a:pt x="523663" y="11455"/>
                    <a:pt x="682413" y="-6325"/>
                    <a:pt x="807720" y="2142"/>
                  </a:cubicBezTo>
                  <a:cubicBezTo>
                    <a:pt x="933027" y="10609"/>
                    <a:pt x="1047327" y="65642"/>
                    <a:pt x="1163320" y="85962"/>
                  </a:cubicBezTo>
                  <a:cubicBezTo>
                    <a:pt x="1279313" y="106282"/>
                    <a:pt x="1403773" y="123639"/>
                    <a:pt x="1503680" y="124062"/>
                  </a:cubicBezTo>
                  <a:cubicBezTo>
                    <a:pt x="1603587" y="124485"/>
                    <a:pt x="1762760" y="88502"/>
                    <a:pt x="1762760" y="88502"/>
                  </a:cubicBezTo>
                  <a:lnTo>
                    <a:pt x="1762760" y="88502"/>
                  </a:ln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8" name="Прямоугольник 167"/>
          <p:cNvSpPr/>
          <p:nvPr/>
        </p:nvSpPr>
        <p:spPr>
          <a:xfrm>
            <a:off x="9469981" y="5106394"/>
            <a:ext cx="1418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CP=R=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Прямоугольник 168"/>
              <p:cNvSpPr/>
              <p:nvPr/>
            </p:nvSpPr>
            <p:spPr>
              <a:xfrm>
                <a:off x="9620058" y="5647391"/>
                <a:ext cx="989502" cy="623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/>
                          <a:ea typeface="Cambria Math"/>
                        </a:rPr>
                        <m:t>𝜀</m:t>
                      </m:r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𝐶𝑃</m:t>
                          </m:r>
                        </m:den>
                      </m:f>
                      <m:r>
                        <a:rPr lang="ru-R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9" name="Прямоугольник 1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058" y="5647391"/>
                <a:ext cx="989502" cy="623825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Прямоугольник 169"/>
              <p:cNvSpPr/>
              <p:nvPr/>
            </p:nvSpPr>
            <p:spPr>
              <a:xfrm>
                <a:off x="8147388" y="5092940"/>
                <a:ext cx="4695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0" name="Прямоугольник 1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388" y="5092940"/>
                <a:ext cx="469552" cy="369332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 стрелкой 27"/>
          <p:cNvCxnSpPr/>
          <p:nvPr/>
        </p:nvCxnSpPr>
        <p:spPr>
          <a:xfrm flipV="1">
            <a:off x="10144281" y="3204147"/>
            <a:ext cx="259544" cy="421920"/>
          </a:xfrm>
          <a:prstGeom prst="straightConnector1">
            <a:avLst/>
          </a:prstGeom>
          <a:ln w="1905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932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5" grpId="0"/>
      <p:bldP spid="68" grpId="0"/>
      <p:bldP spid="69" grpId="0"/>
      <p:bldP spid="101" grpId="0" animBg="1"/>
      <p:bldP spid="124" grpId="0"/>
      <p:bldP spid="109" grpId="0"/>
      <p:bldP spid="110" grpId="0"/>
      <p:bldP spid="125" grpId="0"/>
      <p:bldP spid="126" grpId="0"/>
      <p:bldP spid="127" grpId="0"/>
      <p:bldP spid="128" grpId="0"/>
      <p:bldP spid="132" grpId="0"/>
      <p:bldP spid="134" grpId="0"/>
      <p:bldP spid="168" grpId="0"/>
      <p:bldP spid="169" grpId="0"/>
      <p:bldP spid="1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8802" y="874712"/>
            <a:ext cx="1176207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Стержень 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АВ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скользит своими концами вдоль взаимно-ортогональных направляющих, 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АВ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=0,5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м. В положении стержня, изображённом на рисунке, </a:t>
            </a:r>
            <a:r>
              <a:rPr lang="en-GB" sz="16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GB" sz="1600" i="1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/c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16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1600" i="1" baseline="-25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= 0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16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.</a:t>
            </a:r>
            <a:r>
              <a:rPr lang="ru-RU" sz="1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Определить ускорение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точки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угловое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ускорение стержня  </a:t>
            </a:r>
            <a:r>
              <a:rPr lang="ru-RU" sz="1600" i="1" dirty="0">
                <a:latin typeface="Times New Roman" pitchFamily="18" charset="0"/>
                <a:cs typeface="Times New Roman" pitchFamily="18" charset="0"/>
              </a:rPr>
              <a:t>АВ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в этом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положении. Сделать проверку через МЦУ.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10" name="Заголовок 12"/>
          <p:cNvSpPr>
            <a:spLocks noGrp="1"/>
          </p:cNvSpPr>
          <p:nvPr>
            <p:ph type="title"/>
          </p:nvPr>
        </p:nvSpPr>
        <p:spPr>
          <a:xfrm>
            <a:off x="412478" y="222250"/>
            <a:ext cx="9143905" cy="652462"/>
          </a:xfrm>
        </p:spPr>
        <p:txBody>
          <a:bodyPr rtlCol="0">
            <a:normAutofit/>
          </a:bodyPr>
          <a:lstStyle/>
          <a:p>
            <a:r>
              <a:rPr lang="ru-RU" sz="2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Пример</a:t>
            </a:r>
            <a:r>
              <a:rPr lang="en-US" sz="3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1</a:t>
            </a:r>
            <a:r>
              <a:rPr lang="ru-RU" sz="2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.</a:t>
            </a:r>
            <a:endParaRPr lang="ru-RU" sz="22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358802" y="78340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358802" y="846581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Прямоугольник 44"/>
              <p:cNvSpPr/>
              <p:nvPr/>
            </p:nvSpPr>
            <p:spPr>
              <a:xfrm>
                <a:off x="2003552" y="3705393"/>
                <a:ext cx="4786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5" name="Прямоугольник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52" y="3705393"/>
                <a:ext cx="4786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Группа 71"/>
          <p:cNvGrpSpPr/>
          <p:nvPr/>
        </p:nvGrpSpPr>
        <p:grpSpPr>
          <a:xfrm>
            <a:off x="751571" y="2036091"/>
            <a:ext cx="2265742" cy="2454954"/>
            <a:chOff x="850705" y="1886371"/>
            <a:chExt cx="2265742" cy="2454954"/>
          </a:xfrm>
        </p:grpSpPr>
        <p:sp>
          <p:nvSpPr>
            <p:cNvPr id="44" name="TextBox 43"/>
            <p:cNvSpPr txBox="1"/>
            <p:nvPr/>
          </p:nvSpPr>
          <p:spPr>
            <a:xfrm>
              <a:off x="2043608" y="3971993"/>
              <a:ext cx="358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ru-RU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1" name="Группа 70"/>
            <p:cNvGrpSpPr/>
            <p:nvPr/>
          </p:nvGrpSpPr>
          <p:grpSpPr>
            <a:xfrm>
              <a:off x="850705" y="1886371"/>
              <a:ext cx="2265742" cy="2450822"/>
              <a:chOff x="850705" y="1886371"/>
              <a:chExt cx="2265742" cy="2450822"/>
            </a:xfrm>
          </p:grpSpPr>
          <p:grpSp>
            <p:nvGrpSpPr>
              <p:cNvPr id="70" name="Группа 69"/>
              <p:cNvGrpSpPr/>
              <p:nvPr/>
            </p:nvGrpSpPr>
            <p:grpSpPr>
              <a:xfrm>
                <a:off x="850705" y="1886371"/>
                <a:ext cx="2265742" cy="2450822"/>
                <a:chOff x="850705" y="1886371"/>
                <a:chExt cx="2265742" cy="2450822"/>
              </a:xfrm>
            </p:grpSpPr>
            <p:grpSp>
              <p:nvGrpSpPr>
                <p:cNvPr id="33" name="Группа 32"/>
                <p:cNvGrpSpPr/>
                <p:nvPr/>
              </p:nvGrpSpPr>
              <p:grpSpPr>
                <a:xfrm>
                  <a:off x="1197402" y="1886371"/>
                  <a:ext cx="1919045" cy="2139520"/>
                  <a:chOff x="1428675" y="1879600"/>
                  <a:chExt cx="1919045" cy="2139520"/>
                </a:xfrm>
              </p:grpSpPr>
              <p:cxnSp>
                <p:nvCxnSpPr>
                  <p:cNvPr id="20" name="Прямая соединительная линия 19"/>
                  <p:cNvCxnSpPr/>
                  <p:nvPr/>
                </p:nvCxnSpPr>
                <p:spPr>
                  <a:xfrm>
                    <a:off x="1474323" y="1879600"/>
                    <a:ext cx="0" cy="202656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Прямая соединительная линия 25"/>
                  <p:cNvCxnSpPr/>
                  <p:nvPr/>
                </p:nvCxnSpPr>
                <p:spPr>
                  <a:xfrm flipH="1">
                    <a:off x="1428750" y="1929765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Прямая соединительная линия 26"/>
                  <p:cNvCxnSpPr/>
                  <p:nvPr/>
                </p:nvCxnSpPr>
                <p:spPr>
                  <a:xfrm flipH="1">
                    <a:off x="1428749" y="1984057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Прямая соединительная линия 27"/>
                  <p:cNvCxnSpPr/>
                  <p:nvPr/>
                </p:nvCxnSpPr>
                <p:spPr>
                  <a:xfrm flipH="1">
                    <a:off x="1428675" y="2035492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2" name="Группа 31"/>
                  <p:cNvGrpSpPr/>
                  <p:nvPr/>
                </p:nvGrpSpPr>
                <p:grpSpPr>
                  <a:xfrm>
                    <a:off x="1474323" y="2219120"/>
                    <a:ext cx="1873397" cy="1800000"/>
                    <a:chOff x="1474323" y="2219120"/>
                    <a:chExt cx="1873397" cy="1800000"/>
                  </a:xfrm>
                </p:grpSpPr>
                <p:cxnSp>
                  <p:nvCxnSpPr>
                    <p:cNvPr id="18" name="Прямая соединительная линия 17"/>
                    <p:cNvCxnSpPr/>
                    <p:nvPr/>
                  </p:nvCxnSpPr>
                  <p:spPr>
                    <a:xfrm rot="3600000">
                      <a:off x="1033122" y="3108960"/>
                      <a:ext cx="1800000" cy="2032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Прямая соединительная линия 21"/>
                    <p:cNvCxnSpPr/>
                    <p:nvPr/>
                  </p:nvCxnSpPr>
                  <p:spPr>
                    <a:xfrm>
                      <a:off x="1474323" y="3906163"/>
                      <a:ext cx="1873397" cy="349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Прямая соединительная линия 28"/>
                    <p:cNvCxnSpPr/>
                    <p:nvPr/>
                  </p:nvCxnSpPr>
                  <p:spPr>
                    <a:xfrm flipH="1">
                      <a:off x="3032760" y="3909655"/>
                      <a:ext cx="45573" cy="51435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Прямая соединительная линия 29"/>
                    <p:cNvCxnSpPr/>
                    <p:nvPr/>
                  </p:nvCxnSpPr>
                  <p:spPr>
                    <a:xfrm flipH="1">
                      <a:off x="3099435" y="3909655"/>
                      <a:ext cx="45573" cy="51435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Прямая соединительная линия 30"/>
                    <p:cNvCxnSpPr/>
                    <p:nvPr/>
                  </p:nvCxnSpPr>
                  <p:spPr>
                    <a:xfrm flipH="1">
                      <a:off x="3162373" y="3909655"/>
                      <a:ext cx="45573" cy="51435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5" name="Дуга 34"/>
                <p:cNvSpPr/>
                <p:nvPr/>
              </p:nvSpPr>
              <p:spPr>
                <a:xfrm rot="16353220">
                  <a:off x="1740146" y="3665385"/>
                  <a:ext cx="606925" cy="553518"/>
                </a:xfrm>
                <a:prstGeom prst="arc">
                  <a:avLst>
                    <a:gd name="adj1" fmla="val 16388392"/>
                    <a:gd name="adj2" fmla="val 20575268"/>
                  </a:avLst>
                </a:prstGeom>
                <a:ln w="19050"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1414994" y="3438875"/>
                      <a:ext cx="426373" cy="3755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60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°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994" y="3438875"/>
                      <a:ext cx="426373" cy="375552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 r="-1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3" name="TextBox 42"/>
                <p:cNvSpPr txBox="1"/>
                <p:nvPr/>
              </p:nvSpPr>
              <p:spPr>
                <a:xfrm>
                  <a:off x="850705" y="2069869"/>
                  <a:ext cx="3080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i="1" dirty="0" smtClean="0">
                      <a:latin typeface="Times New Roman" pitchFamily="18" charset="0"/>
                      <a:cs typeface="Times New Roman" pitchFamily="18" charset="0"/>
                    </a:rPr>
                    <a:t>B</a:t>
                  </a:r>
                  <a:endParaRPr lang="ru-RU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Прямоугольник 45"/>
                    <p:cNvSpPr/>
                    <p:nvPr/>
                  </p:nvSpPr>
                  <p:spPr>
                    <a:xfrm>
                      <a:off x="2425132" y="3967861"/>
                      <a:ext cx="472309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𝐴</m:t>
                                </m:r>
                              </m:sub>
                            </m:sSub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46" name="Прямоугольник 4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25132" y="3967861"/>
                      <a:ext cx="472309" cy="369332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r="-181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8" name="Прямая со стрелкой 37"/>
              <p:cNvCxnSpPr/>
              <p:nvPr/>
            </p:nvCxnSpPr>
            <p:spPr>
              <a:xfrm>
                <a:off x="2160648" y="3916426"/>
                <a:ext cx="663625" cy="0"/>
              </a:xfrm>
              <a:prstGeom prst="straightConnector1">
                <a:avLst/>
              </a:prstGeom>
              <a:ln w="28575">
                <a:solidFill>
                  <a:srgbClr val="0000FF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1" name="Прямая со стрелкой 40"/>
          <p:cNvCxnSpPr/>
          <p:nvPr/>
        </p:nvCxnSpPr>
        <p:spPr>
          <a:xfrm>
            <a:off x="2061514" y="4060114"/>
            <a:ext cx="362709" cy="0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>
            <a:off x="1143916" y="1849340"/>
            <a:ext cx="0" cy="264170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Прямоугольник 52"/>
              <p:cNvSpPr/>
              <p:nvPr/>
            </p:nvSpPr>
            <p:spPr>
              <a:xfrm>
                <a:off x="553265" y="4121713"/>
                <a:ext cx="7046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/>
                            </a:rPr>
                            <m:t>л. 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3" name="Прямоугольник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65" y="4121713"/>
                <a:ext cx="704616" cy="369332"/>
              </a:xfrm>
              <a:prstGeom prst="rect">
                <a:avLst/>
              </a:prstGeom>
              <a:blipFill rotWithShape="1">
                <a:blip r:embed="rId7"/>
                <a:stretch>
                  <a:fillRect r="-17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Прямая соединительная линия 54"/>
          <p:cNvCxnSpPr/>
          <p:nvPr/>
        </p:nvCxnSpPr>
        <p:spPr>
          <a:xfrm>
            <a:off x="1143841" y="2491108"/>
            <a:ext cx="1338342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 flipV="1">
            <a:off x="2061514" y="2191983"/>
            <a:ext cx="19100" cy="186813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>
            <a:off x="2048204" y="24682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2089621" y="2111973"/>
            <a:ext cx="35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1" name="Прямая со стрелкой 60"/>
          <p:cNvCxnSpPr/>
          <p:nvPr/>
        </p:nvCxnSpPr>
        <p:spPr>
          <a:xfrm>
            <a:off x="1143841" y="2491108"/>
            <a:ext cx="75" cy="443722"/>
          </a:xfrm>
          <a:prstGeom prst="straightConnector1">
            <a:avLst/>
          </a:prstGeom>
          <a:ln w="28575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Прямоугольник 63"/>
              <p:cNvSpPr/>
              <p:nvPr/>
            </p:nvSpPr>
            <p:spPr>
              <a:xfrm>
                <a:off x="751571" y="2593704"/>
                <a:ext cx="34038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4" name="Прямоугольник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71" y="2593704"/>
                <a:ext cx="340389" cy="369332"/>
              </a:xfrm>
              <a:prstGeom prst="rect">
                <a:avLst/>
              </a:prstGeom>
              <a:blipFill rotWithShape="1">
                <a:blip r:embed="rId8"/>
                <a:stretch>
                  <a:fillRect r="-1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Дуга 64"/>
          <p:cNvSpPr/>
          <p:nvPr/>
        </p:nvSpPr>
        <p:spPr>
          <a:xfrm rot="11152375">
            <a:off x="1928502" y="2129854"/>
            <a:ext cx="606925" cy="553518"/>
          </a:xfrm>
          <a:prstGeom prst="arc">
            <a:avLst>
              <a:gd name="adj1" fmla="val 16388392"/>
              <a:gd name="adj2" fmla="val 154491"/>
            </a:avLst>
          </a:prstGeom>
          <a:ln w="19050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7" name="Объект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587413"/>
              </p:ext>
            </p:extLst>
          </p:nvPr>
        </p:nvGraphicFramePr>
        <p:xfrm>
          <a:off x="3022497" y="2050995"/>
          <a:ext cx="4398104" cy="610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38" name="Формула" r:id="rId9" imgW="2997000" imgH="419040" progId="Equation.3">
                  <p:embed/>
                </p:oleObj>
              </mc:Choice>
              <mc:Fallback>
                <p:oleObj name="Формула" r:id="rId9" imgW="2997000" imgH="419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497" y="2050995"/>
                        <a:ext cx="4398104" cy="610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4711391" y="1460462"/>
            <a:ext cx="1087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 smtClean="0">
                <a:latin typeface="Times New Roman" pitchFamily="18" charset="0"/>
                <a:cs typeface="Times New Roman" pitchFamily="18" charset="0"/>
              </a:rPr>
              <a:t>Решение.</a:t>
            </a:r>
            <a:endParaRPr lang="ru-RU" sz="16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976673" y="1721160"/>
            <a:ext cx="380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Определим МЦС стержня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3" name="Группа 72"/>
          <p:cNvGrpSpPr/>
          <p:nvPr/>
        </p:nvGrpSpPr>
        <p:grpSpPr>
          <a:xfrm>
            <a:off x="8396926" y="1581074"/>
            <a:ext cx="2265742" cy="2425104"/>
            <a:chOff x="850705" y="1886371"/>
            <a:chExt cx="2265742" cy="2425104"/>
          </a:xfrm>
        </p:grpSpPr>
        <p:sp>
          <p:nvSpPr>
            <p:cNvPr id="74" name="TextBox 73"/>
            <p:cNvSpPr txBox="1"/>
            <p:nvPr/>
          </p:nvSpPr>
          <p:spPr>
            <a:xfrm>
              <a:off x="1929851" y="3942143"/>
              <a:ext cx="358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ru-RU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6" name="Группа 75"/>
            <p:cNvGrpSpPr/>
            <p:nvPr/>
          </p:nvGrpSpPr>
          <p:grpSpPr>
            <a:xfrm>
              <a:off x="850705" y="1886371"/>
              <a:ext cx="2265742" cy="2359235"/>
              <a:chOff x="850705" y="1886371"/>
              <a:chExt cx="2265742" cy="2359235"/>
            </a:xfrm>
          </p:grpSpPr>
          <p:grpSp>
            <p:nvGrpSpPr>
              <p:cNvPr id="78" name="Группа 77"/>
              <p:cNvGrpSpPr/>
              <p:nvPr/>
            </p:nvGrpSpPr>
            <p:grpSpPr>
              <a:xfrm>
                <a:off x="1197402" y="1886371"/>
                <a:ext cx="1919045" cy="2139520"/>
                <a:chOff x="1428675" y="1879600"/>
                <a:chExt cx="1919045" cy="2139520"/>
              </a:xfrm>
            </p:grpSpPr>
            <p:cxnSp>
              <p:nvCxnSpPr>
                <p:cNvPr id="83" name="Прямая соединительная линия 82"/>
                <p:cNvCxnSpPr/>
                <p:nvPr/>
              </p:nvCxnSpPr>
              <p:spPr>
                <a:xfrm>
                  <a:off x="1474323" y="1879600"/>
                  <a:ext cx="0" cy="202656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Прямая соединительная линия 83"/>
                <p:cNvCxnSpPr/>
                <p:nvPr/>
              </p:nvCxnSpPr>
              <p:spPr>
                <a:xfrm flipH="1">
                  <a:off x="1428750" y="1929765"/>
                  <a:ext cx="45573" cy="5143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Прямая соединительная линия 84"/>
                <p:cNvCxnSpPr/>
                <p:nvPr/>
              </p:nvCxnSpPr>
              <p:spPr>
                <a:xfrm flipH="1">
                  <a:off x="1428749" y="1984057"/>
                  <a:ext cx="45573" cy="5143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Прямая соединительная линия 85"/>
                <p:cNvCxnSpPr/>
                <p:nvPr/>
              </p:nvCxnSpPr>
              <p:spPr>
                <a:xfrm flipH="1">
                  <a:off x="1428675" y="2035492"/>
                  <a:ext cx="45573" cy="5143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" name="Группа 86"/>
                <p:cNvGrpSpPr/>
                <p:nvPr/>
              </p:nvGrpSpPr>
              <p:grpSpPr>
                <a:xfrm>
                  <a:off x="1474323" y="2219120"/>
                  <a:ext cx="1873397" cy="1800000"/>
                  <a:chOff x="1474323" y="2219120"/>
                  <a:chExt cx="1873397" cy="1800000"/>
                </a:xfrm>
              </p:grpSpPr>
              <p:cxnSp>
                <p:nvCxnSpPr>
                  <p:cNvPr id="88" name="Прямая соединительная линия 87"/>
                  <p:cNvCxnSpPr/>
                  <p:nvPr/>
                </p:nvCxnSpPr>
                <p:spPr>
                  <a:xfrm rot="3600000">
                    <a:off x="1033122" y="3108960"/>
                    <a:ext cx="1800000" cy="2032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Прямая соединительная линия 88"/>
                  <p:cNvCxnSpPr/>
                  <p:nvPr/>
                </p:nvCxnSpPr>
                <p:spPr>
                  <a:xfrm>
                    <a:off x="1474323" y="3906163"/>
                    <a:ext cx="1873397" cy="349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Прямая соединительная линия 89"/>
                  <p:cNvCxnSpPr/>
                  <p:nvPr/>
                </p:nvCxnSpPr>
                <p:spPr>
                  <a:xfrm flipH="1">
                    <a:off x="3032760" y="3909655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Прямая соединительная линия 90"/>
                  <p:cNvCxnSpPr/>
                  <p:nvPr/>
                </p:nvCxnSpPr>
                <p:spPr>
                  <a:xfrm flipH="1">
                    <a:off x="3099435" y="3909655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Прямая соединительная линия 91"/>
                  <p:cNvCxnSpPr/>
                  <p:nvPr/>
                </p:nvCxnSpPr>
                <p:spPr>
                  <a:xfrm flipH="1">
                    <a:off x="3162373" y="3909655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9" name="Дуга 78"/>
              <p:cNvSpPr/>
              <p:nvPr/>
            </p:nvSpPr>
            <p:spPr>
              <a:xfrm rot="16353220">
                <a:off x="1740146" y="3665385"/>
                <a:ext cx="606925" cy="553518"/>
              </a:xfrm>
              <a:prstGeom prst="arc">
                <a:avLst>
                  <a:gd name="adj1" fmla="val 16388392"/>
                  <a:gd name="adj2" fmla="val 20575268"/>
                </a:avLst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1414994" y="3438875"/>
                    <a:ext cx="426373" cy="375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°</m:t>
                              </m:r>
                            </m:sup>
                          </m:sSup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80" name="TextBox 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4994" y="3438875"/>
                    <a:ext cx="426373" cy="37555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r="-12857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TextBox 80"/>
              <p:cNvSpPr txBox="1"/>
              <p:nvPr/>
            </p:nvSpPr>
            <p:spPr>
              <a:xfrm>
                <a:off x="850705" y="2069869"/>
                <a:ext cx="3080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ru-RU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94" name="TextBox 93"/>
          <p:cNvSpPr txBox="1"/>
          <p:nvPr/>
        </p:nvSpPr>
        <p:spPr>
          <a:xfrm>
            <a:off x="3367936" y="2675796"/>
            <a:ext cx="316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Примем за полюс точку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А,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тогда: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5" name="Объект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294301"/>
              </p:ext>
            </p:extLst>
          </p:nvPr>
        </p:nvGraphicFramePr>
        <p:xfrm>
          <a:off x="3456878" y="3045128"/>
          <a:ext cx="3148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39" name="Формула" r:id="rId12" imgW="1765080" imgH="266400" progId="Equation.3">
                  <p:embed/>
                </p:oleObj>
              </mc:Choice>
              <mc:Fallback>
                <p:oleObj name="Формула" r:id="rId12" imgW="1765080" imgH="26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878" y="3045128"/>
                        <a:ext cx="3148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Объект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144401"/>
              </p:ext>
            </p:extLst>
          </p:nvPr>
        </p:nvGraphicFramePr>
        <p:xfrm>
          <a:off x="3445511" y="3537294"/>
          <a:ext cx="3703531" cy="37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40" name="Формула" r:id="rId14" imgW="2387600" imgH="241300" progId="Equation.3">
                  <p:embed/>
                </p:oleObj>
              </mc:Choice>
              <mc:Fallback>
                <p:oleObj name="Формула" r:id="rId14" imgW="23876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511" y="3537294"/>
                        <a:ext cx="3703531" cy="37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8" name="Прямая со стрелкой 97"/>
          <p:cNvCxnSpPr/>
          <p:nvPr/>
        </p:nvCxnSpPr>
        <p:spPr>
          <a:xfrm>
            <a:off x="9696891" y="3605097"/>
            <a:ext cx="362709" cy="0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/>
          <p:cNvCxnSpPr/>
          <p:nvPr/>
        </p:nvCxnSpPr>
        <p:spPr>
          <a:xfrm flipH="1" flipV="1">
            <a:off x="8819933" y="2019689"/>
            <a:ext cx="282564" cy="498441"/>
          </a:xfrm>
          <a:prstGeom prst="straightConnector1">
            <a:avLst/>
          </a:prstGeom>
          <a:ln w="28575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Прямоугольник 100"/>
              <p:cNvSpPr/>
              <p:nvPr/>
            </p:nvSpPr>
            <p:spPr>
              <a:xfrm>
                <a:off x="9789176" y="3583008"/>
                <a:ext cx="4786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1" name="Прямоугольник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176" y="3583008"/>
                <a:ext cx="478631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Прямоугольник 101"/>
              <p:cNvSpPr/>
              <p:nvPr/>
            </p:nvSpPr>
            <p:spPr>
              <a:xfrm>
                <a:off x="9010777" y="2226727"/>
                <a:ext cx="603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𝐵𝐴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2" name="Прямоугольник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0777" y="2226727"/>
                <a:ext cx="603050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Прямая соединительная линия 103"/>
          <p:cNvCxnSpPr/>
          <p:nvPr/>
        </p:nvCxnSpPr>
        <p:spPr>
          <a:xfrm flipV="1">
            <a:off x="7932759" y="1613376"/>
            <a:ext cx="1454829" cy="99108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Прямоугольник 105"/>
              <p:cNvSpPr/>
              <p:nvPr/>
            </p:nvSpPr>
            <p:spPr>
              <a:xfrm>
                <a:off x="9361259" y="1542235"/>
                <a:ext cx="7553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л.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𝜏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06" name="Прямоугольник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259" y="1542235"/>
                <a:ext cx="755335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4839" b="-163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Прямая соединительная линия 107"/>
          <p:cNvCxnSpPr/>
          <p:nvPr/>
        </p:nvCxnSpPr>
        <p:spPr>
          <a:xfrm flipH="1">
            <a:off x="8789196" y="1468356"/>
            <a:ext cx="75" cy="2483984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Прямоугольник 110"/>
              <p:cNvSpPr/>
              <p:nvPr/>
            </p:nvSpPr>
            <p:spPr>
              <a:xfrm>
                <a:off x="8385623" y="3899266"/>
                <a:ext cx="91374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л.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1" name="Прямоугольник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623" y="3899266"/>
                <a:ext cx="913744" cy="369332"/>
              </a:xfrm>
              <a:prstGeom prst="rect">
                <a:avLst/>
              </a:prstGeom>
              <a:blipFill rotWithShape="1">
                <a:blip r:embed="rId19"/>
                <a:stretch>
                  <a:fillRect l="-4027" b="-1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Прямая со стрелкой 113"/>
          <p:cNvCxnSpPr/>
          <p:nvPr/>
        </p:nvCxnSpPr>
        <p:spPr>
          <a:xfrm>
            <a:off x="9091259" y="4605018"/>
            <a:ext cx="540000" cy="0"/>
          </a:xfrm>
          <a:prstGeom prst="straightConnector1">
            <a:avLst/>
          </a:prstGeom>
          <a:ln w="28575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/>
          <p:cNvCxnSpPr/>
          <p:nvPr/>
        </p:nvCxnSpPr>
        <p:spPr>
          <a:xfrm rot="3600000" flipV="1">
            <a:off x="9438672" y="4931106"/>
            <a:ext cx="756000" cy="5080"/>
          </a:xfrm>
          <a:prstGeom prst="line">
            <a:avLst/>
          </a:prstGeom>
          <a:ln w="28575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 flipV="1">
            <a:off x="8842495" y="4425008"/>
            <a:ext cx="2368049" cy="163608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/>
          <p:cNvCxnSpPr/>
          <p:nvPr/>
        </p:nvCxnSpPr>
        <p:spPr>
          <a:xfrm>
            <a:off x="9091259" y="4339441"/>
            <a:ext cx="11238" cy="213941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Прямоугольник 124"/>
              <p:cNvSpPr/>
              <p:nvPr/>
            </p:nvSpPr>
            <p:spPr>
              <a:xfrm>
                <a:off x="9312302" y="4240342"/>
                <a:ext cx="4786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5" name="Прямоугольник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02" y="4240342"/>
                <a:ext cx="478631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Прямоугольник 125"/>
              <p:cNvSpPr/>
              <p:nvPr/>
            </p:nvSpPr>
            <p:spPr>
              <a:xfrm>
                <a:off x="9777169" y="4741184"/>
                <a:ext cx="603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𝐵𝐴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" name="Прямоугольник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169" y="4741184"/>
                <a:ext cx="603050" cy="369332"/>
              </a:xfrm>
              <a:prstGeom prst="rect">
                <a:avLst/>
              </a:prstGeom>
              <a:blipFill rotWithShape="1">
                <a:blip r:embed="rId2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Прямоугольник 127"/>
              <p:cNvSpPr/>
              <p:nvPr/>
            </p:nvSpPr>
            <p:spPr>
              <a:xfrm>
                <a:off x="10687113" y="4055676"/>
                <a:ext cx="7553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л.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𝜏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28" name="Прямоугольник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113" y="4055676"/>
                <a:ext cx="755335" cy="369332"/>
              </a:xfrm>
              <a:prstGeom prst="rect">
                <a:avLst/>
              </a:prstGeom>
              <a:blipFill rotWithShape="1">
                <a:blip r:embed="rId22"/>
                <a:stretch>
                  <a:fillRect l="-4032" r="-806" b="-163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Прямоугольник 129"/>
              <p:cNvSpPr/>
              <p:nvPr/>
            </p:nvSpPr>
            <p:spPr>
              <a:xfrm>
                <a:off x="9132957" y="6211283"/>
                <a:ext cx="91374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л.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30" name="Прямоугольник 1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957" y="6211283"/>
                <a:ext cx="913744" cy="369332"/>
              </a:xfrm>
              <a:prstGeom prst="rect">
                <a:avLst/>
              </a:prstGeom>
              <a:blipFill rotWithShape="1">
                <a:blip r:embed="rId23"/>
                <a:stretch>
                  <a:fillRect l="-3333" b="-1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Прямая со стрелкой 131"/>
          <p:cNvCxnSpPr/>
          <p:nvPr/>
        </p:nvCxnSpPr>
        <p:spPr>
          <a:xfrm>
            <a:off x="9096878" y="4605018"/>
            <a:ext cx="5619" cy="1273812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/>
          <p:cNvCxnSpPr/>
          <p:nvPr/>
        </p:nvCxnSpPr>
        <p:spPr>
          <a:xfrm flipH="1">
            <a:off x="9096878" y="5262274"/>
            <a:ext cx="910996" cy="631796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Прямоугольник 136"/>
              <p:cNvSpPr/>
              <p:nvPr/>
            </p:nvSpPr>
            <p:spPr>
              <a:xfrm>
                <a:off x="9244223" y="5628992"/>
                <a:ext cx="603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𝐵𝐴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7" name="Прямоугольник 1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223" y="5628992"/>
                <a:ext cx="603050" cy="369332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Прямоугольник 137"/>
              <p:cNvSpPr/>
              <p:nvPr/>
            </p:nvSpPr>
            <p:spPr>
              <a:xfrm>
                <a:off x="8704170" y="5461560"/>
                <a:ext cx="39832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8" name="Прямоугольник 1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170" y="5461560"/>
                <a:ext cx="398327" cy="369332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Прямоугольник 138"/>
              <p:cNvSpPr/>
              <p:nvPr/>
            </p:nvSpPr>
            <p:spPr>
              <a:xfrm>
                <a:off x="3367936" y="3970109"/>
                <a:ext cx="12456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𝜏</m:t>
                        </m:r>
                      </m:sup>
                    </m:sSubSup>
                    <m:r>
                      <a:rPr lang="ru-RU" i="1">
                        <a:latin typeface="Cambria Math"/>
                        <a:ea typeface="Cambria Math"/>
                        <a:cs typeface="Times New Roman" pitchFamily="18" charset="0"/>
                      </a:rPr>
                      <m:t>⊥</m:t>
                    </m:r>
                    <m:r>
                      <a:rPr lang="en-US" i="1">
                        <a:latin typeface="Cambria Math"/>
                        <a:ea typeface="Cambria Math"/>
                        <a:cs typeface="Times New Roman" pitchFamily="18" charset="0"/>
                      </a:rPr>
                      <m:t>𝐴𝐵</m:t>
                    </m:r>
                  </m:oMath>
                </a14:m>
                <a:r>
                  <a:rPr lang="ru-RU" dirty="0" smtClean="0"/>
                  <a:t>, 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9" name="Прямоугольник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36" y="3970109"/>
                <a:ext cx="1245662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197" r="-292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TextBox 139"/>
          <p:cNvSpPr txBox="1"/>
          <p:nvPr/>
        </p:nvSpPr>
        <p:spPr>
          <a:xfrm>
            <a:off x="3456878" y="4337770"/>
            <a:ext cx="4573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Строим векторный многоугольник ускорений.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4" name="Прямая со стрелкой 143"/>
          <p:cNvCxnSpPr/>
          <p:nvPr/>
        </p:nvCxnSpPr>
        <p:spPr>
          <a:xfrm>
            <a:off x="8660173" y="6580615"/>
            <a:ext cx="2937767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 стрелкой 145"/>
          <p:cNvCxnSpPr/>
          <p:nvPr/>
        </p:nvCxnSpPr>
        <p:spPr>
          <a:xfrm flipV="1">
            <a:off x="8660173" y="4339441"/>
            <a:ext cx="0" cy="2241174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8365220" y="4253464"/>
            <a:ext cx="37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1330940" y="6211283"/>
            <a:ext cx="272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0" name="Дуга 149"/>
          <p:cNvSpPr/>
          <p:nvPr/>
        </p:nvSpPr>
        <p:spPr>
          <a:xfrm rot="270642">
            <a:off x="8772254" y="5484568"/>
            <a:ext cx="606925" cy="553518"/>
          </a:xfrm>
          <a:prstGeom prst="arc">
            <a:avLst>
              <a:gd name="adj1" fmla="val 16388392"/>
              <a:gd name="adj2" fmla="val 20575268"/>
            </a:avLst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/>
              <p:cNvSpPr txBox="1"/>
              <p:nvPr/>
            </p:nvSpPr>
            <p:spPr>
              <a:xfrm>
                <a:off x="9116300" y="5194883"/>
                <a:ext cx="42637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60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1" name="TextBox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300" y="5194883"/>
                <a:ext cx="426373" cy="375552"/>
              </a:xfrm>
              <a:prstGeom prst="rect">
                <a:avLst/>
              </a:prstGeom>
              <a:blipFill rotWithShape="1">
                <a:blip r:embed="rId27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/>
          <p:cNvSpPr txBox="1"/>
          <p:nvPr/>
        </p:nvSpPr>
        <p:spPr>
          <a:xfrm>
            <a:off x="751571" y="4622796"/>
            <a:ext cx="548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Спроецируем векторное уравнение (1) на оси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3" name="Объект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807888"/>
              </p:ext>
            </p:extLst>
          </p:nvPr>
        </p:nvGraphicFramePr>
        <p:xfrm>
          <a:off x="1321044" y="4971495"/>
          <a:ext cx="3761414" cy="82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41" name="Формула" r:id="rId28" imgW="2438400" imgH="533400" progId="Equation.3">
                  <p:embed/>
                </p:oleObj>
              </mc:Choice>
              <mc:Fallback>
                <p:oleObj name="Формула" r:id="rId28" imgW="2438400" imgH="533400" progId="Equation.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044" y="4971495"/>
                        <a:ext cx="3761414" cy="822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Объект 1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714765"/>
              </p:ext>
            </p:extLst>
          </p:nvPr>
        </p:nvGraphicFramePr>
        <p:xfrm>
          <a:off x="938213" y="5880100"/>
          <a:ext cx="146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42" name="Формула" r:id="rId30" imgW="1028520" imgH="228600" progId="Equation.3">
                  <p:embed/>
                </p:oleObj>
              </mc:Choice>
              <mc:Fallback>
                <p:oleObj name="Формула" r:id="rId30" imgW="102852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5880100"/>
                        <a:ext cx="1460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" name="Объект 1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606481"/>
              </p:ext>
            </p:extLst>
          </p:nvPr>
        </p:nvGraphicFramePr>
        <p:xfrm>
          <a:off x="2460625" y="5856288"/>
          <a:ext cx="155733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43" name="Формула" r:id="rId32" imgW="1066680" imgH="228600" progId="Equation.3">
                  <p:embed/>
                </p:oleObj>
              </mc:Choice>
              <mc:Fallback>
                <p:oleObj name="Формула" r:id="rId32" imgW="106668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5856288"/>
                        <a:ext cx="1557338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/>
              <p:cNvSpPr txBox="1"/>
              <p:nvPr/>
            </p:nvSpPr>
            <p:spPr>
              <a:xfrm>
                <a:off x="4145644" y="5761327"/>
                <a:ext cx="3787115" cy="543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Тогда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ru-RU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𝐵𝐴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𝐴𝐵</m:t>
                        </m:r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0,59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0,5</m:t>
                        </m:r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≈1,18</m:t>
                    </m:r>
                  </m:oMath>
                </a14:m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ea typeface="Cambria Math"/>
                      </a:rPr>
                      <m:t>рад/</m:t>
                    </m:r>
                    <m:sSup>
                      <m:sSupPr>
                        <m:ctrlPr>
                          <a:rPr lang="ru-RU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  <a:ea typeface="Cambria Math"/>
                          </a:rPr>
                          <m:t>с</m:t>
                        </m:r>
                      </m:e>
                      <m:sup>
                        <m:r>
                          <a:rPr lang="ru-RU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156" name="TextBox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644" y="5761327"/>
                <a:ext cx="3787115" cy="543354"/>
              </a:xfrm>
              <a:prstGeom prst="rect">
                <a:avLst/>
              </a:prstGeom>
              <a:blipFill rotWithShape="1">
                <a:blip r:embed="rId34"/>
                <a:stretch>
                  <a:fillRect l="-805" b="-33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Прямая со стрелкой 156"/>
          <p:cNvCxnSpPr/>
          <p:nvPr/>
        </p:nvCxnSpPr>
        <p:spPr>
          <a:xfrm flipH="1">
            <a:off x="7878200" y="2036091"/>
            <a:ext cx="910996" cy="631796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Дуга 157"/>
          <p:cNvSpPr/>
          <p:nvPr/>
        </p:nvSpPr>
        <p:spPr>
          <a:xfrm rot="16539081">
            <a:off x="9134792" y="2851367"/>
            <a:ext cx="606925" cy="553518"/>
          </a:xfrm>
          <a:prstGeom prst="arc">
            <a:avLst>
              <a:gd name="adj1" fmla="val 16388392"/>
              <a:gd name="adj2" fmla="val 154491"/>
            </a:avLst>
          </a:prstGeom>
          <a:ln w="28575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Прямоугольник 158"/>
              <p:cNvSpPr/>
              <p:nvPr/>
            </p:nvSpPr>
            <p:spPr>
              <a:xfrm>
                <a:off x="9438254" y="2577466"/>
                <a:ext cx="3506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9" name="Прямоугольник 1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8254" y="2577466"/>
                <a:ext cx="350673" cy="369332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Прямоугольник 159"/>
              <p:cNvSpPr/>
              <p:nvPr/>
            </p:nvSpPr>
            <p:spPr>
              <a:xfrm>
                <a:off x="7729274" y="2062198"/>
                <a:ext cx="6030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𝐵𝐴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0" name="Прямоугольник 1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274" y="2062198"/>
                <a:ext cx="603050" cy="369332"/>
              </a:xfrm>
              <a:prstGeom prst="rect">
                <a:avLst/>
              </a:prstGeom>
              <a:blipFill rotWithShape="1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Прямоугольник 161"/>
              <p:cNvSpPr/>
              <p:nvPr/>
            </p:nvSpPr>
            <p:spPr>
              <a:xfrm>
                <a:off x="1587532" y="2662843"/>
                <a:ext cx="4093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𝜔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2" name="Прямоугольник 1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532" y="2662843"/>
                <a:ext cx="409343" cy="369332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/>
              <p:cNvSpPr txBox="1"/>
              <p:nvPr/>
            </p:nvSpPr>
            <p:spPr>
              <a:xfrm>
                <a:off x="955756" y="6304681"/>
                <a:ext cx="7595172" cy="364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Направление угловой стрелки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ru-RU" i="1">
                        <a:latin typeface="Cambria Math"/>
                        <a:ea typeface="Cambria Math"/>
                      </a:rPr>
                      <m:t>𝜀</m:t>
                    </m:r>
                    <m:r>
                      <a:rPr lang="ru-RU" b="0" i="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определяем в соответствиис вектором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ru-RU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</a:rPr>
                          <m:t>𝐵𝐴</m:t>
                        </m:r>
                      </m:sub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𝜏</m:t>
                        </m:r>
                      </m:sup>
                    </m:sSubSup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3" name="TextBox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56" y="6304681"/>
                <a:ext cx="7595172" cy="364715"/>
              </a:xfrm>
              <a:prstGeom prst="rect">
                <a:avLst/>
              </a:prstGeom>
              <a:blipFill rotWithShape="1">
                <a:blip r:embed="rId38"/>
                <a:stretch>
                  <a:fillRect l="-482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Прямоугольник 1"/>
          <p:cNvSpPr/>
          <p:nvPr/>
        </p:nvSpPr>
        <p:spPr>
          <a:xfrm>
            <a:off x="4580789" y="3957281"/>
            <a:ext cx="2916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траектория точки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прямая.</a:t>
            </a:r>
          </a:p>
        </p:txBody>
      </p:sp>
      <p:sp>
        <p:nvSpPr>
          <p:cNvPr id="103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23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00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00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50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000"/>
                            </p:stCondLst>
                            <p:childTnLst>
                              <p:par>
                                <p:cTn id="2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5" grpId="0"/>
      <p:bldP spid="45" grpId="1"/>
      <p:bldP spid="53" grpId="0"/>
      <p:bldP spid="58" grpId="0" animBg="1"/>
      <p:bldP spid="59" grpId="0"/>
      <p:bldP spid="64" grpId="0"/>
      <p:bldP spid="65" grpId="0" animBg="1"/>
      <p:bldP spid="68" grpId="0"/>
      <p:bldP spid="69" grpId="0"/>
      <p:bldP spid="94" grpId="0"/>
      <p:bldP spid="101" grpId="0"/>
      <p:bldP spid="102" grpId="0"/>
      <p:bldP spid="106" grpId="0"/>
      <p:bldP spid="111" grpId="0"/>
      <p:bldP spid="125" grpId="0"/>
      <p:bldP spid="126" grpId="0"/>
      <p:bldP spid="128" grpId="0"/>
      <p:bldP spid="130" grpId="0"/>
      <p:bldP spid="137" grpId="0"/>
      <p:bldP spid="138" grpId="0"/>
      <p:bldP spid="139" grpId="0"/>
      <p:bldP spid="140" grpId="0"/>
      <p:bldP spid="148" grpId="0"/>
      <p:bldP spid="149" grpId="0"/>
      <p:bldP spid="150" grpId="0" animBg="1"/>
      <p:bldP spid="151" grpId="0"/>
      <p:bldP spid="152" grpId="0"/>
      <p:bldP spid="156" grpId="0"/>
      <p:bldP spid="158" grpId="0" animBg="1"/>
      <p:bldP spid="159" grpId="0"/>
      <p:bldP spid="160" grpId="0"/>
      <p:bldP spid="162" grpId="0"/>
      <p:bldP spid="16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9" name="Заголовок 12"/>
          <p:cNvSpPr>
            <a:spLocks noGrp="1"/>
          </p:cNvSpPr>
          <p:nvPr>
            <p:ph type="title"/>
          </p:nvPr>
        </p:nvSpPr>
        <p:spPr>
          <a:xfrm>
            <a:off x="412478" y="222250"/>
            <a:ext cx="9143905" cy="652462"/>
          </a:xfrm>
        </p:spPr>
        <p:txBody>
          <a:bodyPr rtlCol="0">
            <a:normAutofit/>
          </a:bodyPr>
          <a:lstStyle/>
          <a:p>
            <a:r>
              <a:rPr lang="ru-RU" sz="2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Пример</a:t>
            </a:r>
            <a:r>
              <a:rPr lang="en-US" sz="3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1</a:t>
            </a:r>
            <a:r>
              <a:rPr lang="ru-RU" sz="32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 </a:t>
            </a:r>
            <a:r>
              <a:rPr lang="ru-RU" sz="24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(продолжение)</a:t>
            </a:r>
            <a:r>
              <a:rPr lang="ru-RU" sz="1800" b="1" i="1" dirty="0" smtClean="0">
                <a:solidFill>
                  <a:srgbClr val="002060"/>
                </a:solidFill>
                <a:latin typeface="Sitka Heading" panose="02000505000000020004" pitchFamily="2" charset="0"/>
                <a:cs typeface="Calibri" panose="020F0502020204030204" pitchFamily="34" charset="0"/>
              </a:rPr>
              <a:t>.</a:t>
            </a:r>
            <a:endParaRPr lang="ru-RU" sz="18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8802" y="78340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58802" y="846581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Группа 11"/>
          <p:cNvGrpSpPr/>
          <p:nvPr/>
        </p:nvGrpSpPr>
        <p:grpSpPr>
          <a:xfrm>
            <a:off x="957167" y="1334377"/>
            <a:ext cx="3193017" cy="3682431"/>
            <a:chOff x="987769" y="1886371"/>
            <a:chExt cx="2128678" cy="2454954"/>
          </a:xfrm>
        </p:grpSpPr>
        <p:sp>
          <p:nvSpPr>
            <p:cNvPr id="13" name="TextBox 12"/>
            <p:cNvSpPr txBox="1"/>
            <p:nvPr/>
          </p:nvSpPr>
          <p:spPr>
            <a:xfrm>
              <a:off x="2043608" y="3971993"/>
              <a:ext cx="358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endParaRPr lang="ru-RU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5" name="Группа 14"/>
            <p:cNvGrpSpPr/>
            <p:nvPr/>
          </p:nvGrpSpPr>
          <p:grpSpPr>
            <a:xfrm>
              <a:off x="987769" y="1886371"/>
              <a:ext cx="2128678" cy="2359234"/>
              <a:chOff x="987769" y="1886371"/>
              <a:chExt cx="2128678" cy="2359234"/>
            </a:xfrm>
          </p:grpSpPr>
          <p:grpSp>
            <p:nvGrpSpPr>
              <p:cNvPr id="17" name="Группа 16"/>
              <p:cNvGrpSpPr/>
              <p:nvPr/>
            </p:nvGrpSpPr>
            <p:grpSpPr>
              <a:xfrm>
                <a:off x="1197402" y="1886371"/>
                <a:ext cx="1919045" cy="2139520"/>
                <a:chOff x="1428675" y="1879600"/>
                <a:chExt cx="1919045" cy="2139520"/>
              </a:xfrm>
            </p:grpSpPr>
            <p:cxnSp>
              <p:nvCxnSpPr>
                <p:cNvPr id="22" name="Прямая соединительная линия 21"/>
                <p:cNvCxnSpPr/>
                <p:nvPr/>
              </p:nvCxnSpPr>
              <p:spPr>
                <a:xfrm>
                  <a:off x="1474323" y="1879600"/>
                  <a:ext cx="0" cy="202656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Прямая соединительная линия 22"/>
                <p:cNvCxnSpPr/>
                <p:nvPr/>
              </p:nvCxnSpPr>
              <p:spPr>
                <a:xfrm flipH="1">
                  <a:off x="1428750" y="1929765"/>
                  <a:ext cx="45573" cy="5143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Прямая соединительная линия 23"/>
                <p:cNvCxnSpPr/>
                <p:nvPr/>
              </p:nvCxnSpPr>
              <p:spPr>
                <a:xfrm flipH="1">
                  <a:off x="1428749" y="1984057"/>
                  <a:ext cx="45573" cy="5143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единительная линия 24"/>
                <p:cNvCxnSpPr/>
                <p:nvPr/>
              </p:nvCxnSpPr>
              <p:spPr>
                <a:xfrm flipH="1">
                  <a:off x="1428675" y="2035492"/>
                  <a:ext cx="45573" cy="5143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" name="Группа 25"/>
                <p:cNvGrpSpPr/>
                <p:nvPr/>
              </p:nvGrpSpPr>
              <p:grpSpPr>
                <a:xfrm>
                  <a:off x="1474323" y="2219120"/>
                  <a:ext cx="1873397" cy="1800000"/>
                  <a:chOff x="1474323" y="2219120"/>
                  <a:chExt cx="1873397" cy="1800000"/>
                </a:xfrm>
              </p:grpSpPr>
              <p:cxnSp>
                <p:nvCxnSpPr>
                  <p:cNvPr id="27" name="Прямая соединительная линия 26"/>
                  <p:cNvCxnSpPr/>
                  <p:nvPr/>
                </p:nvCxnSpPr>
                <p:spPr>
                  <a:xfrm rot="3600000">
                    <a:off x="1033122" y="3108960"/>
                    <a:ext cx="1800000" cy="2032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Прямая соединительная линия 27"/>
                  <p:cNvCxnSpPr/>
                  <p:nvPr/>
                </p:nvCxnSpPr>
                <p:spPr>
                  <a:xfrm>
                    <a:off x="1474323" y="3906163"/>
                    <a:ext cx="1873397" cy="349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Прямая соединительная линия 28"/>
                  <p:cNvCxnSpPr/>
                  <p:nvPr/>
                </p:nvCxnSpPr>
                <p:spPr>
                  <a:xfrm flipH="1">
                    <a:off x="3032760" y="3909655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Прямая соединительная линия 29"/>
                  <p:cNvCxnSpPr/>
                  <p:nvPr/>
                </p:nvCxnSpPr>
                <p:spPr>
                  <a:xfrm flipH="1">
                    <a:off x="3099435" y="3909655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Прямая соединительная линия 30"/>
                  <p:cNvCxnSpPr/>
                  <p:nvPr/>
                </p:nvCxnSpPr>
                <p:spPr>
                  <a:xfrm flipH="1">
                    <a:off x="3162373" y="3909655"/>
                    <a:ext cx="45573" cy="51435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8" name="Дуга 17"/>
              <p:cNvSpPr/>
              <p:nvPr/>
            </p:nvSpPr>
            <p:spPr>
              <a:xfrm rot="16353220">
                <a:off x="1750613" y="3665384"/>
                <a:ext cx="606925" cy="553518"/>
              </a:xfrm>
              <a:prstGeom prst="arc">
                <a:avLst>
                  <a:gd name="adj1" fmla="val 16388392"/>
                  <a:gd name="adj2" fmla="val 20575268"/>
                </a:avLst>
              </a:prstGeom>
              <a:ln w="190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1517982" y="3561986"/>
                    <a:ext cx="426373" cy="375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°</m:t>
                              </m:r>
                            </m:sup>
                          </m:sSup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7982" y="3561986"/>
                    <a:ext cx="426373" cy="37555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TextBox 19"/>
              <p:cNvSpPr txBox="1"/>
              <p:nvPr/>
            </p:nvSpPr>
            <p:spPr>
              <a:xfrm>
                <a:off x="987769" y="2218277"/>
                <a:ext cx="20963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ru-RU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cxnSp>
        <p:nvCxnSpPr>
          <p:cNvPr id="32" name="Прямая со стрелкой 31"/>
          <p:cNvCxnSpPr/>
          <p:nvPr/>
        </p:nvCxnSpPr>
        <p:spPr>
          <a:xfrm>
            <a:off x="1346086" y="2016902"/>
            <a:ext cx="8429" cy="1910718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2673199" y="4364740"/>
            <a:ext cx="81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Прямоугольник 33"/>
              <p:cNvSpPr/>
              <p:nvPr/>
            </p:nvSpPr>
            <p:spPr>
              <a:xfrm>
                <a:off x="873290" y="3478467"/>
                <a:ext cx="39832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4" name="Прямоугольник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90" y="3478467"/>
                <a:ext cx="39832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Прямоугольник 34"/>
              <p:cNvSpPr/>
              <p:nvPr/>
            </p:nvSpPr>
            <p:spPr>
              <a:xfrm>
                <a:off x="3078199" y="4418036"/>
                <a:ext cx="4786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Прямоугольник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199" y="4418036"/>
                <a:ext cx="478631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Дуга 35"/>
          <p:cNvSpPr/>
          <p:nvPr/>
        </p:nvSpPr>
        <p:spPr>
          <a:xfrm rot="6382240">
            <a:off x="1510692" y="2509582"/>
            <a:ext cx="910388" cy="830277"/>
          </a:xfrm>
          <a:prstGeom prst="arc">
            <a:avLst>
              <a:gd name="adj1" fmla="val 16388392"/>
              <a:gd name="adj2" fmla="val 154491"/>
            </a:avLst>
          </a:prstGeom>
          <a:ln w="28575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/>
              <p:cNvSpPr/>
              <p:nvPr/>
            </p:nvSpPr>
            <p:spPr>
              <a:xfrm>
                <a:off x="2282812" y="2982819"/>
                <a:ext cx="3506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Прямоугольник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812" y="2982819"/>
                <a:ext cx="350673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Прямая соединительная линия 38"/>
          <p:cNvCxnSpPr/>
          <p:nvPr/>
        </p:nvCxnSpPr>
        <p:spPr>
          <a:xfrm rot="2160000" flipH="1">
            <a:off x="3412927" y="2096838"/>
            <a:ext cx="10160" cy="252030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>
            <a:off x="1346085" y="1999755"/>
            <a:ext cx="3134475" cy="222670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Дуга 44"/>
          <p:cNvSpPr/>
          <p:nvPr/>
        </p:nvSpPr>
        <p:spPr>
          <a:xfrm rot="1954390">
            <a:off x="2205343" y="3959795"/>
            <a:ext cx="827737" cy="710296"/>
          </a:xfrm>
          <a:prstGeom prst="arc">
            <a:avLst>
              <a:gd name="adj1" fmla="val 17262021"/>
              <a:gd name="adj2" fmla="val 19986918"/>
            </a:avLst>
          </a:prstGeom>
          <a:ln w="19050">
            <a:solidFill>
              <a:schemeClr val="accent6">
                <a:lumMod val="75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Дуга 45"/>
          <p:cNvSpPr/>
          <p:nvPr/>
        </p:nvSpPr>
        <p:spPr>
          <a:xfrm rot="6714294">
            <a:off x="908558" y="1588876"/>
            <a:ext cx="827737" cy="710296"/>
          </a:xfrm>
          <a:prstGeom prst="arc">
            <a:avLst>
              <a:gd name="adj1" fmla="val 17262021"/>
              <a:gd name="adj2" fmla="val 19986918"/>
            </a:avLst>
          </a:prstGeom>
          <a:ln w="19050">
            <a:solidFill>
              <a:schemeClr val="accent6">
                <a:lumMod val="75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/>
          <p:cNvSpPr/>
          <p:nvPr/>
        </p:nvSpPr>
        <p:spPr>
          <a:xfrm>
            <a:off x="3328376" y="3392757"/>
            <a:ext cx="57140" cy="571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3199721" y="2928442"/>
            <a:ext cx="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557378" y="1903613"/>
                <a:ext cx="42637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54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378" y="1903613"/>
                <a:ext cx="426373" cy="375552"/>
              </a:xfrm>
              <a:prstGeom prst="rect">
                <a:avLst/>
              </a:prstGeom>
              <a:blipFill rotWithShape="1">
                <a:blip r:embed="rId8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991634" y="3916447"/>
                <a:ext cx="42637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54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634" y="3916447"/>
                <a:ext cx="426373" cy="375552"/>
              </a:xfrm>
              <a:prstGeom prst="rect">
                <a:avLst/>
              </a:prstGeom>
              <a:blipFill rotWithShape="1">
                <a:blip r:embed="rId9"/>
                <a:stretch>
                  <a:fillRect r="-1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Объект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778893"/>
              </p:ext>
            </p:extLst>
          </p:nvPr>
        </p:nvGraphicFramePr>
        <p:xfrm>
          <a:off x="4916489" y="1483116"/>
          <a:ext cx="3160711" cy="677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5" name="Формула" r:id="rId10" imgW="2057400" imgH="419040" progId="Equation.3">
                  <p:embed/>
                </p:oleObj>
              </mc:Choice>
              <mc:Fallback>
                <p:oleObj name="Формула" r:id="rId10" imgW="2057400" imgH="4190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489" y="1483116"/>
                        <a:ext cx="3160711" cy="677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4835552" y="1088986"/>
            <a:ext cx="2814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Определим положение МЦУ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835552" y="2189907"/>
                <a:ext cx="6694929" cy="923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О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т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векторов ускорений в направлении угловой стрелки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ru-RU" i="1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откладываем лучи под углом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54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°</m:t>
                        </m:r>
                      </m:sup>
                    </m:sSup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. 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ru-RU" dirty="0" smtClean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552" y="2189907"/>
                <a:ext cx="6694929" cy="923201"/>
              </a:xfrm>
              <a:prstGeom prst="rect">
                <a:avLst/>
              </a:prstGeom>
              <a:blipFill rotWithShape="1">
                <a:blip r:embed="rId12"/>
                <a:stretch>
                  <a:fillRect l="-4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4917439" y="2805198"/>
                <a:ext cx="44805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Из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ea typeface="Cambria Math"/>
                      </a:rPr>
                      <m:t>△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𝐴𝐵𝑄</m:t>
                    </m:r>
                  </m:oMath>
                </a14:m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определяем расстояния до МЦУ: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439" y="2805198"/>
                <a:ext cx="4480561" cy="646331"/>
              </a:xfrm>
              <a:prstGeom prst="rect">
                <a:avLst/>
              </a:prstGeom>
              <a:blipFill rotWithShape="1">
                <a:blip r:embed="rId13"/>
                <a:stretch>
                  <a:fillRect l="-1224" t="-47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5032748" y="3297774"/>
                <a:ext cx="28771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𝐵𝑄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𝐴𝐵𝑠𝑖𝑛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66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∘</m:t>
                          </m:r>
                        </m:sup>
                      </m:sSup>
                      <m:r>
                        <a:rPr lang="en-US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0,456 </m:t>
                      </m:r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748" y="3297774"/>
                <a:ext cx="2877134" cy="369332"/>
              </a:xfrm>
              <a:prstGeom prst="rect">
                <a:avLst/>
              </a:prstGeom>
              <a:blipFill rotWithShape="1">
                <a:blip r:embed="rId1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981340" y="3672639"/>
                <a:ext cx="29091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𝐴𝑄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𝐴𝐵𝑠𝑖𝑛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24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∘</m:t>
                          </m:r>
                        </m:sup>
                      </m:sSup>
                      <m:r>
                        <a:rPr lang="en-US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0, 203 </m:t>
                      </m:r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340" y="3672639"/>
                <a:ext cx="2909194" cy="369332"/>
              </a:xfrm>
              <a:prstGeom prst="rect">
                <a:avLst/>
              </a:prstGeom>
              <a:blipFill rotWithShape="1">
                <a:blip r:embed="rId1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/>
          <p:cNvSpPr txBox="1"/>
          <p:nvPr/>
        </p:nvSpPr>
        <p:spPr>
          <a:xfrm>
            <a:off x="4981340" y="4057184"/>
            <a:ext cx="361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Проверим выполнение соотношения: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228749" y="4483406"/>
                <a:ext cx="2525563" cy="607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𝐴𝑄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𝐵𝑄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e>
                      </m:rad>
                      <m:r>
                        <a:rPr lang="en-US" i="1">
                          <a:latin typeface="Cambria Math"/>
                          <a:ea typeface="Cambria Math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749" y="4483406"/>
                <a:ext cx="2525563" cy="607923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73290" y="5091329"/>
                <a:ext cx="4496359" cy="4400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e>
                      </m:rad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u-RU" b="0" i="1" smtClean="0">
                                  <a:latin typeface="Cambria Math"/>
                                  <a:ea typeface="Cambria Math"/>
                                </a:rPr>
                                <m:t>1,18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u-RU" b="0" i="1" smtClean="0">
                                  <a:latin typeface="Cambria Math"/>
                                  <a:ea typeface="Cambria Math"/>
                                </a:rPr>
                                <m:t>0,92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e>
                      </m:rad>
                      <m:r>
                        <a:rPr lang="en-US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1,46 рад/</m:t>
                      </m:r>
                      <m:sSup>
                        <m:sSupPr>
                          <m:ctrlPr>
                            <a:rPr lang="ru-R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/>
                              <a:ea typeface="Cambria Math"/>
                            </a:rPr>
                            <m:t>с</m:t>
                          </m:r>
                        </m:e>
                        <m:sup>
                          <m:r>
                            <a:rPr lang="ru-R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90" y="5091329"/>
                <a:ext cx="4496359" cy="440057"/>
              </a:xfrm>
              <a:prstGeom prst="rect">
                <a:avLst/>
              </a:prstGeom>
              <a:blipFill rotWithShape="1">
                <a:blip r:embed="rId1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114392" y="5722926"/>
                <a:ext cx="2881173" cy="653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𝐴𝑄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/>
                            </a:rPr>
                            <m:t>0,3</m:t>
                          </m:r>
                        </m:num>
                        <m:den>
                          <m:r>
                            <a:rPr lang="ru-RU" b="0" i="1" smtClean="0">
                              <a:latin typeface="Cambria Math"/>
                            </a:rPr>
                            <m:t>0,203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1,46 рад/</m:t>
                      </m:r>
                      <m:sSup>
                        <m:sSupPr>
                          <m:ctrlPr>
                            <a:rPr lang="ru-R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/>
                              <a:ea typeface="Cambria Math"/>
                            </a:rPr>
                            <m:t>с</m:t>
                          </m:r>
                        </m:e>
                        <m:sup>
                          <m:r>
                            <a:rPr lang="ru-R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392" y="5722926"/>
                <a:ext cx="2881173" cy="65396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4171420" y="5722926"/>
                <a:ext cx="2887585" cy="653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𝐵𝑄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66</m:t>
                          </m:r>
                        </m:num>
                        <m:den>
                          <m:r>
                            <a:rPr lang="ru-RU" b="0" i="1" smtClean="0">
                              <a:latin typeface="Cambria Math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456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1,4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5</m:t>
                      </m:r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 рад/</m:t>
                      </m:r>
                      <m:sSup>
                        <m:sSupPr>
                          <m:ctrlPr>
                            <a:rPr lang="ru-R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/>
                              <a:ea typeface="Cambria Math"/>
                            </a:rPr>
                            <m:t>с</m:t>
                          </m:r>
                        </m:e>
                        <m:sup>
                          <m:r>
                            <a:rPr lang="ru-R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420" y="5722926"/>
                <a:ext cx="2887585" cy="65396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01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/>
      <p:bldP spid="45" grpId="0" animBg="1"/>
      <p:bldP spid="46" grpId="0" animBg="1"/>
      <p:bldP spid="47" grpId="0" animBg="1"/>
      <p:bldP spid="48" grpId="0"/>
      <p:bldP spid="49" grpId="0"/>
      <p:bldP spid="50" grpId="0"/>
      <p:bldP spid="52" grpId="0"/>
      <p:bldP spid="53" grpId="0"/>
      <p:bldP spid="55" grpId="0"/>
      <p:bldP spid="57" grpId="0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477768" y="304737"/>
            <a:ext cx="9072632" cy="624331"/>
          </a:xfrm>
        </p:spPr>
        <p:txBody>
          <a:bodyPr rtlCol="0">
            <a:noAutofit/>
          </a:bodyPr>
          <a:lstStyle/>
          <a:p>
            <a:r>
              <a:rPr lang="ru-RU" sz="27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Сферическое движение твердого тела. Углы Эйлера.</a:t>
            </a:r>
            <a: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7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>
            <a:off x="361953" y="69876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361953" y="788537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sp>
        <p:nvSpPr>
          <p:cNvPr id="61" name="Параллелограмм 65"/>
          <p:cNvSpPr/>
          <p:nvPr/>
        </p:nvSpPr>
        <p:spPr>
          <a:xfrm rot="19504622">
            <a:off x="1401408" y="4063071"/>
            <a:ext cx="4518025" cy="1247063"/>
          </a:xfrm>
          <a:custGeom>
            <a:avLst/>
            <a:gdLst>
              <a:gd name="connsiteX0" fmla="*/ 0 w 2617098"/>
              <a:gd name="connsiteY0" fmla="*/ 1580784 h 1580784"/>
              <a:gd name="connsiteX1" fmla="*/ 449844 w 2617098"/>
              <a:gd name="connsiteY1" fmla="*/ 0 h 1580784"/>
              <a:gd name="connsiteX2" fmla="*/ 2617098 w 2617098"/>
              <a:gd name="connsiteY2" fmla="*/ 0 h 1580784"/>
              <a:gd name="connsiteX3" fmla="*/ 2167254 w 2617098"/>
              <a:gd name="connsiteY3" fmla="*/ 1580784 h 1580784"/>
              <a:gd name="connsiteX4" fmla="*/ 0 w 2617098"/>
              <a:gd name="connsiteY4" fmla="*/ 1580784 h 1580784"/>
              <a:gd name="connsiteX0" fmla="*/ 0 w 3388519"/>
              <a:gd name="connsiteY0" fmla="*/ 935297 h 1580784"/>
              <a:gd name="connsiteX1" fmla="*/ 1221265 w 3388519"/>
              <a:gd name="connsiteY1" fmla="*/ 0 h 1580784"/>
              <a:gd name="connsiteX2" fmla="*/ 3388519 w 3388519"/>
              <a:gd name="connsiteY2" fmla="*/ 0 h 1580784"/>
              <a:gd name="connsiteX3" fmla="*/ 2938675 w 3388519"/>
              <a:gd name="connsiteY3" fmla="*/ 1580784 h 1580784"/>
              <a:gd name="connsiteX4" fmla="*/ 0 w 3388519"/>
              <a:gd name="connsiteY4" fmla="*/ 935297 h 1580784"/>
              <a:gd name="connsiteX0" fmla="*/ 0 w 3388519"/>
              <a:gd name="connsiteY0" fmla="*/ 935297 h 935297"/>
              <a:gd name="connsiteX1" fmla="*/ 1221265 w 3388519"/>
              <a:gd name="connsiteY1" fmla="*/ 0 h 935297"/>
              <a:gd name="connsiteX2" fmla="*/ 3388519 w 3388519"/>
              <a:gd name="connsiteY2" fmla="*/ 0 h 935297"/>
              <a:gd name="connsiteX3" fmla="*/ 2087031 w 3388519"/>
              <a:gd name="connsiteY3" fmla="*/ 930400 h 935297"/>
              <a:gd name="connsiteX4" fmla="*/ 0 w 3388519"/>
              <a:gd name="connsiteY4" fmla="*/ 935297 h 93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8519" h="935297">
                <a:moveTo>
                  <a:pt x="0" y="935297"/>
                </a:moveTo>
                <a:lnTo>
                  <a:pt x="1221265" y="0"/>
                </a:lnTo>
                <a:lnTo>
                  <a:pt x="3388519" y="0"/>
                </a:lnTo>
                <a:lnTo>
                  <a:pt x="2087031" y="930400"/>
                </a:lnTo>
                <a:lnTo>
                  <a:pt x="0" y="93529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62" name="Параллелограмм 61"/>
          <p:cNvSpPr/>
          <p:nvPr/>
        </p:nvSpPr>
        <p:spPr>
          <a:xfrm>
            <a:off x="991004" y="4554884"/>
            <a:ext cx="4416491" cy="1537965"/>
          </a:xfrm>
          <a:prstGeom prst="parallelogram">
            <a:avLst>
              <a:gd name="adj" fmla="val 117072"/>
            </a:avLst>
          </a:prstGeom>
          <a:solidFill>
            <a:schemeClr val="accent3">
              <a:lumMod val="40000"/>
              <a:lumOff val="60000"/>
              <a:alpha val="51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cxnSp>
        <p:nvCxnSpPr>
          <p:cNvPr id="63" name="Прямая соединительная линия 62"/>
          <p:cNvCxnSpPr>
            <a:stCxn id="71" idx="2"/>
          </p:cNvCxnSpPr>
          <p:nvPr/>
        </p:nvCxnSpPr>
        <p:spPr>
          <a:xfrm flipH="1">
            <a:off x="2718666" y="4748700"/>
            <a:ext cx="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Группа 63"/>
          <p:cNvGrpSpPr/>
          <p:nvPr/>
        </p:nvGrpSpPr>
        <p:grpSpPr>
          <a:xfrm>
            <a:off x="1260620" y="1580348"/>
            <a:ext cx="1938629" cy="3208824"/>
            <a:chOff x="957788" y="987574"/>
            <a:chExt cx="1453972" cy="2406618"/>
          </a:xfrm>
        </p:grpSpPr>
        <p:grpSp>
          <p:nvGrpSpPr>
            <p:cNvPr id="65" name="Группа 64"/>
            <p:cNvGrpSpPr/>
            <p:nvPr/>
          </p:nvGrpSpPr>
          <p:grpSpPr>
            <a:xfrm>
              <a:off x="957788" y="987574"/>
              <a:ext cx="1453972" cy="2376264"/>
              <a:chOff x="957788" y="987574"/>
              <a:chExt cx="1453972" cy="2376264"/>
            </a:xfrm>
          </p:grpSpPr>
          <p:sp>
            <p:nvSpPr>
              <p:cNvPr id="69" name="Полилиния 68"/>
              <p:cNvSpPr/>
              <p:nvPr/>
            </p:nvSpPr>
            <p:spPr>
              <a:xfrm rot="20479830">
                <a:off x="957788" y="987574"/>
                <a:ext cx="1453972" cy="2263818"/>
              </a:xfrm>
              <a:custGeom>
                <a:avLst/>
                <a:gdLst>
                  <a:gd name="connsiteX0" fmla="*/ 84097 w 607823"/>
                  <a:gd name="connsiteY0" fmla="*/ 68580 h 991101"/>
                  <a:gd name="connsiteX1" fmla="*/ 277 w 607823"/>
                  <a:gd name="connsiteY1" fmla="*/ 228600 h 991101"/>
                  <a:gd name="connsiteX2" fmla="*/ 57427 w 607823"/>
                  <a:gd name="connsiteY2" fmla="*/ 518160 h 991101"/>
                  <a:gd name="connsiteX3" fmla="*/ 68857 w 607823"/>
                  <a:gd name="connsiteY3" fmla="*/ 769620 h 991101"/>
                  <a:gd name="connsiteX4" fmla="*/ 274597 w 607823"/>
                  <a:gd name="connsiteY4" fmla="*/ 982980 h 991101"/>
                  <a:gd name="connsiteX5" fmla="*/ 461287 w 607823"/>
                  <a:gd name="connsiteY5" fmla="*/ 925830 h 991101"/>
                  <a:gd name="connsiteX6" fmla="*/ 507007 w 607823"/>
                  <a:gd name="connsiteY6" fmla="*/ 731520 h 991101"/>
                  <a:gd name="connsiteX7" fmla="*/ 602257 w 607823"/>
                  <a:gd name="connsiteY7" fmla="*/ 571500 h 991101"/>
                  <a:gd name="connsiteX8" fmla="*/ 583207 w 607823"/>
                  <a:gd name="connsiteY8" fmla="*/ 381000 h 991101"/>
                  <a:gd name="connsiteX9" fmla="*/ 472717 w 607823"/>
                  <a:gd name="connsiteY9" fmla="*/ 213360 h 991101"/>
                  <a:gd name="connsiteX10" fmla="*/ 438427 w 607823"/>
                  <a:gd name="connsiteY10" fmla="*/ 45720 h 991101"/>
                  <a:gd name="connsiteX11" fmla="*/ 312697 w 607823"/>
                  <a:gd name="connsiteY11" fmla="*/ 0 h 991101"/>
                  <a:gd name="connsiteX12" fmla="*/ 164107 w 607823"/>
                  <a:gd name="connsiteY12" fmla="*/ 45720 h 991101"/>
                  <a:gd name="connsiteX13" fmla="*/ 84097 w 607823"/>
                  <a:gd name="connsiteY13" fmla="*/ 68580 h 991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07823" h="991101">
                    <a:moveTo>
                      <a:pt x="84097" y="68580"/>
                    </a:moveTo>
                    <a:cubicBezTo>
                      <a:pt x="56792" y="99060"/>
                      <a:pt x="4722" y="153670"/>
                      <a:pt x="277" y="228600"/>
                    </a:cubicBezTo>
                    <a:cubicBezTo>
                      <a:pt x="-4168" y="303530"/>
                      <a:pt x="45997" y="427990"/>
                      <a:pt x="57427" y="518160"/>
                    </a:cubicBezTo>
                    <a:cubicBezTo>
                      <a:pt x="68857" y="608330"/>
                      <a:pt x="32662" y="692150"/>
                      <a:pt x="68857" y="769620"/>
                    </a:cubicBezTo>
                    <a:cubicBezTo>
                      <a:pt x="105052" y="847090"/>
                      <a:pt x="209192" y="956945"/>
                      <a:pt x="274597" y="982980"/>
                    </a:cubicBezTo>
                    <a:cubicBezTo>
                      <a:pt x="340002" y="1009015"/>
                      <a:pt x="422552" y="967740"/>
                      <a:pt x="461287" y="925830"/>
                    </a:cubicBezTo>
                    <a:cubicBezTo>
                      <a:pt x="500022" y="883920"/>
                      <a:pt x="483512" y="790575"/>
                      <a:pt x="507007" y="731520"/>
                    </a:cubicBezTo>
                    <a:cubicBezTo>
                      <a:pt x="530502" y="672465"/>
                      <a:pt x="589557" y="629920"/>
                      <a:pt x="602257" y="571500"/>
                    </a:cubicBezTo>
                    <a:cubicBezTo>
                      <a:pt x="614957" y="513080"/>
                      <a:pt x="604797" y="440690"/>
                      <a:pt x="583207" y="381000"/>
                    </a:cubicBezTo>
                    <a:cubicBezTo>
                      <a:pt x="561617" y="321310"/>
                      <a:pt x="496847" y="269240"/>
                      <a:pt x="472717" y="213360"/>
                    </a:cubicBezTo>
                    <a:cubicBezTo>
                      <a:pt x="448587" y="157480"/>
                      <a:pt x="465097" y="81280"/>
                      <a:pt x="438427" y="45720"/>
                    </a:cubicBezTo>
                    <a:cubicBezTo>
                      <a:pt x="411757" y="10160"/>
                      <a:pt x="358417" y="0"/>
                      <a:pt x="312697" y="0"/>
                    </a:cubicBezTo>
                    <a:cubicBezTo>
                      <a:pt x="266977" y="0"/>
                      <a:pt x="202842" y="36830"/>
                      <a:pt x="164107" y="45720"/>
                    </a:cubicBezTo>
                    <a:cubicBezTo>
                      <a:pt x="125372" y="54610"/>
                      <a:pt x="111402" y="38100"/>
                      <a:pt x="84097" y="6858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shade val="30000"/>
                      <a:satMod val="115000"/>
                    </a:schemeClr>
                  </a:gs>
                  <a:gs pos="50000">
                    <a:schemeClr val="accent1">
                      <a:lumMod val="40000"/>
                      <a:lumOff val="60000"/>
                      <a:shade val="67500"/>
                      <a:satMod val="115000"/>
                    </a:schemeClr>
                  </a:gs>
                  <a:gs pos="100000">
                    <a:schemeClr val="accent1">
                      <a:lumMod val="40000"/>
                      <a:lumOff val="60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/>
              <p:cNvSpPr/>
              <p:nvPr/>
            </p:nvSpPr>
            <p:spPr>
              <a:xfrm>
                <a:off x="2051321" y="3166262"/>
                <a:ext cx="109364" cy="10442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Равнобедренный треугольник 70"/>
              <p:cNvSpPr/>
              <p:nvPr/>
            </p:nvSpPr>
            <p:spPr>
              <a:xfrm>
                <a:off x="2051322" y="3270691"/>
                <a:ext cx="109364" cy="9314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66" name="Прямая соединительная линия 65"/>
            <p:cNvCxnSpPr/>
            <p:nvPr/>
          </p:nvCxnSpPr>
          <p:spPr>
            <a:xfrm flipH="1">
              <a:off x="2051720" y="3363838"/>
              <a:ext cx="15618" cy="30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/>
          </p:nvCxnSpPr>
          <p:spPr>
            <a:xfrm flipH="1">
              <a:off x="2090385" y="3363838"/>
              <a:ext cx="15618" cy="30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/>
          </p:nvCxnSpPr>
          <p:spPr>
            <a:xfrm flipH="1">
              <a:off x="2125674" y="3363838"/>
              <a:ext cx="15618" cy="303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Группа 71"/>
          <p:cNvGrpSpPr/>
          <p:nvPr/>
        </p:nvGrpSpPr>
        <p:grpSpPr>
          <a:xfrm>
            <a:off x="991006" y="4600820"/>
            <a:ext cx="1749015" cy="1488736"/>
            <a:chOff x="743253" y="3453085"/>
            <a:chExt cx="1311761" cy="1116552"/>
          </a:xfrm>
        </p:grpSpPr>
        <p:cxnSp>
          <p:nvCxnSpPr>
            <p:cNvPr id="73" name="Прямая со стрелкой 72"/>
            <p:cNvCxnSpPr>
              <a:stCxn id="70" idx="3"/>
            </p:cNvCxnSpPr>
            <p:nvPr/>
          </p:nvCxnSpPr>
          <p:spPr>
            <a:xfrm flipH="1">
              <a:off x="743253" y="3453085"/>
              <a:ext cx="1311761" cy="1116552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/>
            <p:cNvCxnSpPr/>
            <p:nvPr/>
          </p:nvCxnSpPr>
          <p:spPr>
            <a:xfrm>
              <a:off x="1074532" y="4286904"/>
              <a:ext cx="72008" cy="0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/>
            <p:cNvCxnSpPr/>
            <p:nvPr/>
          </p:nvCxnSpPr>
          <p:spPr>
            <a:xfrm>
              <a:off x="1156986" y="4233801"/>
              <a:ext cx="72008" cy="0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/>
            <p:cNvCxnSpPr/>
            <p:nvPr/>
          </p:nvCxnSpPr>
          <p:spPr>
            <a:xfrm>
              <a:off x="1205309" y="4189752"/>
              <a:ext cx="72008" cy="0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Группа 76"/>
          <p:cNvGrpSpPr/>
          <p:nvPr/>
        </p:nvGrpSpPr>
        <p:grpSpPr>
          <a:xfrm>
            <a:off x="2864485" y="4458017"/>
            <a:ext cx="2543012" cy="96867"/>
            <a:chOff x="2148362" y="3343514"/>
            <a:chExt cx="1907259" cy="72650"/>
          </a:xfrm>
        </p:grpSpPr>
        <p:cxnSp>
          <p:nvCxnSpPr>
            <p:cNvPr id="78" name="Прямая со стрелкой 77"/>
            <p:cNvCxnSpPr>
              <a:stCxn id="70" idx="6"/>
            </p:cNvCxnSpPr>
            <p:nvPr/>
          </p:nvCxnSpPr>
          <p:spPr>
            <a:xfrm flipV="1">
              <a:off x="2148362" y="3416163"/>
              <a:ext cx="1907259" cy="1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/>
            <p:nvPr/>
          </p:nvCxnSpPr>
          <p:spPr>
            <a:xfrm flipH="1">
              <a:off x="3627120" y="3343514"/>
              <a:ext cx="64770" cy="71458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/>
            <p:cNvCxnSpPr/>
            <p:nvPr/>
          </p:nvCxnSpPr>
          <p:spPr>
            <a:xfrm flipH="1">
              <a:off x="3691766" y="3343514"/>
              <a:ext cx="64770" cy="71458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/>
            <p:nvPr/>
          </p:nvCxnSpPr>
          <p:spPr>
            <a:xfrm flipH="1">
              <a:off x="3759334" y="3343514"/>
              <a:ext cx="64770" cy="71458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Группа 81"/>
          <p:cNvGrpSpPr/>
          <p:nvPr/>
        </p:nvGrpSpPr>
        <p:grpSpPr>
          <a:xfrm>
            <a:off x="2719372" y="1100295"/>
            <a:ext cx="90505" cy="3384971"/>
            <a:chOff x="2044719" y="825221"/>
            <a:chExt cx="67879" cy="2538728"/>
          </a:xfrm>
        </p:grpSpPr>
        <p:cxnSp>
          <p:nvCxnSpPr>
            <p:cNvPr id="83" name="Прямая со стрелкой 82"/>
            <p:cNvCxnSpPr>
              <a:stCxn id="70" idx="0"/>
            </p:cNvCxnSpPr>
            <p:nvPr/>
          </p:nvCxnSpPr>
          <p:spPr>
            <a:xfrm flipV="1">
              <a:off x="2093680" y="825221"/>
              <a:ext cx="11039" cy="2538728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/>
            <p:cNvCxnSpPr/>
            <p:nvPr/>
          </p:nvCxnSpPr>
          <p:spPr>
            <a:xfrm flipH="1">
              <a:off x="2048267" y="960877"/>
              <a:ext cx="60201" cy="74295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/>
            <p:cNvCxnSpPr/>
            <p:nvPr/>
          </p:nvCxnSpPr>
          <p:spPr>
            <a:xfrm flipH="1">
              <a:off x="2044719" y="1035172"/>
              <a:ext cx="60201" cy="74295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/>
            <p:cNvCxnSpPr/>
            <p:nvPr/>
          </p:nvCxnSpPr>
          <p:spPr>
            <a:xfrm flipH="1">
              <a:off x="2052397" y="1097280"/>
              <a:ext cx="60201" cy="74295"/>
            </a:xfrm>
            <a:prstGeom prst="line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Прямая со стрелкой 86"/>
          <p:cNvCxnSpPr/>
          <p:nvPr/>
        </p:nvCxnSpPr>
        <p:spPr>
          <a:xfrm>
            <a:off x="2817803" y="4623906"/>
            <a:ext cx="353468" cy="1135701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7"/>
          <p:cNvCxnSpPr>
            <a:stCxn id="70" idx="7"/>
          </p:cNvCxnSpPr>
          <p:nvPr/>
        </p:nvCxnSpPr>
        <p:spPr>
          <a:xfrm flipV="1">
            <a:off x="2843130" y="2874705"/>
            <a:ext cx="2337281" cy="1630953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/>
          <p:cNvCxnSpPr>
            <a:stCxn id="70" idx="1"/>
          </p:cNvCxnSpPr>
          <p:nvPr/>
        </p:nvCxnSpPr>
        <p:spPr>
          <a:xfrm flipH="1" flipV="1">
            <a:off x="537292" y="1929825"/>
            <a:ext cx="2202729" cy="2575833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/>
          <p:nvPr/>
        </p:nvCxnSpPr>
        <p:spPr>
          <a:xfrm flipH="1">
            <a:off x="2142552" y="4623907"/>
            <a:ext cx="623605" cy="192811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02391" y="5659147"/>
            <a:ext cx="462280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40935" y="857032"/>
            <a:ext cx="716628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z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380997" y="4403281"/>
            <a:ext cx="459939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O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740238" y="6161749"/>
            <a:ext cx="402316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128303" y="5353860"/>
            <a:ext cx="594360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039195" y="2546559"/>
            <a:ext cx="736600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81689" y="1627563"/>
            <a:ext cx="563880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Z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Дуга 97"/>
          <p:cNvSpPr/>
          <p:nvPr/>
        </p:nvSpPr>
        <p:spPr>
          <a:xfrm rot="10095727">
            <a:off x="2402399" y="4682463"/>
            <a:ext cx="362735" cy="376524"/>
          </a:xfrm>
          <a:prstGeom prst="arc">
            <a:avLst/>
          </a:prstGeom>
          <a:ln w="12700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99" name="Дуга 98"/>
          <p:cNvSpPr/>
          <p:nvPr/>
        </p:nvSpPr>
        <p:spPr>
          <a:xfrm rot="7589622">
            <a:off x="2490334" y="4651913"/>
            <a:ext cx="503133" cy="589080"/>
          </a:xfrm>
          <a:prstGeom prst="arc">
            <a:avLst/>
          </a:prstGeom>
          <a:ln w="12700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100" name="Дуга 99"/>
          <p:cNvSpPr/>
          <p:nvPr/>
        </p:nvSpPr>
        <p:spPr>
          <a:xfrm rot="17875190">
            <a:off x="2389102" y="3982440"/>
            <a:ext cx="556999" cy="553993"/>
          </a:xfrm>
          <a:prstGeom prst="arc">
            <a:avLst/>
          </a:prstGeom>
          <a:ln w="12700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101" name="Выгнутая влево стрелка 100"/>
          <p:cNvSpPr/>
          <p:nvPr/>
        </p:nvSpPr>
        <p:spPr>
          <a:xfrm rot="19028682">
            <a:off x="1119310" y="2639509"/>
            <a:ext cx="277805" cy="306539"/>
          </a:xfrm>
          <a:prstGeom prst="curvedRightArrow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Прямоугольник 101"/>
              <p:cNvSpPr/>
              <p:nvPr/>
            </p:nvSpPr>
            <p:spPr>
              <a:xfrm>
                <a:off x="1129181" y="2258444"/>
                <a:ext cx="644135" cy="410355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𝜑</m:t>
                      </m:r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" name="Прямоугольник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84" y="1693833"/>
                <a:ext cx="48310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Прямоугольник 102"/>
              <p:cNvSpPr/>
              <p:nvPr/>
            </p:nvSpPr>
            <p:spPr>
              <a:xfrm>
                <a:off x="2580023" y="5120296"/>
                <a:ext cx="467192" cy="410355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Прямоугольник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016" y="3840222"/>
                <a:ext cx="39465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Прямоугольник 103"/>
              <p:cNvSpPr/>
              <p:nvPr/>
            </p:nvSpPr>
            <p:spPr>
              <a:xfrm>
                <a:off x="2022071" y="5016081"/>
                <a:ext cx="471980" cy="410355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4" name="Прямоугольник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553" y="3762061"/>
                <a:ext cx="399468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Прямоугольник 104"/>
              <p:cNvSpPr/>
              <p:nvPr/>
            </p:nvSpPr>
            <p:spPr>
              <a:xfrm>
                <a:off x="2969737" y="1380229"/>
                <a:ext cx="471980" cy="410355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5" name="Прямоугольник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302" y="1035172"/>
                <a:ext cx="39946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Выгнутая влево стрелка 105"/>
          <p:cNvSpPr/>
          <p:nvPr/>
        </p:nvSpPr>
        <p:spPr>
          <a:xfrm>
            <a:off x="2669846" y="1873786"/>
            <a:ext cx="316735" cy="310039"/>
          </a:xfrm>
          <a:prstGeom prst="curvedRightArrow">
            <a:avLst/>
          </a:prstGeom>
          <a:solidFill>
            <a:srgbClr val="00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Прямоугольник 106"/>
              <p:cNvSpPr/>
              <p:nvPr/>
            </p:nvSpPr>
            <p:spPr>
              <a:xfrm>
                <a:off x="2288382" y="3510020"/>
                <a:ext cx="554745" cy="410355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6600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7" name="Прямоугольник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286" y="2632515"/>
                <a:ext cx="416059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Прямоугольник 107"/>
              <p:cNvSpPr/>
              <p:nvPr/>
            </p:nvSpPr>
            <p:spPr>
              <a:xfrm>
                <a:off x="2509371" y="5680961"/>
                <a:ext cx="441288" cy="410355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6600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8" name="Прямоугольник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028" y="4260721"/>
                <a:ext cx="374140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Выгнутая вниз стрелка 108"/>
          <p:cNvSpPr/>
          <p:nvPr/>
        </p:nvSpPr>
        <p:spPr>
          <a:xfrm>
            <a:off x="2146059" y="5824376"/>
            <a:ext cx="430283" cy="237265"/>
          </a:xfrm>
          <a:prstGeom prst="curvedUpArrow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78394" y="1150465"/>
            <a:ext cx="6175932" cy="1107979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Сферическим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называется такое движение твердого тела, при котором во все время движения одна и та же точка твердого тела остается неподвижной. Остальные точки движутся по сферическим поверхностям, центры которых совпадают с неподвижной точкой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524711" y="2258444"/>
            <a:ext cx="6342879" cy="615537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Число степеней свободы твердого тела при сферическом движении равно трем.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2868" y="2954398"/>
            <a:ext cx="1707449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Углы Эйлера</a:t>
            </a:r>
          </a:p>
        </p:txBody>
      </p:sp>
      <p:sp>
        <p:nvSpPr>
          <p:cNvPr id="113" name="Прямоугольник 112"/>
          <p:cNvSpPr/>
          <p:nvPr/>
        </p:nvSpPr>
        <p:spPr>
          <a:xfrm>
            <a:off x="5869589" y="3364753"/>
            <a:ext cx="3781255" cy="369316"/>
          </a:xfrm>
          <a:prstGeom prst="rect">
            <a:avLst/>
          </a:prstGeom>
        </p:spPr>
        <p:txBody>
          <a:bodyPr wrap="none" lIns="121902" tIns="60952" rIns="121902" bIns="60952">
            <a:spAutoFit/>
          </a:bodyPr>
          <a:lstStyle/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Oxyz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– неподвижная система координат.</a:t>
            </a:r>
          </a:p>
        </p:txBody>
      </p:sp>
      <p:sp>
        <p:nvSpPr>
          <p:cNvPr id="114" name="Прямоугольник 113"/>
          <p:cNvSpPr/>
          <p:nvPr/>
        </p:nvSpPr>
        <p:spPr>
          <a:xfrm>
            <a:off x="5868071" y="3653649"/>
            <a:ext cx="6096000" cy="369316"/>
          </a:xfrm>
          <a:prstGeom prst="rect">
            <a:avLst/>
          </a:prstGeom>
        </p:spPr>
        <p:txBody>
          <a:bodyPr lIns="121902" tIns="60952" rIns="121902" bIns="60952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OXYZ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– подвижная система координат, жестко связанная с телом.</a:t>
            </a:r>
          </a:p>
        </p:txBody>
      </p:sp>
      <p:sp>
        <p:nvSpPr>
          <p:cNvPr id="115" name="Прямоугольник 114"/>
          <p:cNvSpPr/>
          <p:nvPr/>
        </p:nvSpPr>
        <p:spPr>
          <a:xfrm>
            <a:off x="5869592" y="4011162"/>
            <a:ext cx="6096000" cy="369316"/>
          </a:xfrm>
          <a:prstGeom prst="rect">
            <a:avLst/>
          </a:prstGeom>
        </p:spPr>
        <p:txBody>
          <a:bodyPr lIns="121902" tIns="60952" rIns="121902" bIns="60952">
            <a:spAutoFit/>
          </a:bodyPr>
          <a:lstStyle/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ОК – линия узлов, линия пересечения плоскостей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Oxy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OXY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Прямоугольник 115"/>
              <p:cNvSpPr/>
              <p:nvPr/>
            </p:nvSpPr>
            <p:spPr>
              <a:xfrm>
                <a:off x="6909766" y="4419326"/>
                <a:ext cx="2001794" cy="369316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600" i="1">
                        <a:latin typeface="Cambria Math"/>
                      </a:rPr>
                      <m:t>𝜓</m:t>
                    </m:r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– угол прецессии </a:t>
                </a:r>
              </a:p>
            </p:txBody>
          </p:sp>
        </mc:Choice>
        <mc:Fallback xmlns="">
          <p:sp>
            <p:nvSpPr>
              <p:cNvPr id="116" name="Прямоугольник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66" y="4419326"/>
                <a:ext cx="2001794" cy="369316"/>
              </a:xfrm>
              <a:prstGeom prst="rect">
                <a:avLst/>
              </a:prstGeom>
              <a:blipFill rotWithShape="1">
                <a:blip r:embed="rId9"/>
                <a:stretch>
                  <a:fillRect t="-1639"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Прямоугольник 116"/>
              <p:cNvSpPr/>
              <p:nvPr/>
            </p:nvSpPr>
            <p:spPr>
              <a:xfrm>
                <a:off x="6892987" y="4718231"/>
                <a:ext cx="3110623" cy="369316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600" i="1">
                        <a:latin typeface="Cambria Math"/>
                      </a:rPr>
                      <m:t>𝜑</m:t>
                    </m:r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– угол собственного вращения</a:t>
                </a:r>
              </a:p>
            </p:txBody>
          </p:sp>
        </mc:Choice>
        <mc:Fallback xmlns="">
          <p:sp>
            <p:nvSpPr>
              <p:cNvPr id="117" name="Прямоугольник 1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987" y="4718231"/>
                <a:ext cx="3110623" cy="369316"/>
              </a:xfrm>
              <a:prstGeom prst="rect">
                <a:avLst/>
              </a:prstGeom>
              <a:blipFill rotWithShape="1">
                <a:blip r:embed="rId10"/>
                <a:stretch>
                  <a:fillRect t="-1639"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Прямоугольник 117"/>
              <p:cNvSpPr/>
              <p:nvPr/>
            </p:nvSpPr>
            <p:spPr>
              <a:xfrm>
                <a:off x="6941923" y="5050686"/>
                <a:ext cx="1788980" cy="369316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600" i="1">
                        <a:latin typeface="Cambria Math"/>
                      </a:rPr>
                      <m:t>𝜃</m:t>
                    </m:r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– угол нутации </a:t>
                </a:r>
              </a:p>
            </p:txBody>
          </p:sp>
        </mc:Choice>
        <mc:Fallback xmlns="">
          <p:sp>
            <p:nvSpPr>
              <p:cNvPr id="118" name="Прямоугольник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923" y="5050686"/>
                <a:ext cx="1788980" cy="369316"/>
              </a:xfrm>
              <a:prstGeom prst="rect">
                <a:avLst/>
              </a:prstGeom>
              <a:blipFill rotWithShape="1">
                <a:blip r:embed="rId11"/>
                <a:stretch>
                  <a:fillRect t="-1667" b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Прямоугольник 119"/>
              <p:cNvSpPr/>
              <p:nvPr/>
            </p:nvSpPr>
            <p:spPr>
              <a:xfrm>
                <a:off x="5478394" y="5923917"/>
                <a:ext cx="3305292" cy="4000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121902" tIns="60952" rIns="121902" bIns="60952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𝜓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𝜓</m:t>
                    </m:r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𝜑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𝜑</m:t>
                    </m:r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𝑡</m:t>
                    </m:r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;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𝜃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𝜃</m:t>
                    </m:r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𝑡</m:t>
                    </m:r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0" name="Прямоугольник 1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94" y="5923917"/>
                <a:ext cx="3305292" cy="400093"/>
              </a:xfrm>
              <a:prstGeom prst="rect">
                <a:avLst/>
              </a:prstGeom>
              <a:blipFill rotWithShape="1">
                <a:blip r:embed="rId12"/>
                <a:stretch>
                  <a:fillRect t="-4615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/>
          <p:cNvSpPr txBox="1"/>
          <p:nvPr/>
        </p:nvSpPr>
        <p:spPr>
          <a:xfrm>
            <a:off x="4668027" y="5485042"/>
            <a:ext cx="7120811" cy="369316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Уравнения вращения твердого тела вокруг неподвижной точки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80387" y="4378804"/>
            <a:ext cx="395408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18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91" grpId="0"/>
      <p:bldP spid="92" grpId="0"/>
      <p:bldP spid="94" grpId="0"/>
      <p:bldP spid="95" grpId="0"/>
      <p:bldP spid="96" grpId="0"/>
      <p:bldP spid="97" grpId="0"/>
      <p:bldP spid="98" grpId="0" animBg="1"/>
      <p:bldP spid="99" grpId="0" animBg="1"/>
      <p:bldP spid="100" grpId="0" animBg="1"/>
      <p:bldP spid="101" grpId="0" animBg="1"/>
      <p:bldP spid="102" grpId="0"/>
      <p:bldP spid="103" grpId="0"/>
      <p:bldP spid="104" grpId="0"/>
      <p:bldP spid="105" grpId="0"/>
      <p:bldP spid="106" grpId="0" animBg="1"/>
      <p:bldP spid="107" grpId="0"/>
      <p:bldP spid="108" grpId="0"/>
      <p:bldP spid="109" grpId="0" animBg="1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20" grpId="0"/>
      <p:bldP spid="121" grpId="0"/>
      <p:bldP spid="1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grpSp>
        <p:nvGrpSpPr>
          <p:cNvPr id="7" name="Группа 6"/>
          <p:cNvGrpSpPr/>
          <p:nvPr/>
        </p:nvGrpSpPr>
        <p:grpSpPr>
          <a:xfrm>
            <a:off x="1167333" y="1275899"/>
            <a:ext cx="2946400" cy="3003975"/>
            <a:chOff x="1118400" y="1299845"/>
            <a:chExt cx="2209800" cy="2252981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grpSpPr>
        <p:sp>
          <p:nvSpPr>
            <p:cNvPr id="8" name="Oval 51"/>
            <p:cNvSpPr>
              <a:spLocks noChangeArrowheads="1"/>
            </p:cNvSpPr>
            <p:nvPr/>
          </p:nvSpPr>
          <p:spPr bwMode="auto">
            <a:xfrm>
              <a:off x="1118400" y="1343026"/>
              <a:ext cx="2209800" cy="2209800"/>
            </a:xfrm>
            <a:prstGeom prst="ellipse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" name="Line 85"/>
            <p:cNvSpPr>
              <a:spLocks noChangeShapeType="1"/>
            </p:cNvSpPr>
            <p:nvPr/>
          </p:nvSpPr>
          <p:spPr bwMode="auto">
            <a:xfrm flipV="1">
              <a:off x="2061369" y="1299845"/>
              <a:ext cx="384175" cy="212725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ru-RU"/>
            </a:p>
          </p:txBody>
        </p:sp>
        <p:grpSp>
          <p:nvGrpSpPr>
            <p:cNvPr id="10" name="Group 102"/>
            <p:cNvGrpSpPr>
              <a:grpSpLocks/>
            </p:cNvGrpSpPr>
            <p:nvPr/>
          </p:nvGrpSpPr>
          <p:grpSpPr bwMode="auto">
            <a:xfrm rot="2967188">
              <a:off x="1212023" y="2252345"/>
              <a:ext cx="617538" cy="441325"/>
              <a:chOff x="962" y="2935"/>
              <a:chExt cx="389" cy="278"/>
            </a:xfrm>
            <a:grpFill/>
          </p:grpSpPr>
          <p:sp>
            <p:nvSpPr>
              <p:cNvPr id="16" name="Arc 99"/>
              <p:cNvSpPr>
                <a:spLocks/>
              </p:cNvSpPr>
              <p:nvPr/>
            </p:nvSpPr>
            <p:spPr bwMode="auto">
              <a:xfrm rot="4548942" flipV="1">
                <a:off x="1011" y="2934"/>
                <a:ext cx="278" cy="27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grpFill/>
              <a:ln w="158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7" name="Oval 100"/>
              <p:cNvSpPr>
                <a:spLocks noChangeArrowheads="1"/>
              </p:cNvSpPr>
              <p:nvPr/>
            </p:nvSpPr>
            <p:spPr bwMode="auto">
              <a:xfrm>
                <a:off x="1313" y="3151"/>
                <a:ext cx="38" cy="3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8" name="Oval 101"/>
              <p:cNvSpPr>
                <a:spLocks noChangeArrowheads="1"/>
              </p:cNvSpPr>
              <p:nvPr/>
            </p:nvSpPr>
            <p:spPr bwMode="auto">
              <a:xfrm>
                <a:off x="962" y="2954"/>
                <a:ext cx="38" cy="3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grpSp>
          <p:nvGrpSpPr>
            <p:cNvPr id="11" name="Group 106"/>
            <p:cNvGrpSpPr>
              <a:grpSpLocks/>
            </p:cNvGrpSpPr>
            <p:nvPr/>
          </p:nvGrpSpPr>
          <p:grpSpPr bwMode="auto">
            <a:xfrm rot="18726626">
              <a:off x="2516945" y="2568732"/>
              <a:ext cx="730250" cy="427038"/>
              <a:chOff x="1396" y="3215"/>
              <a:chExt cx="460" cy="269"/>
            </a:xfrm>
            <a:grpFill/>
          </p:grpSpPr>
          <p:sp>
            <p:nvSpPr>
              <p:cNvPr id="12" name="Arc 104"/>
              <p:cNvSpPr>
                <a:spLocks/>
              </p:cNvSpPr>
              <p:nvPr/>
            </p:nvSpPr>
            <p:spPr bwMode="auto">
              <a:xfrm rot="1560952" flipV="1">
                <a:off x="1450" y="3215"/>
                <a:ext cx="342" cy="26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grpFill/>
              <a:ln w="158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4" name="Oval 105"/>
              <p:cNvSpPr>
                <a:spLocks noChangeArrowheads="1"/>
              </p:cNvSpPr>
              <p:nvPr/>
            </p:nvSpPr>
            <p:spPr bwMode="auto">
              <a:xfrm>
                <a:off x="1396" y="3373"/>
                <a:ext cx="38" cy="3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5" name="Oval 66"/>
              <p:cNvSpPr>
                <a:spLocks noChangeArrowheads="1"/>
              </p:cNvSpPr>
              <p:nvPr/>
            </p:nvSpPr>
            <p:spPr bwMode="auto">
              <a:xfrm>
                <a:off x="1818" y="3279"/>
                <a:ext cx="38" cy="3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</p:grpSp>
      <p:grpSp>
        <p:nvGrpSpPr>
          <p:cNvPr id="21" name="Group 74"/>
          <p:cNvGrpSpPr>
            <a:grpSpLocks/>
          </p:cNvGrpSpPr>
          <p:nvPr/>
        </p:nvGrpSpPr>
        <p:grpSpPr bwMode="auto">
          <a:xfrm>
            <a:off x="2463794" y="2840117"/>
            <a:ext cx="353484" cy="241300"/>
            <a:chOff x="2031" y="2831"/>
            <a:chExt cx="167" cy="114"/>
          </a:xfrm>
        </p:grpSpPr>
        <p:sp>
          <p:nvSpPr>
            <p:cNvPr id="22" name="AutoShape 54"/>
            <p:cNvSpPr>
              <a:spLocks noChangeArrowheads="1"/>
            </p:cNvSpPr>
            <p:nvPr/>
          </p:nvSpPr>
          <p:spPr bwMode="auto">
            <a:xfrm>
              <a:off x="2031" y="2863"/>
              <a:ext cx="167" cy="82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3" name="Oval 55"/>
            <p:cNvSpPr>
              <a:spLocks noChangeArrowheads="1"/>
            </p:cNvSpPr>
            <p:nvPr/>
          </p:nvSpPr>
          <p:spPr bwMode="auto">
            <a:xfrm>
              <a:off x="2081" y="2831"/>
              <a:ext cx="66" cy="6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4" name="Line 57"/>
            <p:cNvSpPr>
              <a:spLocks noChangeShapeType="1"/>
            </p:cNvSpPr>
            <p:nvPr/>
          </p:nvSpPr>
          <p:spPr bwMode="auto">
            <a:xfrm>
              <a:off x="2031" y="2945"/>
              <a:ext cx="1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" name="Полилиния 24"/>
          <p:cNvSpPr/>
          <p:nvPr/>
        </p:nvSpPr>
        <p:spPr>
          <a:xfrm>
            <a:off x="1635956" y="2438372"/>
            <a:ext cx="1630680" cy="1188720"/>
          </a:xfrm>
          <a:custGeom>
            <a:avLst/>
            <a:gdLst>
              <a:gd name="connsiteX0" fmla="*/ 0 w 1223010"/>
              <a:gd name="connsiteY0" fmla="*/ 0 h 891540"/>
              <a:gd name="connsiteX1" fmla="*/ 194310 w 1223010"/>
              <a:gd name="connsiteY1" fmla="*/ 350520 h 891540"/>
              <a:gd name="connsiteX2" fmla="*/ 411480 w 1223010"/>
              <a:gd name="connsiteY2" fmla="*/ 571500 h 891540"/>
              <a:gd name="connsiteX3" fmla="*/ 681990 w 1223010"/>
              <a:gd name="connsiteY3" fmla="*/ 727710 h 891540"/>
              <a:gd name="connsiteX4" fmla="*/ 990600 w 1223010"/>
              <a:gd name="connsiteY4" fmla="*/ 834390 h 891540"/>
              <a:gd name="connsiteX5" fmla="*/ 1223010 w 1223010"/>
              <a:gd name="connsiteY5" fmla="*/ 891540 h 891540"/>
              <a:gd name="connsiteX6" fmla="*/ 1223010 w 1223010"/>
              <a:gd name="connsiteY6" fmla="*/ 891540 h 89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3010" h="891540">
                <a:moveTo>
                  <a:pt x="0" y="0"/>
                </a:moveTo>
                <a:cubicBezTo>
                  <a:pt x="62865" y="127635"/>
                  <a:pt x="125730" y="255270"/>
                  <a:pt x="194310" y="350520"/>
                </a:cubicBezTo>
                <a:cubicBezTo>
                  <a:pt x="262890" y="445770"/>
                  <a:pt x="330200" y="508635"/>
                  <a:pt x="411480" y="571500"/>
                </a:cubicBezTo>
                <a:cubicBezTo>
                  <a:pt x="492760" y="634365"/>
                  <a:pt x="585470" y="683895"/>
                  <a:pt x="681990" y="727710"/>
                </a:cubicBezTo>
                <a:cubicBezTo>
                  <a:pt x="778510" y="771525"/>
                  <a:pt x="900430" y="807085"/>
                  <a:pt x="990600" y="834390"/>
                </a:cubicBezTo>
                <a:cubicBezTo>
                  <a:pt x="1080770" y="861695"/>
                  <a:pt x="1223010" y="891540"/>
                  <a:pt x="1223010" y="891540"/>
                </a:cubicBezTo>
                <a:lnTo>
                  <a:pt x="1223010" y="891540"/>
                </a:lnTo>
              </a:path>
            </a:pathLst>
          </a:cu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26" name="Полилиния 25"/>
          <p:cNvSpPr/>
          <p:nvPr/>
        </p:nvSpPr>
        <p:spPr>
          <a:xfrm>
            <a:off x="1789875" y="2871354"/>
            <a:ext cx="1940560" cy="484293"/>
          </a:xfrm>
          <a:custGeom>
            <a:avLst/>
            <a:gdLst>
              <a:gd name="connsiteX0" fmla="*/ 0 w 1455420"/>
              <a:gd name="connsiteY0" fmla="*/ 289560 h 363220"/>
              <a:gd name="connsiteX1" fmla="*/ 171450 w 1455420"/>
              <a:gd name="connsiteY1" fmla="*/ 335280 h 363220"/>
              <a:gd name="connsiteX2" fmla="*/ 350520 w 1455420"/>
              <a:gd name="connsiteY2" fmla="*/ 361950 h 363220"/>
              <a:gd name="connsiteX3" fmla="*/ 617220 w 1455420"/>
              <a:gd name="connsiteY3" fmla="*/ 342900 h 363220"/>
              <a:gd name="connsiteX4" fmla="*/ 1093470 w 1455420"/>
              <a:gd name="connsiteY4" fmla="*/ 209550 h 363220"/>
              <a:gd name="connsiteX5" fmla="*/ 1455420 w 1455420"/>
              <a:gd name="connsiteY5" fmla="*/ 0 h 363220"/>
              <a:gd name="connsiteX6" fmla="*/ 1455420 w 1455420"/>
              <a:gd name="connsiteY6" fmla="*/ 0 h 36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5420" h="363220">
                <a:moveTo>
                  <a:pt x="0" y="289560"/>
                </a:moveTo>
                <a:cubicBezTo>
                  <a:pt x="56515" y="306387"/>
                  <a:pt x="113030" y="323215"/>
                  <a:pt x="171450" y="335280"/>
                </a:cubicBezTo>
                <a:cubicBezTo>
                  <a:pt x="229870" y="347345"/>
                  <a:pt x="276225" y="360680"/>
                  <a:pt x="350520" y="361950"/>
                </a:cubicBezTo>
                <a:cubicBezTo>
                  <a:pt x="424815" y="363220"/>
                  <a:pt x="493395" y="368300"/>
                  <a:pt x="617220" y="342900"/>
                </a:cubicBezTo>
                <a:cubicBezTo>
                  <a:pt x="741045" y="317500"/>
                  <a:pt x="953770" y="266700"/>
                  <a:pt x="1093470" y="209550"/>
                </a:cubicBezTo>
                <a:cubicBezTo>
                  <a:pt x="1233170" y="152400"/>
                  <a:pt x="1455420" y="0"/>
                  <a:pt x="1455420" y="0"/>
                </a:cubicBezTo>
                <a:lnTo>
                  <a:pt x="1455420" y="0"/>
                </a:lnTo>
              </a:path>
            </a:pathLst>
          </a:custGeom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2204917" y="3203083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2936435" y="3203083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29" name="Полилиния 28"/>
          <p:cNvSpPr/>
          <p:nvPr/>
        </p:nvSpPr>
        <p:spPr>
          <a:xfrm>
            <a:off x="2220335" y="1872798"/>
            <a:ext cx="567299" cy="1324983"/>
          </a:xfrm>
          <a:custGeom>
            <a:avLst/>
            <a:gdLst>
              <a:gd name="connsiteX0" fmla="*/ 422775 w 422775"/>
              <a:gd name="connsiteY0" fmla="*/ 0 h 1012075"/>
              <a:gd name="connsiteX1" fmla="*/ 288155 w 422775"/>
              <a:gd name="connsiteY1" fmla="*/ 172720 h 1012075"/>
              <a:gd name="connsiteX2" fmla="*/ 156075 w 422775"/>
              <a:gd name="connsiteY2" fmla="*/ 414020 h 1012075"/>
              <a:gd name="connsiteX3" fmla="*/ 84955 w 422775"/>
              <a:gd name="connsiteY3" fmla="*/ 612140 h 1012075"/>
              <a:gd name="connsiteX4" fmla="*/ 31615 w 422775"/>
              <a:gd name="connsiteY4" fmla="*/ 805180 h 1012075"/>
              <a:gd name="connsiteX5" fmla="*/ 3675 w 422775"/>
              <a:gd name="connsiteY5" fmla="*/ 993140 h 1012075"/>
              <a:gd name="connsiteX6" fmla="*/ 1135 w 422775"/>
              <a:gd name="connsiteY6" fmla="*/ 995680 h 101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775" h="1012075">
                <a:moveTo>
                  <a:pt x="422775" y="0"/>
                </a:moveTo>
                <a:cubicBezTo>
                  <a:pt x="377690" y="51858"/>
                  <a:pt x="332605" y="103717"/>
                  <a:pt x="288155" y="172720"/>
                </a:cubicBezTo>
                <a:cubicBezTo>
                  <a:pt x="243705" y="241723"/>
                  <a:pt x="189942" y="340783"/>
                  <a:pt x="156075" y="414020"/>
                </a:cubicBezTo>
                <a:cubicBezTo>
                  <a:pt x="122208" y="487257"/>
                  <a:pt x="105698" y="546947"/>
                  <a:pt x="84955" y="612140"/>
                </a:cubicBezTo>
                <a:cubicBezTo>
                  <a:pt x="64212" y="677333"/>
                  <a:pt x="45162" y="741680"/>
                  <a:pt x="31615" y="805180"/>
                </a:cubicBezTo>
                <a:cubicBezTo>
                  <a:pt x="18068" y="868680"/>
                  <a:pt x="8755" y="961390"/>
                  <a:pt x="3675" y="993140"/>
                </a:cubicBezTo>
                <a:cubicBezTo>
                  <a:pt x="-1405" y="1024890"/>
                  <a:pt x="-135" y="1010285"/>
                  <a:pt x="1135" y="995680"/>
                </a:cubicBezTo>
              </a:path>
            </a:pathLst>
          </a:cu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30" name="Полилиния 29"/>
          <p:cNvSpPr/>
          <p:nvPr/>
        </p:nvSpPr>
        <p:spPr>
          <a:xfrm>
            <a:off x="2828115" y="1833234"/>
            <a:ext cx="217951" cy="1421249"/>
          </a:xfrm>
          <a:custGeom>
            <a:avLst/>
            <a:gdLst>
              <a:gd name="connsiteX0" fmla="*/ 0 w 163463"/>
              <a:gd name="connsiteY0" fmla="*/ 0 h 1065937"/>
              <a:gd name="connsiteX1" fmla="*/ 66040 w 163463"/>
              <a:gd name="connsiteY1" fmla="*/ 152400 h 1065937"/>
              <a:gd name="connsiteX2" fmla="*/ 119380 w 163463"/>
              <a:gd name="connsiteY2" fmla="*/ 347980 h 1065937"/>
              <a:gd name="connsiteX3" fmla="*/ 162560 w 163463"/>
              <a:gd name="connsiteY3" fmla="*/ 665480 h 1065937"/>
              <a:gd name="connsiteX4" fmla="*/ 144780 w 163463"/>
              <a:gd name="connsiteY4" fmla="*/ 914400 h 1065937"/>
              <a:gd name="connsiteX5" fmla="*/ 99060 w 163463"/>
              <a:gd name="connsiteY5" fmla="*/ 1059180 h 1065937"/>
              <a:gd name="connsiteX6" fmla="*/ 86360 w 163463"/>
              <a:gd name="connsiteY6" fmla="*/ 1028700 h 106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463" h="1065937">
                <a:moveTo>
                  <a:pt x="0" y="0"/>
                </a:moveTo>
                <a:cubicBezTo>
                  <a:pt x="23071" y="47201"/>
                  <a:pt x="46143" y="94403"/>
                  <a:pt x="66040" y="152400"/>
                </a:cubicBezTo>
                <a:cubicBezTo>
                  <a:pt x="85937" y="210397"/>
                  <a:pt x="103293" y="262467"/>
                  <a:pt x="119380" y="347980"/>
                </a:cubicBezTo>
                <a:cubicBezTo>
                  <a:pt x="135467" y="433493"/>
                  <a:pt x="158327" y="571077"/>
                  <a:pt x="162560" y="665480"/>
                </a:cubicBezTo>
                <a:cubicBezTo>
                  <a:pt x="166793" y="759883"/>
                  <a:pt x="155363" y="848783"/>
                  <a:pt x="144780" y="914400"/>
                </a:cubicBezTo>
                <a:cubicBezTo>
                  <a:pt x="134197" y="980017"/>
                  <a:pt x="108797" y="1040130"/>
                  <a:pt x="99060" y="1059180"/>
                </a:cubicBezTo>
                <a:cubicBezTo>
                  <a:pt x="89323" y="1078230"/>
                  <a:pt x="87841" y="1053465"/>
                  <a:pt x="86360" y="1028700"/>
                </a:cubicBezTo>
              </a:path>
            </a:pathLst>
          </a:cu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31" name="Полилиния 30"/>
          <p:cNvSpPr/>
          <p:nvPr/>
        </p:nvSpPr>
        <p:spPr>
          <a:xfrm>
            <a:off x="1639344" y="1855863"/>
            <a:ext cx="1189564" cy="524935"/>
          </a:xfrm>
          <a:custGeom>
            <a:avLst/>
            <a:gdLst>
              <a:gd name="connsiteX0" fmla="*/ 0 w 901316"/>
              <a:gd name="connsiteY0" fmla="*/ 404085 h 404085"/>
              <a:gd name="connsiteX1" fmla="*/ 165100 w 901316"/>
              <a:gd name="connsiteY1" fmla="*/ 246605 h 404085"/>
              <a:gd name="connsiteX2" fmla="*/ 363220 w 901316"/>
              <a:gd name="connsiteY2" fmla="*/ 122145 h 404085"/>
              <a:gd name="connsiteX3" fmla="*/ 551180 w 901316"/>
              <a:gd name="connsiteY3" fmla="*/ 43405 h 404085"/>
              <a:gd name="connsiteX4" fmla="*/ 779780 w 901316"/>
              <a:gd name="connsiteY4" fmla="*/ 7845 h 404085"/>
              <a:gd name="connsiteX5" fmla="*/ 889000 w 901316"/>
              <a:gd name="connsiteY5" fmla="*/ 225 h 404085"/>
              <a:gd name="connsiteX6" fmla="*/ 894080 w 901316"/>
              <a:gd name="connsiteY6" fmla="*/ 2765 h 404085"/>
              <a:gd name="connsiteX0" fmla="*/ 0 w 901316"/>
              <a:gd name="connsiteY0" fmla="*/ 404085 h 404085"/>
              <a:gd name="connsiteX1" fmla="*/ 165100 w 901316"/>
              <a:gd name="connsiteY1" fmla="*/ 246605 h 404085"/>
              <a:gd name="connsiteX2" fmla="*/ 363220 w 901316"/>
              <a:gd name="connsiteY2" fmla="*/ 122145 h 404085"/>
              <a:gd name="connsiteX3" fmla="*/ 581923 w 901316"/>
              <a:gd name="connsiteY3" fmla="*/ 38675 h 404085"/>
              <a:gd name="connsiteX4" fmla="*/ 779780 w 901316"/>
              <a:gd name="connsiteY4" fmla="*/ 7845 h 404085"/>
              <a:gd name="connsiteX5" fmla="*/ 889000 w 901316"/>
              <a:gd name="connsiteY5" fmla="*/ 225 h 404085"/>
              <a:gd name="connsiteX6" fmla="*/ 894080 w 901316"/>
              <a:gd name="connsiteY6" fmla="*/ 2765 h 404085"/>
              <a:gd name="connsiteX0" fmla="*/ 0 w 901316"/>
              <a:gd name="connsiteY0" fmla="*/ 404085 h 404085"/>
              <a:gd name="connsiteX1" fmla="*/ 165100 w 901316"/>
              <a:gd name="connsiteY1" fmla="*/ 246605 h 404085"/>
              <a:gd name="connsiteX2" fmla="*/ 363220 w 901316"/>
              <a:gd name="connsiteY2" fmla="*/ 122145 h 404085"/>
              <a:gd name="connsiteX3" fmla="*/ 581923 w 901316"/>
              <a:gd name="connsiteY3" fmla="*/ 38675 h 404085"/>
              <a:gd name="connsiteX4" fmla="*/ 779780 w 901316"/>
              <a:gd name="connsiteY4" fmla="*/ 7845 h 404085"/>
              <a:gd name="connsiteX5" fmla="*/ 889000 w 901316"/>
              <a:gd name="connsiteY5" fmla="*/ 225 h 404085"/>
              <a:gd name="connsiteX6" fmla="*/ 894080 w 901316"/>
              <a:gd name="connsiteY6" fmla="*/ 2765 h 404085"/>
              <a:gd name="connsiteX0" fmla="*/ 0 w 901316"/>
              <a:gd name="connsiteY0" fmla="*/ 406131 h 406131"/>
              <a:gd name="connsiteX1" fmla="*/ 165100 w 901316"/>
              <a:gd name="connsiteY1" fmla="*/ 248651 h 406131"/>
              <a:gd name="connsiteX2" fmla="*/ 363220 w 901316"/>
              <a:gd name="connsiteY2" fmla="*/ 124191 h 406131"/>
              <a:gd name="connsiteX3" fmla="*/ 581923 w 901316"/>
              <a:gd name="connsiteY3" fmla="*/ 40721 h 406131"/>
              <a:gd name="connsiteX4" fmla="*/ 775051 w 901316"/>
              <a:gd name="connsiteY4" fmla="*/ 2796 h 406131"/>
              <a:gd name="connsiteX5" fmla="*/ 889000 w 901316"/>
              <a:gd name="connsiteY5" fmla="*/ 2271 h 406131"/>
              <a:gd name="connsiteX6" fmla="*/ 894080 w 901316"/>
              <a:gd name="connsiteY6" fmla="*/ 4811 h 406131"/>
              <a:gd name="connsiteX0" fmla="*/ 0 w 901316"/>
              <a:gd name="connsiteY0" fmla="*/ 406131 h 406131"/>
              <a:gd name="connsiteX1" fmla="*/ 165100 w 901316"/>
              <a:gd name="connsiteY1" fmla="*/ 248651 h 406131"/>
              <a:gd name="connsiteX2" fmla="*/ 363220 w 901316"/>
              <a:gd name="connsiteY2" fmla="*/ 124191 h 406131"/>
              <a:gd name="connsiteX3" fmla="*/ 581923 w 901316"/>
              <a:gd name="connsiteY3" fmla="*/ 40721 h 406131"/>
              <a:gd name="connsiteX4" fmla="*/ 775051 w 901316"/>
              <a:gd name="connsiteY4" fmla="*/ 2796 h 406131"/>
              <a:gd name="connsiteX5" fmla="*/ 889000 w 901316"/>
              <a:gd name="connsiteY5" fmla="*/ 2271 h 406131"/>
              <a:gd name="connsiteX6" fmla="*/ 894080 w 901316"/>
              <a:gd name="connsiteY6" fmla="*/ 4811 h 40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1316" h="406131">
                <a:moveTo>
                  <a:pt x="0" y="406131"/>
                </a:moveTo>
                <a:cubicBezTo>
                  <a:pt x="52281" y="350886"/>
                  <a:pt x="104563" y="295641"/>
                  <a:pt x="165100" y="248651"/>
                </a:cubicBezTo>
                <a:cubicBezTo>
                  <a:pt x="225637" y="201661"/>
                  <a:pt x="293750" y="158846"/>
                  <a:pt x="363220" y="124191"/>
                </a:cubicBezTo>
                <a:cubicBezTo>
                  <a:pt x="432690" y="89536"/>
                  <a:pt x="513284" y="60954"/>
                  <a:pt x="581923" y="40721"/>
                </a:cubicBezTo>
                <a:cubicBezTo>
                  <a:pt x="650562" y="20488"/>
                  <a:pt x="716778" y="9204"/>
                  <a:pt x="775051" y="2796"/>
                </a:cubicBezTo>
                <a:cubicBezTo>
                  <a:pt x="833324" y="-3612"/>
                  <a:pt x="869950" y="3118"/>
                  <a:pt x="889000" y="2271"/>
                </a:cubicBezTo>
                <a:cubicBezTo>
                  <a:pt x="908050" y="1424"/>
                  <a:pt x="901065" y="3117"/>
                  <a:pt x="894080" y="4811"/>
                </a:cubicBezTo>
              </a:path>
            </a:pathLst>
          </a:cu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32" name="Полилиния 31"/>
          <p:cNvSpPr/>
          <p:nvPr/>
        </p:nvSpPr>
        <p:spPr>
          <a:xfrm>
            <a:off x="1801901" y="1855864"/>
            <a:ext cx="1019387" cy="1371600"/>
          </a:xfrm>
          <a:custGeom>
            <a:avLst/>
            <a:gdLst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0820 w 764540"/>
              <a:gd name="connsiteY2" fmla="*/ 525780 h 1028700"/>
              <a:gd name="connsiteX3" fmla="*/ 414020 w 764540"/>
              <a:gd name="connsiteY3" fmla="*/ 259080 h 1028700"/>
              <a:gd name="connsiteX4" fmla="*/ 764540 w 764540"/>
              <a:gd name="connsiteY4" fmla="*/ 0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0820 w 764540"/>
              <a:gd name="connsiteY2" fmla="*/ 525780 h 1028700"/>
              <a:gd name="connsiteX3" fmla="*/ 525167 w 764540"/>
              <a:gd name="connsiteY3" fmla="*/ 159758 h 1028700"/>
              <a:gd name="connsiteX4" fmla="*/ 764540 w 764540"/>
              <a:gd name="connsiteY4" fmla="*/ 0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0820 w 764540"/>
              <a:gd name="connsiteY2" fmla="*/ 525780 h 1028700"/>
              <a:gd name="connsiteX3" fmla="*/ 525167 w 764540"/>
              <a:gd name="connsiteY3" fmla="*/ 159758 h 1028700"/>
              <a:gd name="connsiteX4" fmla="*/ 764540 w 764540"/>
              <a:gd name="connsiteY4" fmla="*/ 0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7914 w 764540"/>
              <a:gd name="connsiteY2" fmla="*/ 525780 h 1028700"/>
              <a:gd name="connsiteX3" fmla="*/ 525167 w 764540"/>
              <a:gd name="connsiteY3" fmla="*/ 159758 h 1028700"/>
              <a:gd name="connsiteX4" fmla="*/ 764540 w 764540"/>
              <a:gd name="connsiteY4" fmla="*/ 0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7914 w 764540"/>
              <a:gd name="connsiteY2" fmla="*/ 525780 h 1028700"/>
              <a:gd name="connsiteX3" fmla="*/ 525167 w 764540"/>
              <a:gd name="connsiteY3" fmla="*/ 159758 h 1028700"/>
              <a:gd name="connsiteX4" fmla="*/ 764540 w 764540"/>
              <a:gd name="connsiteY4" fmla="*/ 0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7914 w 764540"/>
              <a:gd name="connsiteY2" fmla="*/ 525780 h 1028700"/>
              <a:gd name="connsiteX3" fmla="*/ 370168 w 764540"/>
              <a:gd name="connsiteY3" fmla="*/ 308413 h 1028700"/>
              <a:gd name="connsiteX4" fmla="*/ 525167 w 764540"/>
              <a:gd name="connsiteY4" fmla="*/ 159758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7" fmla="*/ 764540 w 764540"/>
              <a:gd name="connsiteY7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7914 w 764540"/>
              <a:gd name="connsiteY2" fmla="*/ 525780 h 1028700"/>
              <a:gd name="connsiteX3" fmla="*/ 370168 w 764540"/>
              <a:gd name="connsiteY3" fmla="*/ 308413 h 1028700"/>
              <a:gd name="connsiteX4" fmla="*/ 581923 w 764540"/>
              <a:gd name="connsiteY4" fmla="*/ 107732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7" fmla="*/ 764540 w 764540"/>
              <a:gd name="connsiteY7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217914 w 764540"/>
              <a:gd name="connsiteY2" fmla="*/ 525780 h 1028700"/>
              <a:gd name="connsiteX3" fmla="*/ 370168 w 764540"/>
              <a:gd name="connsiteY3" fmla="*/ 308413 h 1028700"/>
              <a:gd name="connsiteX4" fmla="*/ 581923 w 764540"/>
              <a:gd name="connsiteY4" fmla="*/ 107732 h 1028700"/>
              <a:gd name="connsiteX5" fmla="*/ 764540 w 764540"/>
              <a:gd name="connsiteY5" fmla="*/ 0 h 1028700"/>
              <a:gd name="connsiteX6" fmla="*/ 764540 w 764540"/>
              <a:gd name="connsiteY6" fmla="*/ 0 h 1028700"/>
              <a:gd name="connsiteX7" fmla="*/ 764540 w 764540"/>
              <a:gd name="connsiteY7" fmla="*/ 0 h 1028700"/>
              <a:gd name="connsiteX0" fmla="*/ 0 w 764540"/>
              <a:gd name="connsiteY0" fmla="*/ 1028700 h 1028700"/>
              <a:gd name="connsiteX1" fmla="*/ 63500 w 764540"/>
              <a:gd name="connsiteY1" fmla="*/ 835660 h 1028700"/>
              <a:gd name="connsiteX2" fmla="*/ 128956 w 764540"/>
              <a:gd name="connsiteY2" fmla="*/ 679691 h 1028700"/>
              <a:gd name="connsiteX3" fmla="*/ 217914 w 764540"/>
              <a:gd name="connsiteY3" fmla="*/ 525780 h 1028700"/>
              <a:gd name="connsiteX4" fmla="*/ 370168 w 764540"/>
              <a:gd name="connsiteY4" fmla="*/ 308413 h 1028700"/>
              <a:gd name="connsiteX5" fmla="*/ 581923 w 764540"/>
              <a:gd name="connsiteY5" fmla="*/ 107732 h 1028700"/>
              <a:gd name="connsiteX6" fmla="*/ 764540 w 764540"/>
              <a:gd name="connsiteY6" fmla="*/ 0 h 1028700"/>
              <a:gd name="connsiteX7" fmla="*/ 764540 w 764540"/>
              <a:gd name="connsiteY7" fmla="*/ 0 h 1028700"/>
              <a:gd name="connsiteX8" fmla="*/ 764540 w 764540"/>
              <a:gd name="connsiteY8" fmla="*/ 0 h 1028700"/>
              <a:gd name="connsiteX0" fmla="*/ 0 w 764540"/>
              <a:gd name="connsiteY0" fmla="*/ 1028700 h 1028700"/>
              <a:gd name="connsiteX1" fmla="*/ 49311 w 764540"/>
              <a:gd name="connsiteY1" fmla="*/ 873497 h 1028700"/>
              <a:gd name="connsiteX2" fmla="*/ 128956 w 764540"/>
              <a:gd name="connsiteY2" fmla="*/ 679691 h 1028700"/>
              <a:gd name="connsiteX3" fmla="*/ 217914 w 764540"/>
              <a:gd name="connsiteY3" fmla="*/ 525780 h 1028700"/>
              <a:gd name="connsiteX4" fmla="*/ 370168 w 764540"/>
              <a:gd name="connsiteY4" fmla="*/ 308413 h 1028700"/>
              <a:gd name="connsiteX5" fmla="*/ 581923 w 764540"/>
              <a:gd name="connsiteY5" fmla="*/ 107732 h 1028700"/>
              <a:gd name="connsiteX6" fmla="*/ 764540 w 764540"/>
              <a:gd name="connsiteY6" fmla="*/ 0 h 1028700"/>
              <a:gd name="connsiteX7" fmla="*/ 764540 w 764540"/>
              <a:gd name="connsiteY7" fmla="*/ 0 h 1028700"/>
              <a:gd name="connsiteX8" fmla="*/ 764540 w 764540"/>
              <a:gd name="connsiteY8" fmla="*/ 0 h 1028700"/>
              <a:gd name="connsiteX0" fmla="*/ 0 w 764540"/>
              <a:gd name="connsiteY0" fmla="*/ 1028700 h 1028700"/>
              <a:gd name="connsiteX1" fmla="*/ 49311 w 764540"/>
              <a:gd name="connsiteY1" fmla="*/ 873497 h 1028700"/>
              <a:gd name="connsiteX2" fmla="*/ 128956 w 764540"/>
              <a:gd name="connsiteY2" fmla="*/ 679691 h 1028700"/>
              <a:gd name="connsiteX3" fmla="*/ 217914 w 764540"/>
              <a:gd name="connsiteY3" fmla="*/ 525780 h 1028700"/>
              <a:gd name="connsiteX4" fmla="*/ 370168 w 764540"/>
              <a:gd name="connsiteY4" fmla="*/ 308413 h 1028700"/>
              <a:gd name="connsiteX5" fmla="*/ 581923 w 764540"/>
              <a:gd name="connsiteY5" fmla="*/ 107732 h 1028700"/>
              <a:gd name="connsiteX6" fmla="*/ 764540 w 764540"/>
              <a:gd name="connsiteY6" fmla="*/ 0 h 1028700"/>
              <a:gd name="connsiteX7" fmla="*/ 764540 w 764540"/>
              <a:gd name="connsiteY7" fmla="*/ 0 h 1028700"/>
              <a:gd name="connsiteX8" fmla="*/ 764540 w 764540"/>
              <a:gd name="connsiteY8" fmla="*/ 0 h 1028700"/>
              <a:gd name="connsiteX0" fmla="*/ 0 w 764540"/>
              <a:gd name="connsiteY0" fmla="*/ 1028700 h 1028700"/>
              <a:gd name="connsiteX1" fmla="*/ 49311 w 764540"/>
              <a:gd name="connsiteY1" fmla="*/ 873497 h 1028700"/>
              <a:gd name="connsiteX2" fmla="*/ 128956 w 764540"/>
              <a:gd name="connsiteY2" fmla="*/ 679691 h 1028700"/>
              <a:gd name="connsiteX3" fmla="*/ 236833 w 764540"/>
              <a:gd name="connsiteY3" fmla="*/ 480848 h 1028700"/>
              <a:gd name="connsiteX4" fmla="*/ 370168 w 764540"/>
              <a:gd name="connsiteY4" fmla="*/ 308413 h 1028700"/>
              <a:gd name="connsiteX5" fmla="*/ 581923 w 764540"/>
              <a:gd name="connsiteY5" fmla="*/ 107732 h 1028700"/>
              <a:gd name="connsiteX6" fmla="*/ 764540 w 764540"/>
              <a:gd name="connsiteY6" fmla="*/ 0 h 1028700"/>
              <a:gd name="connsiteX7" fmla="*/ 764540 w 764540"/>
              <a:gd name="connsiteY7" fmla="*/ 0 h 1028700"/>
              <a:gd name="connsiteX8" fmla="*/ 764540 w 764540"/>
              <a:gd name="connsiteY8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4540" h="1028700">
                <a:moveTo>
                  <a:pt x="0" y="1028700"/>
                </a:moveTo>
                <a:cubicBezTo>
                  <a:pt x="14181" y="974090"/>
                  <a:pt x="25454" y="936395"/>
                  <a:pt x="49311" y="873497"/>
                </a:cubicBezTo>
                <a:cubicBezTo>
                  <a:pt x="73168" y="810599"/>
                  <a:pt x="103220" y="731338"/>
                  <a:pt x="128956" y="679691"/>
                </a:cubicBezTo>
                <a:cubicBezTo>
                  <a:pt x="154692" y="628044"/>
                  <a:pt x="196631" y="542728"/>
                  <a:pt x="236833" y="480848"/>
                </a:cubicBezTo>
                <a:cubicBezTo>
                  <a:pt x="277035" y="418968"/>
                  <a:pt x="318959" y="369417"/>
                  <a:pt x="370168" y="308413"/>
                </a:cubicBezTo>
                <a:cubicBezTo>
                  <a:pt x="421377" y="247409"/>
                  <a:pt x="504370" y="163863"/>
                  <a:pt x="581923" y="107732"/>
                </a:cubicBezTo>
                <a:cubicBezTo>
                  <a:pt x="659476" y="51601"/>
                  <a:pt x="764540" y="0"/>
                  <a:pt x="764540" y="0"/>
                </a:cubicBezTo>
                <a:lnTo>
                  <a:pt x="764540" y="0"/>
                </a:lnTo>
                <a:lnTo>
                  <a:pt x="764540" y="0"/>
                </a:lnTo>
              </a:path>
            </a:pathLst>
          </a:cu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33" name="Полилиния 32"/>
          <p:cNvSpPr/>
          <p:nvPr/>
        </p:nvSpPr>
        <p:spPr>
          <a:xfrm>
            <a:off x="2841098" y="1859251"/>
            <a:ext cx="512922" cy="1747520"/>
          </a:xfrm>
          <a:custGeom>
            <a:avLst/>
            <a:gdLst>
              <a:gd name="connsiteX0" fmla="*/ 314960 w 359485"/>
              <a:gd name="connsiteY0" fmla="*/ 1310640 h 1310640"/>
              <a:gd name="connsiteX1" fmla="*/ 347980 w 359485"/>
              <a:gd name="connsiteY1" fmla="*/ 1099820 h 1310640"/>
              <a:gd name="connsiteX2" fmla="*/ 350520 w 359485"/>
              <a:gd name="connsiteY2" fmla="*/ 731520 h 1310640"/>
              <a:gd name="connsiteX3" fmla="*/ 236220 w 359485"/>
              <a:gd name="connsiteY3" fmla="*/ 350520 h 1310640"/>
              <a:gd name="connsiteX4" fmla="*/ 0 w 359485"/>
              <a:gd name="connsiteY4" fmla="*/ 0 h 1310640"/>
              <a:gd name="connsiteX5" fmla="*/ 0 w 359485"/>
              <a:gd name="connsiteY5" fmla="*/ 0 h 1310640"/>
              <a:gd name="connsiteX0" fmla="*/ 314960 w 359485"/>
              <a:gd name="connsiteY0" fmla="*/ 1310640 h 1310640"/>
              <a:gd name="connsiteX1" fmla="*/ 347980 w 359485"/>
              <a:gd name="connsiteY1" fmla="*/ 1099820 h 1310640"/>
              <a:gd name="connsiteX2" fmla="*/ 350520 w 359485"/>
              <a:gd name="connsiteY2" fmla="*/ 731520 h 1310640"/>
              <a:gd name="connsiteX3" fmla="*/ 236220 w 359485"/>
              <a:gd name="connsiteY3" fmla="*/ 350520 h 1310640"/>
              <a:gd name="connsiteX4" fmla="*/ 132781 w 359485"/>
              <a:gd name="connsiteY4" fmla="*/ 160956 h 1310640"/>
              <a:gd name="connsiteX5" fmla="*/ 0 w 359485"/>
              <a:gd name="connsiteY5" fmla="*/ 0 h 1310640"/>
              <a:gd name="connsiteX6" fmla="*/ 0 w 359485"/>
              <a:gd name="connsiteY6" fmla="*/ 0 h 1310640"/>
              <a:gd name="connsiteX0" fmla="*/ 314960 w 357191"/>
              <a:gd name="connsiteY0" fmla="*/ 1310640 h 1310640"/>
              <a:gd name="connsiteX1" fmla="*/ 347980 w 357191"/>
              <a:gd name="connsiteY1" fmla="*/ 1099820 h 1310640"/>
              <a:gd name="connsiteX2" fmla="*/ 350520 w 357191"/>
              <a:gd name="connsiteY2" fmla="*/ 731520 h 1310640"/>
              <a:gd name="connsiteX3" fmla="*/ 267319 w 357191"/>
              <a:gd name="connsiteY3" fmla="*/ 424587 h 1310640"/>
              <a:gd name="connsiteX4" fmla="*/ 132781 w 357191"/>
              <a:gd name="connsiteY4" fmla="*/ 160956 h 1310640"/>
              <a:gd name="connsiteX5" fmla="*/ 0 w 357191"/>
              <a:gd name="connsiteY5" fmla="*/ 0 h 1310640"/>
              <a:gd name="connsiteX6" fmla="*/ 0 w 357191"/>
              <a:gd name="connsiteY6" fmla="*/ 0 h 1310640"/>
              <a:gd name="connsiteX0" fmla="*/ 314960 w 355338"/>
              <a:gd name="connsiteY0" fmla="*/ 1310640 h 1310640"/>
              <a:gd name="connsiteX1" fmla="*/ 347980 w 355338"/>
              <a:gd name="connsiteY1" fmla="*/ 1099820 h 1310640"/>
              <a:gd name="connsiteX2" fmla="*/ 347928 w 355338"/>
              <a:gd name="connsiteY2" fmla="*/ 731520 h 1310640"/>
              <a:gd name="connsiteX3" fmla="*/ 267319 w 355338"/>
              <a:gd name="connsiteY3" fmla="*/ 424587 h 1310640"/>
              <a:gd name="connsiteX4" fmla="*/ 132781 w 355338"/>
              <a:gd name="connsiteY4" fmla="*/ 160956 h 1310640"/>
              <a:gd name="connsiteX5" fmla="*/ 0 w 355338"/>
              <a:gd name="connsiteY5" fmla="*/ 0 h 1310640"/>
              <a:gd name="connsiteX6" fmla="*/ 0 w 355338"/>
              <a:gd name="connsiteY6" fmla="*/ 0 h 1310640"/>
              <a:gd name="connsiteX0" fmla="*/ 314960 w 363438"/>
              <a:gd name="connsiteY0" fmla="*/ 1310640 h 1310640"/>
              <a:gd name="connsiteX1" fmla="*/ 347980 w 363438"/>
              <a:gd name="connsiteY1" fmla="*/ 1099820 h 1310640"/>
              <a:gd name="connsiteX2" fmla="*/ 363438 w 363438"/>
              <a:gd name="connsiteY2" fmla="*/ 937282 h 1310640"/>
              <a:gd name="connsiteX3" fmla="*/ 347928 w 363438"/>
              <a:gd name="connsiteY3" fmla="*/ 731520 h 1310640"/>
              <a:gd name="connsiteX4" fmla="*/ 267319 w 363438"/>
              <a:gd name="connsiteY4" fmla="*/ 424587 h 1310640"/>
              <a:gd name="connsiteX5" fmla="*/ 132781 w 363438"/>
              <a:gd name="connsiteY5" fmla="*/ 160956 h 1310640"/>
              <a:gd name="connsiteX6" fmla="*/ 0 w 363438"/>
              <a:gd name="connsiteY6" fmla="*/ 0 h 1310640"/>
              <a:gd name="connsiteX7" fmla="*/ 0 w 363438"/>
              <a:gd name="connsiteY7" fmla="*/ 0 h 1310640"/>
              <a:gd name="connsiteX0" fmla="*/ 314960 w 363438"/>
              <a:gd name="connsiteY0" fmla="*/ 1310640 h 1310640"/>
              <a:gd name="connsiteX1" fmla="*/ 345388 w 363438"/>
              <a:gd name="connsiteY1" fmla="*/ 1151941 h 1310640"/>
              <a:gd name="connsiteX2" fmla="*/ 363438 w 363438"/>
              <a:gd name="connsiteY2" fmla="*/ 937282 h 1310640"/>
              <a:gd name="connsiteX3" fmla="*/ 347928 w 363438"/>
              <a:gd name="connsiteY3" fmla="*/ 731520 h 1310640"/>
              <a:gd name="connsiteX4" fmla="*/ 267319 w 363438"/>
              <a:gd name="connsiteY4" fmla="*/ 424587 h 1310640"/>
              <a:gd name="connsiteX5" fmla="*/ 132781 w 363438"/>
              <a:gd name="connsiteY5" fmla="*/ 160956 h 1310640"/>
              <a:gd name="connsiteX6" fmla="*/ 0 w 363438"/>
              <a:gd name="connsiteY6" fmla="*/ 0 h 1310640"/>
              <a:gd name="connsiteX7" fmla="*/ 0 w 363438"/>
              <a:gd name="connsiteY7" fmla="*/ 0 h 131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3438" h="1310640">
                <a:moveTo>
                  <a:pt x="314960" y="1310640"/>
                </a:moveTo>
                <a:cubicBezTo>
                  <a:pt x="328506" y="1253490"/>
                  <a:pt x="337308" y="1214167"/>
                  <a:pt x="345388" y="1151941"/>
                </a:cubicBezTo>
                <a:cubicBezTo>
                  <a:pt x="353468" y="1089715"/>
                  <a:pt x="363447" y="998665"/>
                  <a:pt x="363438" y="937282"/>
                </a:cubicBezTo>
                <a:cubicBezTo>
                  <a:pt x="363429" y="875899"/>
                  <a:pt x="363948" y="816969"/>
                  <a:pt x="347928" y="731520"/>
                </a:cubicBezTo>
                <a:cubicBezTo>
                  <a:pt x="331908" y="646071"/>
                  <a:pt x="303177" y="519681"/>
                  <a:pt x="267319" y="424587"/>
                </a:cubicBezTo>
                <a:cubicBezTo>
                  <a:pt x="231461" y="329493"/>
                  <a:pt x="172151" y="219376"/>
                  <a:pt x="132781" y="160956"/>
                </a:cubicBezTo>
                <a:cubicBezTo>
                  <a:pt x="93411" y="102536"/>
                  <a:pt x="20402" y="27740"/>
                  <a:pt x="0" y="0"/>
                </a:cubicBezTo>
                <a:lnTo>
                  <a:pt x="0" y="0"/>
                </a:lnTo>
              </a:path>
            </a:pathLst>
          </a:cu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34" name="Полилиния 33"/>
          <p:cNvSpPr/>
          <p:nvPr/>
        </p:nvSpPr>
        <p:spPr>
          <a:xfrm>
            <a:off x="2841099" y="1859251"/>
            <a:ext cx="874270" cy="961813"/>
          </a:xfrm>
          <a:custGeom>
            <a:avLst/>
            <a:gdLst>
              <a:gd name="connsiteX0" fmla="*/ 0 w 635000"/>
              <a:gd name="connsiteY0" fmla="*/ 0 h 721360"/>
              <a:gd name="connsiteX1" fmla="*/ 248920 w 635000"/>
              <a:gd name="connsiteY1" fmla="*/ 182880 h 721360"/>
              <a:gd name="connsiteX2" fmla="*/ 408940 w 635000"/>
              <a:gd name="connsiteY2" fmla="*/ 337820 h 721360"/>
              <a:gd name="connsiteX3" fmla="*/ 528320 w 635000"/>
              <a:gd name="connsiteY3" fmla="*/ 508000 h 721360"/>
              <a:gd name="connsiteX4" fmla="*/ 635000 w 635000"/>
              <a:gd name="connsiteY4" fmla="*/ 721360 h 721360"/>
              <a:gd name="connsiteX5" fmla="*/ 635000 w 635000"/>
              <a:gd name="connsiteY5" fmla="*/ 721360 h 721360"/>
              <a:gd name="connsiteX6" fmla="*/ 635000 w 635000"/>
              <a:gd name="connsiteY6" fmla="*/ 721360 h 721360"/>
              <a:gd name="connsiteX7" fmla="*/ 635000 w 635000"/>
              <a:gd name="connsiteY7" fmla="*/ 72136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5000" h="721360">
                <a:moveTo>
                  <a:pt x="0" y="0"/>
                </a:moveTo>
                <a:cubicBezTo>
                  <a:pt x="90381" y="63288"/>
                  <a:pt x="180763" y="126577"/>
                  <a:pt x="248920" y="182880"/>
                </a:cubicBezTo>
                <a:cubicBezTo>
                  <a:pt x="317077" y="239183"/>
                  <a:pt x="362373" y="283633"/>
                  <a:pt x="408940" y="337820"/>
                </a:cubicBezTo>
                <a:cubicBezTo>
                  <a:pt x="455507" y="392007"/>
                  <a:pt x="490643" y="444077"/>
                  <a:pt x="528320" y="508000"/>
                </a:cubicBezTo>
                <a:cubicBezTo>
                  <a:pt x="565997" y="571923"/>
                  <a:pt x="635000" y="721360"/>
                  <a:pt x="635000" y="721360"/>
                </a:cubicBezTo>
                <a:lnTo>
                  <a:pt x="635000" y="721360"/>
                </a:lnTo>
                <a:lnTo>
                  <a:pt x="635000" y="721360"/>
                </a:lnTo>
                <a:lnTo>
                  <a:pt x="635000" y="721360"/>
                </a:lnTo>
              </a:path>
            </a:pathLst>
          </a:cu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2" tIns="60952" rIns="121902" bIns="60952"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1220415" y="2074275"/>
            <a:ext cx="415540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52841" y="3266093"/>
            <a:ext cx="389596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31260" y="3589961"/>
            <a:ext cx="580536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900" dirty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4293" y="2384985"/>
            <a:ext cx="665480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93970" y="2702311"/>
            <a:ext cx="490017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293393" y="2438371"/>
            <a:ext cx="591819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79007" y="2771597"/>
            <a:ext cx="575256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13452" y="1350404"/>
            <a:ext cx="493409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Выгнутая влево стрелка 42"/>
          <p:cNvSpPr/>
          <p:nvPr/>
        </p:nvSpPr>
        <p:spPr>
          <a:xfrm rot="948668">
            <a:off x="2311047" y="3625595"/>
            <a:ext cx="329019" cy="344269"/>
          </a:xfrm>
          <a:prstGeom prst="curvedRightArrow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2" tIns="60952" rIns="121902" bIns="60952"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4526791" y="1210548"/>
            <a:ext cx="6521697" cy="861758"/>
          </a:xfrm>
          <a:prstGeom prst="rect">
            <a:avLst/>
          </a:prstGeom>
        </p:spPr>
        <p:txBody>
          <a:bodyPr wrap="square" lIns="121902" tIns="60952" rIns="121902" bIns="60952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Теорема Эйлера-Даламбера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Самое общее конечное перемещение твердого тела, имеющего неподвижную точку О, есть вращение вокруг неподвижной оси, проходящей через эту точку.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Прямоугольник 44"/>
              <p:cNvSpPr/>
              <p:nvPr/>
            </p:nvSpPr>
            <p:spPr>
              <a:xfrm>
                <a:off x="4739639" y="2207404"/>
                <a:ext cx="6096000" cy="412213"/>
              </a:xfrm>
              <a:prstGeom prst="rect">
                <a:avLst/>
              </a:prstGeom>
            </p:spPr>
            <p:txBody>
              <a:bodyPr lIns="121902" tIns="60952" rIns="121902" bIns="60952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̆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𝐴𝐵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acc>
                      <m:accPr>
                        <m:chr m:val="̆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(расстояния между точками твердого тела)</a:t>
                </a:r>
              </a:p>
            </p:txBody>
          </p:sp>
        </mc:Choice>
        <mc:Fallback xmlns="">
          <p:sp>
            <p:nvSpPr>
              <p:cNvPr id="45" name="Прямоугольник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639" y="2207404"/>
                <a:ext cx="6096000" cy="412213"/>
              </a:xfrm>
              <a:prstGeom prst="rect">
                <a:avLst/>
              </a:prstGeom>
              <a:blipFill rotWithShape="1">
                <a:blip r:embed="rId3"/>
                <a:stretch>
                  <a:fillRect b="-13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Прямоугольник 45"/>
              <p:cNvSpPr/>
              <p:nvPr/>
            </p:nvSpPr>
            <p:spPr>
              <a:xfrm>
                <a:off x="4763741" y="2736539"/>
                <a:ext cx="2524679" cy="422924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̆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𝐴𝐷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acc>
                      <m:accPr>
                        <m:chr m:val="̆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𝐷</m:t>
                        </m:r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, </a:t>
                </a:r>
                <a14:m>
                  <m:oMath xmlns:m="http://schemas.openxmlformats.org/officeDocument/2006/math">
                    <m:acc>
                      <m:accPr>
                        <m:chr m:val="̆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𝐵𝐶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̆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6" name="Прямоугольник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741" y="2736539"/>
                <a:ext cx="2524679" cy="422924"/>
              </a:xfrm>
              <a:prstGeom prst="rect">
                <a:avLst/>
              </a:prstGeom>
              <a:blipFill rotWithShape="1">
                <a:blip r:embed="rId4"/>
                <a:stretch>
                  <a:fillRect t="-1449" r="-16145" b="-159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739640" y="3311188"/>
                <a:ext cx="6715760" cy="635479"/>
              </a:xfrm>
              <a:prstGeom prst="rect">
                <a:avLst/>
              </a:prstGeom>
              <a:noFill/>
            </p:spPr>
            <p:txBody>
              <a:bodyPr wrap="square" lIns="121902" tIns="60952" rIns="121902" bIns="60952" rtlCol="0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В точках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D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и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C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проведем сферические перпендикуляры к дугам </a:t>
                </a:r>
                <a14:m>
                  <m:oMath xmlns:m="http://schemas.openxmlformats.org/officeDocument/2006/math">
                    <m:acc>
                      <m:accPr>
                        <m:chr m:val="̆"/>
                        <m:ctrlPr>
                          <a:rPr lang="ru-RU" sz="16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/>
                          </a:rPr>
                          <m:t>𝐴</m:t>
                        </m:r>
                        <m:sSub>
                          <m:sSubPr>
                            <m:ctrlPr>
                              <a:rPr lang="en-US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̆"/>
                        <m:ctrlPr>
                          <a:rPr lang="ru-RU" sz="16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/>
                          </a:rPr>
                          <m:t>𝐵</m:t>
                        </m:r>
                        <m:sSub>
                          <m:sSubPr>
                            <m:ctrlPr>
                              <a:rPr lang="en-US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которые пересекутся в точке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640" y="3311188"/>
                <a:ext cx="6715760" cy="635479"/>
              </a:xfrm>
              <a:prstGeom prst="rect">
                <a:avLst/>
              </a:prstGeom>
              <a:blipFill rotWithShape="1">
                <a:blip r:embed="rId5"/>
                <a:stretch>
                  <a:fillRect l="-91" b="-10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739640" y="4100025"/>
                <a:ext cx="6837680" cy="412213"/>
              </a:xfrm>
              <a:prstGeom prst="rect">
                <a:avLst/>
              </a:prstGeom>
              <a:noFill/>
            </p:spPr>
            <p:txBody>
              <a:bodyPr wrap="square" lIns="121902" tIns="60952" rIns="121902" bIns="60952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̆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𝐴𝑃</m:t>
                        </m:r>
                      </m:e>
                    </m:acc>
                    <m:r>
                      <a:rPr lang="en-US">
                        <a:latin typeface="Cambria Math"/>
                      </a:rPr>
                      <m:t>=</m:t>
                    </m:r>
                    <m:acc>
                      <m:accPr>
                        <m:chr m:val="̆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 , </m:t>
                    </m:r>
                    <m:acc>
                      <m:accPr>
                        <m:chr m:val="̆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𝐵𝑃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̆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как дуги имеющие равные проекции.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640" y="4100025"/>
                <a:ext cx="6837680" cy="412213"/>
              </a:xfrm>
              <a:prstGeom prst="rect">
                <a:avLst/>
              </a:prstGeom>
              <a:blipFill rotWithShape="1">
                <a:blip r:embed="rId6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37143" y="4864808"/>
            <a:ext cx="10594992" cy="615537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Сферические треугольники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APB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PB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равны по трем сторонам, и могут быть совмещены поворотом вокруг оси проведенной через неподвижную точку О и точку Р. Ось ОР называется </a:t>
            </a: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осью конечного вращения.</a:t>
            </a:r>
          </a:p>
        </p:txBody>
      </p:sp>
      <p:sp>
        <p:nvSpPr>
          <p:cNvPr id="51" name="Заголовок 12"/>
          <p:cNvSpPr>
            <a:spLocks noGrp="1"/>
          </p:cNvSpPr>
          <p:nvPr>
            <p:ph type="title"/>
          </p:nvPr>
        </p:nvSpPr>
        <p:spPr>
          <a:xfrm>
            <a:off x="477769" y="304737"/>
            <a:ext cx="8437633" cy="624331"/>
          </a:xfrm>
        </p:spPr>
        <p:txBody>
          <a:bodyPr rtlCol="0">
            <a:noAutofit/>
          </a:bodyPr>
          <a:lstStyle/>
          <a:p>
            <a:r>
              <a:rPr lang="ru-RU" sz="27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Теорема Эйлера-Даламбера.</a:t>
            </a:r>
            <a: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7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cxnSp>
        <p:nvCxnSpPr>
          <p:cNvPr id="52" name="Прямая соединительная линия 51"/>
          <p:cNvCxnSpPr/>
          <p:nvPr/>
        </p:nvCxnSpPr>
        <p:spPr>
          <a:xfrm>
            <a:off x="361953" y="69876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>
            <a:off x="361953" y="788537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84"/>
          <p:cNvSpPr>
            <a:spLocks noChangeArrowheads="1"/>
          </p:cNvSpPr>
          <p:nvPr/>
        </p:nvSpPr>
        <p:spPr bwMode="auto">
          <a:xfrm>
            <a:off x="2788691" y="1815649"/>
            <a:ext cx="80433" cy="80433"/>
          </a:xfrm>
          <a:prstGeom prst="ellipse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4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7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  <p:bldP spid="45" grpId="0"/>
      <p:bldP spid="46" grpId="0"/>
      <p:bldP spid="47" grpId="0"/>
      <p:bldP spid="48" grpId="0"/>
      <p:bldP spid="49" grpId="0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Группа 102"/>
          <p:cNvGrpSpPr/>
          <p:nvPr/>
        </p:nvGrpSpPr>
        <p:grpSpPr>
          <a:xfrm>
            <a:off x="686733" y="2354107"/>
            <a:ext cx="2651584" cy="3656176"/>
            <a:chOff x="800903" y="2219099"/>
            <a:chExt cx="1988688" cy="2742132"/>
          </a:xfrm>
        </p:grpSpPr>
        <p:sp>
          <p:nvSpPr>
            <p:cNvPr id="101" name="Полилиния 100"/>
            <p:cNvSpPr/>
            <p:nvPr/>
          </p:nvSpPr>
          <p:spPr>
            <a:xfrm rot="2027599">
              <a:off x="1649483" y="3170037"/>
              <a:ext cx="1140108" cy="1791194"/>
            </a:xfrm>
            <a:custGeom>
              <a:avLst/>
              <a:gdLst>
                <a:gd name="connsiteX0" fmla="*/ 248326 w 964941"/>
                <a:gd name="connsiteY0" fmla="*/ 1408848 h 1459356"/>
                <a:gd name="connsiteX1" fmla="*/ 4486 w 964941"/>
                <a:gd name="connsiteY1" fmla="*/ 989748 h 1459356"/>
                <a:gd name="connsiteX2" fmla="*/ 95926 w 964941"/>
                <a:gd name="connsiteY2" fmla="*/ 441108 h 1459356"/>
                <a:gd name="connsiteX3" fmla="*/ 168316 w 964941"/>
                <a:gd name="connsiteY3" fmla="*/ 117258 h 1459356"/>
                <a:gd name="connsiteX4" fmla="*/ 572176 w 964941"/>
                <a:gd name="connsiteY4" fmla="*/ 6768 h 1459356"/>
                <a:gd name="connsiteX5" fmla="*/ 930316 w 964941"/>
                <a:gd name="connsiteY5" fmla="*/ 288708 h 1459356"/>
                <a:gd name="connsiteX6" fmla="*/ 934126 w 964941"/>
                <a:gd name="connsiteY6" fmla="*/ 700188 h 1459356"/>
                <a:gd name="connsiteX7" fmla="*/ 781726 w 964941"/>
                <a:gd name="connsiteY7" fmla="*/ 1016418 h 1459356"/>
                <a:gd name="connsiteX8" fmla="*/ 732196 w 964941"/>
                <a:gd name="connsiteY8" fmla="*/ 1317408 h 1459356"/>
                <a:gd name="connsiteX9" fmla="*/ 499786 w 964941"/>
                <a:gd name="connsiteY9" fmla="*/ 1439328 h 1459356"/>
                <a:gd name="connsiteX10" fmla="*/ 248326 w 964941"/>
                <a:gd name="connsiteY10" fmla="*/ 1408848 h 145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4941" h="1459356">
                  <a:moveTo>
                    <a:pt x="248326" y="1408848"/>
                  </a:moveTo>
                  <a:cubicBezTo>
                    <a:pt x="165776" y="1333918"/>
                    <a:pt x="29886" y="1151038"/>
                    <a:pt x="4486" y="989748"/>
                  </a:cubicBezTo>
                  <a:cubicBezTo>
                    <a:pt x="-20914" y="828458"/>
                    <a:pt x="68621" y="586523"/>
                    <a:pt x="95926" y="441108"/>
                  </a:cubicBezTo>
                  <a:cubicBezTo>
                    <a:pt x="123231" y="295693"/>
                    <a:pt x="88941" y="189648"/>
                    <a:pt x="168316" y="117258"/>
                  </a:cubicBezTo>
                  <a:cubicBezTo>
                    <a:pt x="247691" y="44868"/>
                    <a:pt x="445176" y="-21807"/>
                    <a:pt x="572176" y="6768"/>
                  </a:cubicBezTo>
                  <a:cubicBezTo>
                    <a:pt x="699176" y="35343"/>
                    <a:pt x="869991" y="173138"/>
                    <a:pt x="930316" y="288708"/>
                  </a:cubicBezTo>
                  <a:cubicBezTo>
                    <a:pt x="990641" y="404278"/>
                    <a:pt x="958891" y="578903"/>
                    <a:pt x="934126" y="700188"/>
                  </a:cubicBezTo>
                  <a:cubicBezTo>
                    <a:pt x="909361" y="821473"/>
                    <a:pt x="815381" y="913548"/>
                    <a:pt x="781726" y="1016418"/>
                  </a:cubicBezTo>
                  <a:cubicBezTo>
                    <a:pt x="748071" y="1119288"/>
                    <a:pt x="779186" y="1246923"/>
                    <a:pt x="732196" y="1317408"/>
                  </a:cubicBezTo>
                  <a:cubicBezTo>
                    <a:pt x="685206" y="1387893"/>
                    <a:pt x="579161" y="1420278"/>
                    <a:pt x="499786" y="1439328"/>
                  </a:cubicBezTo>
                  <a:cubicBezTo>
                    <a:pt x="420411" y="1458378"/>
                    <a:pt x="330876" y="1483778"/>
                    <a:pt x="248326" y="140884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1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1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73" name="Группа 72"/>
            <p:cNvGrpSpPr/>
            <p:nvPr/>
          </p:nvGrpSpPr>
          <p:grpSpPr>
            <a:xfrm>
              <a:off x="800903" y="2219099"/>
              <a:ext cx="1676400" cy="2641049"/>
              <a:chOff x="800903" y="2219099"/>
              <a:chExt cx="1676400" cy="2641049"/>
            </a:xfrm>
            <a:noFill/>
          </p:grpSpPr>
          <p:grpSp>
            <p:nvGrpSpPr>
              <p:cNvPr id="70" name="Группа 69"/>
              <p:cNvGrpSpPr/>
              <p:nvPr/>
            </p:nvGrpSpPr>
            <p:grpSpPr>
              <a:xfrm>
                <a:off x="800903" y="2751442"/>
                <a:ext cx="1676400" cy="2108706"/>
                <a:chOff x="538013" y="2629401"/>
                <a:chExt cx="1676400" cy="2108706"/>
              </a:xfrm>
              <a:grpFill/>
            </p:grpSpPr>
            <p:grpSp>
              <p:nvGrpSpPr>
                <p:cNvPr id="65" name="Группа 64"/>
                <p:cNvGrpSpPr/>
                <p:nvPr/>
              </p:nvGrpSpPr>
              <p:grpSpPr>
                <a:xfrm>
                  <a:off x="538013" y="2629401"/>
                  <a:ext cx="1676400" cy="2108706"/>
                  <a:chOff x="546437" y="2202180"/>
                  <a:chExt cx="1676400" cy="2108706"/>
                </a:xfrm>
                <a:grpFill/>
              </p:grpSpPr>
              <p:grpSp>
                <p:nvGrpSpPr>
                  <p:cNvPr id="63" name="Группа 62"/>
                  <p:cNvGrpSpPr/>
                  <p:nvPr/>
                </p:nvGrpSpPr>
                <p:grpSpPr>
                  <a:xfrm>
                    <a:off x="546437" y="2202180"/>
                    <a:ext cx="1676400" cy="2108706"/>
                    <a:chOff x="546437" y="2202180"/>
                    <a:chExt cx="1676400" cy="2108706"/>
                  </a:xfrm>
                  <a:grpFill/>
                </p:grpSpPr>
                <p:grpSp>
                  <p:nvGrpSpPr>
                    <p:cNvPr id="62" name="Группа 61"/>
                    <p:cNvGrpSpPr/>
                    <p:nvPr/>
                  </p:nvGrpSpPr>
                  <p:grpSpPr>
                    <a:xfrm>
                      <a:off x="546437" y="2372350"/>
                      <a:ext cx="1676400" cy="1938536"/>
                      <a:chOff x="546437" y="2372350"/>
                      <a:chExt cx="1676400" cy="1938536"/>
                    </a:xfrm>
                    <a:grpFill/>
                  </p:grpSpPr>
                  <p:grpSp>
                    <p:nvGrpSpPr>
                      <p:cNvPr id="51" name="Группа 50"/>
                      <p:cNvGrpSpPr/>
                      <p:nvPr/>
                    </p:nvGrpSpPr>
                    <p:grpSpPr>
                      <a:xfrm>
                        <a:off x="546437" y="2372350"/>
                        <a:ext cx="1676400" cy="1938536"/>
                        <a:chOff x="546437" y="2372350"/>
                        <a:chExt cx="1676400" cy="1938536"/>
                      </a:xfrm>
                      <a:grpFill/>
                    </p:grpSpPr>
                    <p:sp>
                      <p:nvSpPr>
                        <p:cNvPr id="50" name="Равнобедренный треугольник 49"/>
                        <p:cNvSpPr/>
                        <p:nvPr/>
                      </p:nvSpPr>
                      <p:spPr>
                        <a:xfrm>
                          <a:off x="1217800" y="4215636"/>
                          <a:ext cx="158413" cy="95250"/>
                        </a:xfrm>
                        <a:prstGeom prst="triangle">
                          <a:avLst/>
                        </a:prstGeom>
                        <a:solidFill>
                          <a:schemeClr val="bg2">
                            <a:lumMod val="90000"/>
                          </a:schemeClr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  <p:grpSp>
                      <p:nvGrpSpPr>
                        <p:cNvPr id="39" name="Группа 38"/>
                        <p:cNvGrpSpPr/>
                        <p:nvPr/>
                      </p:nvGrpSpPr>
                      <p:grpSpPr>
                        <a:xfrm>
                          <a:off x="546437" y="2372350"/>
                          <a:ext cx="1676400" cy="1788170"/>
                          <a:chOff x="975360" y="2697480"/>
                          <a:chExt cx="1676400" cy="2247900"/>
                        </a:xfrm>
                        <a:grpFill/>
                      </p:grpSpPr>
                      <p:sp>
                        <p:nvSpPr>
                          <p:cNvPr id="30" name="Овал 29"/>
                          <p:cNvSpPr/>
                          <p:nvPr/>
                        </p:nvSpPr>
                        <p:spPr>
                          <a:xfrm>
                            <a:off x="975360" y="2697480"/>
                            <a:ext cx="1676400" cy="563880"/>
                          </a:xfrm>
                          <a:prstGeom prst="ellipse">
                            <a:avLst/>
                          </a:prstGeom>
                          <a:grpFill/>
                          <a:ln w="952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  <p:cxnSp>
                        <p:nvCxnSpPr>
                          <p:cNvPr id="32" name="Прямая соединительная линия 31"/>
                          <p:cNvCxnSpPr>
                            <a:stCxn id="30" idx="2"/>
                          </p:cNvCxnSpPr>
                          <p:nvPr/>
                        </p:nvCxnSpPr>
                        <p:spPr>
                          <a:xfrm>
                            <a:off x="975360" y="2979420"/>
                            <a:ext cx="750570" cy="1965960"/>
                          </a:xfrm>
                          <a:prstGeom prst="line">
                            <a:avLst/>
                          </a:prstGeom>
                          <a:grpFill/>
                          <a:ln w="952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4" name="Прямая соединительная линия 33"/>
                          <p:cNvCxnSpPr>
                            <a:stCxn id="30" idx="6"/>
                          </p:cNvCxnSpPr>
                          <p:nvPr/>
                        </p:nvCxnSpPr>
                        <p:spPr>
                          <a:xfrm flipH="1">
                            <a:off x="1725930" y="2979420"/>
                            <a:ext cx="925830" cy="1965960"/>
                          </a:xfrm>
                          <a:prstGeom prst="line">
                            <a:avLst/>
                          </a:prstGeom>
                          <a:grpFill/>
                          <a:ln w="952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9" name="Овал 48"/>
                        <p:cNvSpPr/>
                        <p:nvPr/>
                      </p:nvSpPr>
                      <p:spPr>
                        <a:xfrm>
                          <a:off x="1258907" y="4160520"/>
                          <a:ext cx="76200" cy="76200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90000"/>
                          </a:schemeClr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</p:grpSp>
                  <p:cxnSp>
                    <p:nvCxnSpPr>
                      <p:cNvPr id="58" name="Прямая соединительная линия 57"/>
                      <p:cNvCxnSpPr/>
                      <p:nvPr/>
                    </p:nvCxnSpPr>
                    <p:spPr>
                      <a:xfrm flipH="1">
                        <a:off x="1021080" y="3607812"/>
                        <a:ext cx="7620" cy="9144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9" name="Прямая соединительная линия 58"/>
                      <p:cNvCxnSpPr/>
                      <p:nvPr/>
                    </p:nvCxnSpPr>
                    <p:spPr>
                      <a:xfrm flipH="1">
                        <a:off x="1062990" y="3695184"/>
                        <a:ext cx="7620" cy="9144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Прямая соединительная линия 59"/>
                      <p:cNvCxnSpPr/>
                      <p:nvPr/>
                    </p:nvCxnSpPr>
                    <p:spPr>
                      <a:xfrm flipH="1">
                        <a:off x="1112520" y="3786624"/>
                        <a:ext cx="7620" cy="9144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Прямая соединительная линия 60"/>
                      <p:cNvCxnSpPr/>
                      <p:nvPr/>
                    </p:nvCxnSpPr>
                    <p:spPr>
                      <a:xfrm flipH="1">
                        <a:off x="979170" y="3516372"/>
                        <a:ext cx="7620" cy="91440"/>
                      </a:xfrm>
                      <a:prstGeom prst="line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3" name="Прямая соединительная линия 52"/>
                    <p:cNvCxnSpPr>
                      <a:stCxn id="49" idx="0"/>
                    </p:cNvCxnSpPr>
                    <p:nvPr/>
                  </p:nvCxnSpPr>
                  <p:spPr>
                    <a:xfrm flipV="1">
                      <a:off x="1297007" y="2202180"/>
                      <a:ext cx="87630" cy="1958340"/>
                    </a:xfrm>
                    <a:prstGeom prst="line">
                      <a:avLst/>
                    </a:prstGeom>
                    <a:grpFill/>
                    <a:ln w="635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988397" y="3994656"/>
                    <a:ext cx="331470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i="1" dirty="0" smtClean="0">
                        <a:latin typeface="Times New Roman" pitchFamily="18" charset="0"/>
                        <a:cs typeface="Times New Roman" pitchFamily="18" charset="0"/>
                      </a:rPr>
                      <a:t>O</a:t>
                    </a:r>
                    <a:endParaRPr lang="ru-RU" i="1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  <p:cxnSp>
              <p:nvCxnSpPr>
                <p:cNvPr id="69" name="Прямая соединительная линия 68"/>
                <p:cNvCxnSpPr>
                  <a:stCxn id="30" idx="2"/>
                  <a:endCxn id="30" idx="6"/>
                </p:cNvCxnSpPr>
                <p:nvPr/>
              </p:nvCxnSpPr>
              <p:spPr>
                <a:xfrm>
                  <a:off x="538013" y="3023850"/>
                  <a:ext cx="1676400" cy="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Овальная выноска 70"/>
              <p:cNvSpPr/>
              <p:nvPr/>
            </p:nvSpPr>
            <p:spPr>
              <a:xfrm>
                <a:off x="800903" y="2219099"/>
                <a:ext cx="1416517" cy="492145"/>
              </a:xfrm>
              <a:prstGeom prst="wedgeEllipseCallout">
                <a:avLst>
                  <a:gd name="adj1" fmla="val -27910"/>
                  <a:gd name="adj2" fmla="val 101550"/>
                </a:avLst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882818" y="2258878"/>
                <a:ext cx="1261110" cy="43858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b="1" dirty="0">
                    <a:latin typeface="Times New Roman" pitchFamily="18" charset="0"/>
                    <a:cs typeface="Times New Roman" pitchFamily="18" charset="0"/>
                  </a:rPr>
                  <a:t>Неподвижный аксоид</a:t>
                </a:r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608851" y="893420"/>
            <a:ext cx="10594992" cy="1107979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Ось, вокруг которой следует вращать тело для перевода его из одного положения в другое, бесконечно близкое первому, называют </a:t>
            </a: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мгновенной осью вращения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Любое движение вокруг неподвижной точки можно заменить последовательностью вращений вокруг совокупности мгновенных осей. </a:t>
            </a:r>
            <a:endParaRPr lang="ru-RU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sp>
        <p:nvSpPr>
          <p:cNvPr id="8" name="Заголовок 12"/>
          <p:cNvSpPr>
            <a:spLocks noGrp="1"/>
          </p:cNvSpPr>
          <p:nvPr>
            <p:ph type="title"/>
          </p:nvPr>
        </p:nvSpPr>
        <p:spPr>
          <a:xfrm>
            <a:off x="477769" y="304737"/>
            <a:ext cx="8437633" cy="624331"/>
          </a:xfrm>
        </p:spPr>
        <p:txBody>
          <a:bodyPr rtlCol="0">
            <a:noAutofit/>
          </a:bodyPr>
          <a:lstStyle/>
          <a:p>
            <a:r>
              <a:rPr lang="ru-RU" sz="27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Мгновенная ось вращения. Аксоиды.</a:t>
            </a:r>
            <a: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7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361953" y="69876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361953" y="788537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41324" y="1897649"/>
            <a:ext cx="5881205" cy="1107992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Геометрическое место мгновенных осей относительно неподвижных осей называется </a:t>
            </a: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неподвижным аксоидом</a:t>
            </a:r>
            <a:r>
              <a:rPr lang="ru-RU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Неподвижный аксоид является конической поверхностью с вершиной в неподвижной точке тела.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2" name="Группа 81"/>
          <p:cNvGrpSpPr/>
          <p:nvPr/>
        </p:nvGrpSpPr>
        <p:grpSpPr>
          <a:xfrm>
            <a:off x="1700729" y="2354107"/>
            <a:ext cx="3824481" cy="3310579"/>
            <a:chOff x="1561399" y="2219099"/>
            <a:chExt cx="2868361" cy="2482934"/>
          </a:xfrm>
        </p:grpSpPr>
        <p:grpSp>
          <p:nvGrpSpPr>
            <p:cNvPr id="80" name="Группа 79"/>
            <p:cNvGrpSpPr/>
            <p:nvPr/>
          </p:nvGrpSpPr>
          <p:grpSpPr>
            <a:xfrm>
              <a:off x="1561399" y="2219099"/>
              <a:ext cx="2868361" cy="2482934"/>
              <a:chOff x="1561399" y="2219099"/>
              <a:chExt cx="2868361" cy="2482934"/>
            </a:xfrm>
          </p:grpSpPr>
          <p:cxnSp>
            <p:nvCxnSpPr>
              <p:cNvPr id="75" name="Прямая соединительная линия 74"/>
              <p:cNvCxnSpPr/>
              <p:nvPr/>
            </p:nvCxnSpPr>
            <p:spPr>
              <a:xfrm flipV="1">
                <a:off x="1561399" y="2720543"/>
                <a:ext cx="1179896" cy="19814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Овальная выноска 78"/>
              <p:cNvSpPr/>
              <p:nvPr/>
            </p:nvSpPr>
            <p:spPr>
              <a:xfrm>
                <a:off x="2778760" y="2219099"/>
                <a:ext cx="1651000" cy="492145"/>
              </a:xfrm>
              <a:prstGeom prst="wedgeEllipseCallout">
                <a:avLst>
                  <a:gd name="adj1" fmla="val -54679"/>
                  <a:gd name="adj2" fmla="val 6662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81" name="TextBox 80"/>
            <p:cNvSpPr txBox="1"/>
            <p:nvPr/>
          </p:nvSpPr>
          <p:spPr>
            <a:xfrm>
              <a:off x="2853241" y="2234338"/>
              <a:ext cx="1551569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b="1" dirty="0">
                  <a:latin typeface="Times New Roman" pitchFamily="18" charset="0"/>
                  <a:cs typeface="Times New Roman" pitchFamily="18" charset="0"/>
                </a:rPr>
                <a:t>Мгновенная ось вращения</a:t>
              </a:r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1700728" y="3627373"/>
            <a:ext cx="3171101" cy="2366673"/>
            <a:chOff x="1561399" y="3174048"/>
            <a:chExt cx="2378326" cy="1775005"/>
          </a:xfrm>
          <a:noFill/>
        </p:grpSpPr>
        <p:sp>
          <p:nvSpPr>
            <p:cNvPr id="97" name="Овальная выноска 96"/>
            <p:cNvSpPr/>
            <p:nvPr/>
          </p:nvSpPr>
          <p:spPr>
            <a:xfrm rot="10800000">
              <a:off x="2560057" y="4470511"/>
              <a:ext cx="1333763" cy="478542"/>
            </a:xfrm>
            <a:prstGeom prst="wedgeEllipseCallout">
              <a:avLst>
                <a:gd name="adj1" fmla="val 62909"/>
                <a:gd name="adj2" fmla="val 74718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9" name="Группа 98"/>
            <p:cNvGrpSpPr/>
            <p:nvPr/>
          </p:nvGrpSpPr>
          <p:grpSpPr>
            <a:xfrm>
              <a:off x="1561399" y="3174048"/>
              <a:ext cx="2378326" cy="1751130"/>
              <a:chOff x="1561399" y="3174048"/>
              <a:chExt cx="2378326" cy="1751130"/>
            </a:xfrm>
            <a:grpFill/>
          </p:grpSpPr>
          <p:grpSp>
            <p:nvGrpSpPr>
              <p:cNvPr id="96" name="Группа 95"/>
              <p:cNvGrpSpPr/>
              <p:nvPr/>
            </p:nvGrpSpPr>
            <p:grpSpPr>
              <a:xfrm>
                <a:off x="1561399" y="3174048"/>
                <a:ext cx="1864993" cy="1535734"/>
                <a:chOff x="1561399" y="3174048"/>
                <a:chExt cx="1864993" cy="1535734"/>
              </a:xfrm>
              <a:grpFill/>
            </p:grpSpPr>
            <p:grpSp>
              <p:nvGrpSpPr>
                <p:cNvPr id="93" name="Группа 92"/>
                <p:cNvGrpSpPr/>
                <p:nvPr/>
              </p:nvGrpSpPr>
              <p:grpSpPr>
                <a:xfrm>
                  <a:off x="1561399" y="3272790"/>
                  <a:ext cx="1864993" cy="1436992"/>
                  <a:chOff x="1561399" y="3272790"/>
                  <a:chExt cx="1864993" cy="1436992"/>
                </a:xfrm>
                <a:grpFill/>
              </p:grpSpPr>
              <p:sp>
                <p:nvSpPr>
                  <p:cNvPr id="46" name="Овал 45"/>
                  <p:cNvSpPr/>
                  <p:nvPr/>
                </p:nvSpPr>
                <p:spPr>
                  <a:xfrm rot="2691454">
                    <a:off x="2313872" y="3351139"/>
                    <a:ext cx="1112520" cy="430530"/>
                  </a:xfrm>
                  <a:prstGeom prst="ellipse">
                    <a:avLst/>
                  </a:prstGeom>
                  <a:grp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grpSp>
                <p:nvGrpSpPr>
                  <p:cNvPr id="92" name="Группа 91"/>
                  <p:cNvGrpSpPr/>
                  <p:nvPr/>
                </p:nvGrpSpPr>
                <p:grpSpPr>
                  <a:xfrm>
                    <a:off x="1561399" y="3272790"/>
                    <a:ext cx="1690111" cy="1436992"/>
                    <a:chOff x="1561399" y="3272790"/>
                    <a:chExt cx="1690111" cy="1436992"/>
                  </a:xfrm>
                  <a:grpFill/>
                </p:grpSpPr>
                <p:cxnSp>
                  <p:nvCxnSpPr>
                    <p:cNvPr id="48" name="Прямая соединительная линия 47"/>
                    <p:cNvCxnSpPr/>
                    <p:nvPr/>
                  </p:nvCxnSpPr>
                  <p:spPr>
                    <a:xfrm flipV="1">
                      <a:off x="1561399" y="3966509"/>
                      <a:ext cx="1690111" cy="743273"/>
                    </a:xfrm>
                    <a:prstGeom prst="line">
                      <a:avLst/>
                    </a:prstGeom>
                    <a:grp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Прямая соединительная линия 90"/>
                    <p:cNvCxnSpPr/>
                    <p:nvPr/>
                  </p:nvCxnSpPr>
                  <p:spPr>
                    <a:xfrm flipV="1">
                      <a:off x="1561399" y="3272790"/>
                      <a:ext cx="1618447" cy="1429243"/>
                    </a:xfrm>
                    <a:prstGeom prst="line">
                      <a:avLst/>
                    </a:prstGeom>
                    <a:grpFill/>
                    <a:ln w="635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95" name="Прямая соединительная линия 94"/>
                <p:cNvCxnSpPr>
                  <a:stCxn id="46" idx="2"/>
                  <a:endCxn id="46" idx="6"/>
                </p:cNvCxnSpPr>
                <p:nvPr/>
              </p:nvCxnSpPr>
              <p:spPr>
                <a:xfrm>
                  <a:off x="2475820" y="3174048"/>
                  <a:ext cx="788624" cy="78471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TextBox 97"/>
              <p:cNvSpPr txBox="1"/>
              <p:nvPr/>
            </p:nvSpPr>
            <p:spPr>
              <a:xfrm>
                <a:off x="2560056" y="4486597"/>
                <a:ext cx="1379669" cy="43858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b="1" dirty="0">
                    <a:latin typeface="Times New Roman" pitchFamily="18" charset="0"/>
                    <a:cs typeface="Times New Roman" pitchFamily="18" charset="0"/>
                  </a:rPr>
                  <a:t>Подвижный аксоид</a:t>
                </a:r>
              </a:p>
            </p:txBody>
          </p:sp>
        </p:grpSp>
      </p:grpSp>
      <p:sp>
        <p:nvSpPr>
          <p:cNvPr id="104" name="TextBox 103"/>
          <p:cNvSpPr txBox="1"/>
          <p:nvPr/>
        </p:nvSpPr>
        <p:spPr>
          <a:xfrm>
            <a:off x="5741324" y="3154337"/>
            <a:ext cx="5730240" cy="1107992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Геометрическое место мгновенных осей вращения в движущемся теле называется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подвижным аксоидом.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Как и неподвижный, подвижный аксоид представляет собой коническую поверхность с вершиной в неподвижной точке.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741325" y="4539768"/>
            <a:ext cx="5881204" cy="1107992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При вращении твердого тела, связанный с ним подвижный аксоид катится без скольжения по неподвижному аксоиду и их общая образующая в каждый момент времени является мгновенной осью вращения тела.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45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4" grpId="0"/>
      <p:bldP spid="1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1453268" y="1833037"/>
            <a:ext cx="1463414" cy="2400447"/>
            <a:chOff x="1453268" y="1833037"/>
            <a:chExt cx="1463414" cy="2400447"/>
          </a:xfrm>
        </p:grpSpPr>
        <p:sp>
          <p:nvSpPr>
            <p:cNvPr id="54" name="Овал 53"/>
            <p:cNvSpPr/>
            <p:nvPr/>
          </p:nvSpPr>
          <p:spPr>
            <a:xfrm>
              <a:off x="2553902" y="4006139"/>
              <a:ext cx="110074" cy="1041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" name="Группа 1"/>
            <p:cNvGrpSpPr/>
            <p:nvPr/>
          </p:nvGrpSpPr>
          <p:grpSpPr>
            <a:xfrm>
              <a:off x="1453268" y="1833037"/>
              <a:ext cx="1463414" cy="2400447"/>
              <a:chOff x="1453268" y="1833037"/>
              <a:chExt cx="1463414" cy="2400447"/>
            </a:xfrm>
          </p:grpSpPr>
          <p:sp>
            <p:nvSpPr>
              <p:cNvPr id="53" name="Полилиния 52"/>
              <p:cNvSpPr/>
              <p:nvPr/>
            </p:nvSpPr>
            <p:spPr>
              <a:xfrm rot="20479830">
                <a:off x="1453268" y="1833037"/>
                <a:ext cx="1463414" cy="2258013"/>
              </a:xfrm>
              <a:custGeom>
                <a:avLst/>
                <a:gdLst>
                  <a:gd name="connsiteX0" fmla="*/ 84097 w 607823"/>
                  <a:gd name="connsiteY0" fmla="*/ 68580 h 991101"/>
                  <a:gd name="connsiteX1" fmla="*/ 277 w 607823"/>
                  <a:gd name="connsiteY1" fmla="*/ 228600 h 991101"/>
                  <a:gd name="connsiteX2" fmla="*/ 57427 w 607823"/>
                  <a:gd name="connsiteY2" fmla="*/ 518160 h 991101"/>
                  <a:gd name="connsiteX3" fmla="*/ 68857 w 607823"/>
                  <a:gd name="connsiteY3" fmla="*/ 769620 h 991101"/>
                  <a:gd name="connsiteX4" fmla="*/ 274597 w 607823"/>
                  <a:gd name="connsiteY4" fmla="*/ 982980 h 991101"/>
                  <a:gd name="connsiteX5" fmla="*/ 461287 w 607823"/>
                  <a:gd name="connsiteY5" fmla="*/ 925830 h 991101"/>
                  <a:gd name="connsiteX6" fmla="*/ 507007 w 607823"/>
                  <a:gd name="connsiteY6" fmla="*/ 731520 h 991101"/>
                  <a:gd name="connsiteX7" fmla="*/ 602257 w 607823"/>
                  <a:gd name="connsiteY7" fmla="*/ 571500 h 991101"/>
                  <a:gd name="connsiteX8" fmla="*/ 583207 w 607823"/>
                  <a:gd name="connsiteY8" fmla="*/ 381000 h 991101"/>
                  <a:gd name="connsiteX9" fmla="*/ 472717 w 607823"/>
                  <a:gd name="connsiteY9" fmla="*/ 213360 h 991101"/>
                  <a:gd name="connsiteX10" fmla="*/ 438427 w 607823"/>
                  <a:gd name="connsiteY10" fmla="*/ 45720 h 991101"/>
                  <a:gd name="connsiteX11" fmla="*/ 312697 w 607823"/>
                  <a:gd name="connsiteY11" fmla="*/ 0 h 991101"/>
                  <a:gd name="connsiteX12" fmla="*/ 164107 w 607823"/>
                  <a:gd name="connsiteY12" fmla="*/ 45720 h 991101"/>
                  <a:gd name="connsiteX13" fmla="*/ 84097 w 607823"/>
                  <a:gd name="connsiteY13" fmla="*/ 68580 h 991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07823" h="991101">
                    <a:moveTo>
                      <a:pt x="84097" y="68580"/>
                    </a:moveTo>
                    <a:cubicBezTo>
                      <a:pt x="56792" y="99060"/>
                      <a:pt x="4722" y="153670"/>
                      <a:pt x="277" y="228600"/>
                    </a:cubicBezTo>
                    <a:cubicBezTo>
                      <a:pt x="-4168" y="303530"/>
                      <a:pt x="45997" y="427990"/>
                      <a:pt x="57427" y="518160"/>
                    </a:cubicBezTo>
                    <a:cubicBezTo>
                      <a:pt x="68857" y="608330"/>
                      <a:pt x="32662" y="692150"/>
                      <a:pt x="68857" y="769620"/>
                    </a:cubicBezTo>
                    <a:cubicBezTo>
                      <a:pt x="105052" y="847090"/>
                      <a:pt x="209192" y="956945"/>
                      <a:pt x="274597" y="982980"/>
                    </a:cubicBezTo>
                    <a:cubicBezTo>
                      <a:pt x="340002" y="1009015"/>
                      <a:pt x="422552" y="967740"/>
                      <a:pt x="461287" y="925830"/>
                    </a:cubicBezTo>
                    <a:cubicBezTo>
                      <a:pt x="500022" y="883920"/>
                      <a:pt x="483512" y="790575"/>
                      <a:pt x="507007" y="731520"/>
                    </a:cubicBezTo>
                    <a:cubicBezTo>
                      <a:pt x="530502" y="672465"/>
                      <a:pt x="589557" y="629920"/>
                      <a:pt x="602257" y="571500"/>
                    </a:cubicBezTo>
                    <a:cubicBezTo>
                      <a:pt x="614957" y="513080"/>
                      <a:pt x="604797" y="440690"/>
                      <a:pt x="583207" y="381000"/>
                    </a:cubicBezTo>
                    <a:cubicBezTo>
                      <a:pt x="561617" y="321310"/>
                      <a:pt x="496847" y="269240"/>
                      <a:pt x="472717" y="213360"/>
                    </a:cubicBezTo>
                    <a:cubicBezTo>
                      <a:pt x="448587" y="157480"/>
                      <a:pt x="465097" y="81280"/>
                      <a:pt x="438427" y="45720"/>
                    </a:cubicBezTo>
                    <a:cubicBezTo>
                      <a:pt x="411757" y="10160"/>
                      <a:pt x="358417" y="0"/>
                      <a:pt x="312697" y="0"/>
                    </a:cubicBezTo>
                    <a:cubicBezTo>
                      <a:pt x="266977" y="0"/>
                      <a:pt x="202842" y="36830"/>
                      <a:pt x="164107" y="45720"/>
                    </a:cubicBezTo>
                    <a:cubicBezTo>
                      <a:pt x="125372" y="54610"/>
                      <a:pt x="111402" y="38100"/>
                      <a:pt x="84097" y="6858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shade val="30000"/>
                      <a:satMod val="115000"/>
                    </a:schemeClr>
                  </a:gs>
                  <a:gs pos="50000">
                    <a:schemeClr val="accent1">
                      <a:lumMod val="40000"/>
                      <a:lumOff val="60000"/>
                      <a:shade val="67500"/>
                      <a:satMod val="115000"/>
                    </a:schemeClr>
                  </a:gs>
                  <a:gs pos="100000">
                    <a:schemeClr val="accent1">
                      <a:lumMod val="40000"/>
                      <a:lumOff val="60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Равнобедренный треугольник 54"/>
              <p:cNvSpPr/>
              <p:nvPr/>
            </p:nvSpPr>
            <p:spPr>
              <a:xfrm>
                <a:off x="2553903" y="4110300"/>
                <a:ext cx="110074" cy="9290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50" name="Прямая соединительная линия 49"/>
              <p:cNvCxnSpPr/>
              <p:nvPr/>
            </p:nvCxnSpPr>
            <p:spPr>
              <a:xfrm flipH="1">
                <a:off x="2554304" y="4203208"/>
                <a:ext cx="15719" cy="302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/>
              <p:cNvCxnSpPr/>
              <p:nvPr/>
            </p:nvCxnSpPr>
            <p:spPr>
              <a:xfrm flipH="1">
                <a:off x="2593220" y="4203208"/>
                <a:ext cx="15719" cy="302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/>
              <p:cNvCxnSpPr/>
              <p:nvPr/>
            </p:nvCxnSpPr>
            <p:spPr>
              <a:xfrm flipH="1">
                <a:off x="2628738" y="4203208"/>
                <a:ext cx="15719" cy="302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cxnSp>
        <p:nvCxnSpPr>
          <p:cNvPr id="39" name="Прямая со стрелкой 38"/>
          <p:cNvCxnSpPr>
            <a:stCxn id="54" idx="0"/>
          </p:cNvCxnSpPr>
          <p:nvPr/>
        </p:nvCxnSpPr>
        <p:spPr>
          <a:xfrm flipV="1">
            <a:off x="2608940" y="1418030"/>
            <a:ext cx="27658" cy="2588109"/>
          </a:xfrm>
          <a:prstGeom prst="straightConnector1">
            <a:avLst/>
          </a:prstGeom>
          <a:ln w="12700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54" idx="5"/>
          </p:cNvCxnSpPr>
          <p:nvPr/>
        </p:nvCxnSpPr>
        <p:spPr>
          <a:xfrm>
            <a:off x="2647857" y="4095046"/>
            <a:ext cx="1338688" cy="674787"/>
          </a:xfrm>
          <a:prstGeom prst="straightConnector1">
            <a:avLst/>
          </a:prstGeom>
          <a:ln w="12700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 flipH="1" flipV="1">
            <a:off x="965360" y="1989186"/>
            <a:ext cx="1596804" cy="2016952"/>
          </a:xfrm>
          <a:prstGeom prst="straightConnector1">
            <a:avLst/>
          </a:prstGeom>
          <a:ln w="12700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Прямоугольник 41"/>
          <p:cNvSpPr/>
          <p:nvPr/>
        </p:nvSpPr>
        <p:spPr>
          <a:xfrm rot="19322564">
            <a:off x="1926163" y="2099990"/>
            <a:ext cx="858982" cy="189492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/>
          <p:cNvSpPr/>
          <p:nvPr/>
        </p:nvSpPr>
        <p:spPr>
          <a:xfrm rot="5400000">
            <a:off x="2349560" y="3484452"/>
            <a:ext cx="1201700" cy="663871"/>
          </a:xfrm>
          <a:prstGeom prst="parallelogram">
            <a:avLst>
              <a:gd name="adj" fmla="val 49473"/>
            </a:avLst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 flipH="1" flipV="1">
            <a:off x="1894919" y="1228020"/>
            <a:ext cx="696990" cy="27781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stCxn id="54" idx="1"/>
          </p:cNvCxnSpPr>
          <p:nvPr/>
        </p:nvCxnSpPr>
        <p:spPr>
          <a:xfrm flipH="1" flipV="1">
            <a:off x="1428962" y="2577101"/>
            <a:ext cx="1141060" cy="14442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>
            <a:stCxn id="54" idx="0"/>
          </p:cNvCxnSpPr>
          <p:nvPr/>
        </p:nvCxnSpPr>
        <p:spPr>
          <a:xfrm flipV="1">
            <a:off x="2608940" y="3215538"/>
            <a:ext cx="9535" cy="79060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>
            <a:stCxn id="54" idx="5"/>
          </p:cNvCxnSpPr>
          <p:nvPr/>
        </p:nvCxnSpPr>
        <p:spPr>
          <a:xfrm>
            <a:off x="2647857" y="4095046"/>
            <a:ext cx="634490" cy="32219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flipH="1" flipV="1">
            <a:off x="2107522" y="2038616"/>
            <a:ext cx="484386" cy="196752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07522" y="3926108"/>
            <a:ext cx="32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О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83517" y="4670974"/>
            <a:ext cx="30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К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63977" y="1298021"/>
            <a:ext cx="44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z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6447" y="1930040"/>
            <a:ext cx="60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Z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Выгнутая влево стрелка 20"/>
          <p:cNvSpPr/>
          <p:nvPr/>
        </p:nvSpPr>
        <p:spPr>
          <a:xfrm rot="20493648">
            <a:off x="1861804" y="1597986"/>
            <a:ext cx="275374" cy="210689"/>
          </a:xfrm>
          <a:prstGeom prst="curvedRightArrow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2" name="Выгнутая влево стрелка 21"/>
          <p:cNvSpPr/>
          <p:nvPr/>
        </p:nvSpPr>
        <p:spPr>
          <a:xfrm>
            <a:off x="2508585" y="1935515"/>
            <a:ext cx="228367" cy="211589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3" name="Выгнутая влево стрелка 22"/>
          <p:cNvSpPr/>
          <p:nvPr/>
        </p:nvSpPr>
        <p:spPr>
          <a:xfrm rot="6650622">
            <a:off x="3436020" y="4419114"/>
            <a:ext cx="240258" cy="205915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4" name="Выгнутая влево стрелка 23"/>
          <p:cNvSpPr/>
          <p:nvPr/>
        </p:nvSpPr>
        <p:spPr>
          <a:xfrm rot="19565852">
            <a:off x="1044444" y="2141105"/>
            <a:ext cx="260839" cy="200188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/>
              <p:cNvSpPr/>
              <p:nvPr/>
            </p:nvSpPr>
            <p:spPr>
              <a:xfrm>
                <a:off x="2013476" y="1242953"/>
                <a:ext cx="4093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𝜔</m:t>
                      </m:r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Прямоугольник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476" y="1242953"/>
                <a:ext cx="409343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/>
              <p:cNvSpPr/>
              <p:nvPr/>
            </p:nvSpPr>
            <p:spPr>
              <a:xfrm>
                <a:off x="1932260" y="2756565"/>
                <a:ext cx="4093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Прямоугольник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60" y="2756565"/>
                <a:ext cx="409343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/>
              <p:cNvSpPr/>
              <p:nvPr/>
            </p:nvSpPr>
            <p:spPr>
              <a:xfrm>
                <a:off x="1123186" y="1777459"/>
                <a:ext cx="3995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86" y="1777459"/>
                <a:ext cx="399598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/>
              <p:cNvSpPr/>
              <p:nvPr/>
            </p:nvSpPr>
            <p:spPr>
              <a:xfrm>
                <a:off x="2716925" y="1817745"/>
                <a:ext cx="4028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Прямоугольник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925" y="1817745"/>
                <a:ext cx="402867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/>
              <p:cNvSpPr/>
              <p:nvPr/>
            </p:nvSpPr>
            <p:spPr>
              <a:xfrm>
                <a:off x="3557051" y="4220712"/>
                <a:ext cx="3741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051" y="4220712"/>
                <a:ext cx="374141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2534343" y="4183885"/>
                <a:ext cx="511165" cy="3821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343" y="4183885"/>
                <a:ext cx="511165" cy="382156"/>
              </a:xfrm>
              <a:prstGeom prst="rect">
                <a:avLst/>
              </a:prstGeom>
              <a:blipFill rotWithShape="1">
                <a:blip r:embed="rId8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1510246" y="2419626"/>
                <a:ext cx="5684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𝜑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246" y="2419626"/>
                <a:ext cx="568489" cy="369332"/>
              </a:xfrm>
              <a:prstGeom prst="rect">
                <a:avLst/>
              </a:prstGeom>
              <a:blipFill rotWithShape="1">
                <a:blip r:embed="rId9"/>
                <a:stretch>
                  <a:fillRect r="-27957" b="-4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2518449" y="3306976"/>
                <a:ext cx="536237" cy="3821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𝜓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449" y="3306976"/>
                <a:ext cx="536237" cy="382156"/>
              </a:xfrm>
              <a:prstGeom prst="rect">
                <a:avLst/>
              </a:prstGeom>
              <a:blipFill rotWithShape="1">
                <a:blip r:embed="rId10"/>
                <a:stretch>
                  <a:fillRect r="-29545" b="-12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59867" y="1042046"/>
            <a:ext cx="1747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Мгновенная </a:t>
            </a:r>
          </a:p>
          <a:p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ось вращения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784181" y="1341993"/>
            <a:ext cx="150045" cy="7344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Прямоугольник 55"/>
              <p:cNvSpPr/>
              <p:nvPr/>
            </p:nvSpPr>
            <p:spPr>
              <a:xfrm>
                <a:off x="4769899" y="3904970"/>
                <a:ext cx="6096000" cy="557829"/>
              </a:xfrm>
              <a:prstGeom prst="rect">
                <a:avLst/>
              </a:prstGeom>
            </p:spPr>
            <p:txBody>
              <a:bodyPr lIns="121902" tIns="60952" rIns="121902" bIns="60952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𝜃</m:t>
                        </m:r>
                      </m:e>
                    </m:acc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–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вектор угловой скорости нутации </a:t>
                </a:r>
              </a:p>
            </p:txBody>
          </p:sp>
        </mc:Choice>
        <mc:Fallback xmlns="">
          <p:sp>
            <p:nvSpPr>
              <p:cNvPr id="56" name="Прямоугольник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899" y="3904970"/>
                <a:ext cx="6096000" cy="557829"/>
              </a:xfrm>
              <a:prstGeom prst="rect">
                <a:avLst/>
              </a:prstGeom>
              <a:blipFill rotWithShape="1">
                <a:blip r:embed="rId11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Прямоугольник 56"/>
              <p:cNvSpPr/>
              <p:nvPr/>
            </p:nvSpPr>
            <p:spPr>
              <a:xfrm>
                <a:off x="4638040" y="4467881"/>
                <a:ext cx="7416800" cy="406185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𝑘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, 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, 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𝐾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– единичные векторы осей О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z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ОК и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OZ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соответственно.</a:t>
                </a:r>
              </a:p>
            </p:txBody>
          </p:sp>
        </mc:Choice>
        <mc:Fallback xmlns="">
          <p:sp>
            <p:nvSpPr>
              <p:cNvPr id="57" name="Прямоугольник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040" y="4467881"/>
                <a:ext cx="7416800" cy="406185"/>
              </a:xfrm>
              <a:prstGeom prst="rect">
                <a:avLst/>
              </a:prstGeom>
              <a:blipFill rotWithShape="1">
                <a:blip r:embed="rId12"/>
                <a:stretch>
                  <a:fillRect l="-82" b="-134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Прямоугольник 57"/>
              <p:cNvSpPr/>
              <p:nvPr/>
            </p:nvSpPr>
            <p:spPr>
              <a:xfrm>
                <a:off x="4709160" y="4929234"/>
                <a:ext cx="7345680" cy="936138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Мгновенная угловая скорость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равна векторной сумме угловых скоростей составляющих движений: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𝜑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𝜓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8" name="Прямоугольник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60" y="4929234"/>
                <a:ext cx="7345680" cy="936138"/>
              </a:xfrm>
              <a:prstGeom prst="rect">
                <a:avLst/>
              </a:prstGeom>
              <a:blipFill rotWithShape="1">
                <a:blip r:embed="rId13"/>
                <a:stretch>
                  <a:fillRect l="-83" b="-32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Прямоугольник 58"/>
              <p:cNvSpPr/>
              <p:nvPr/>
            </p:nvSpPr>
            <p:spPr>
              <a:xfrm>
                <a:off x="772160" y="5875910"/>
                <a:ext cx="11104880" cy="393746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Ось, совпадающая с вектором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является мгновенной осью вращения твердого тела вокруг неподвижной точки О. </a:t>
                </a:r>
              </a:p>
            </p:txBody>
          </p:sp>
        </mc:Choice>
        <mc:Fallback xmlns="">
          <p:sp>
            <p:nvSpPr>
              <p:cNvPr id="59" name="Прямоугольник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60" y="5875910"/>
                <a:ext cx="11104880" cy="393746"/>
              </a:xfrm>
              <a:prstGeom prst="rect">
                <a:avLst/>
              </a:prstGeom>
              <a:blipFill rotWithShape="1">
                <a:blip r:embed="rId14"/>
                <a:stretch>
                  <a:fillRect l="-5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"/>
          <p:cNvSpPr>
            <a:spLocks noChangeArrowheads="1"/>
          </p:cNvSpPr>
          <p:nvPr/>
        </p:nvSpPr>
        <p:spPr bwMode="auto">
          <a:xfrm>
            <a:off x="4233615" y="927743"/>
            <a:ext cx="6447208" cy="118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02" tIns="60952" rIns="121902" bIns="60952"/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Мгновенная угловая скорость 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твердого тела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 сферическом движении – вектор, направленный вдоль мгновенной оси вращения так, что с конца его поворот тела виден против часовой стрелки, модуль которого равен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Прямоугольник 88"/>
              <p:cNvSpPr/>
              <p:nvPr/>
            </p:nvSpPr>
            <p:spPr>
              <a:xfrm>
                <a:off x="5837631" y="2234744"/>
                <a:ext cx="1769856" cy="678463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  <a:cs typeface="Times New Roman" pitchFamily="18" charset="0"/>
                        </a:rPr>
                        <m:t>𝜔</m:t>
                      </m:r>
                      <m:r>
                        <a:rPr lang="ru-RU" i="1">
                          <a:latin typeface="Cambria Math"/>
                          <a:ea typeface="Cambria Math"/>
                          <a:cs typeface="Times New Roman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i="1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∆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Δ</m:t>
                                  </m:r>
                                  <m:r>
                                    <a:rPr lang="el-GR" i="1" smtClean="0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𝛼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9" name="Прямоугольник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631" y="2234744"/>
                <a:ext cx="1769856" cy="678463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Заголовок 12"/>
          <p:cNvSpPr>
            <a:spLocks noGrp="1"/>
          </p:cNvSpPr>
          <p:nvPr>
            <p:ph type="title"/>
          </p:nvPr>
        </p:nvSpPr>
        <p:spPr>
          <a:xfrm>
            <a:off x="336418" y="304739"/>
            <a:ext cx="9457823" cy="569975"/>
          </a:xfrm>
        </p:spPr>
        <p:txBody>
          <a:bodyPr rtlCol="0">
            <a:noAutofit/>
          </a:bodyPr>
          <a:lstStyle/>
          <a:p>
            <a:r>
              <a:rPr lang="ru-RU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Угловая скорость твердого тела при сферическом движении.</a:t>
            </a:r>
            <a: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700" b="1" i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7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cxnSp>
        <p:nvCxnSpPr>
          <p:cNvPr id="61" name="Прямая соединительная линия 60"/>
          <p:cNvCxnSpPr/>
          <p:nvPr/>
        </p:nvCxnSpPr>
        <p:spPr>
          <a:xfrm>
            <a:off x="361952" y="698768"/>
            <a:ext cx="9300208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361952" y="788529"/>
            <a:ext cx="9300208" cy="9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799664" y="3022377"/>
                <a:ext cx="3827779" cy="5270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–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вектор угловой скорости прецессии 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664" y="3022377"/>
                <a:ext cx="3827779" cy="527067"/>
              </a:xfrm>
              <a:prstGeom prst="rect">
                <a:avLst/>
              </a:prstGeom>
              <a:blipFill rotWithShape="1">
                <a:blip r:embed="rId16"/>
                <a:stretch>
                  <a:fillRect l="-318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4799664" y="3435216"/>
                <a:ext cx="5029967" cy="50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𝜑</m:t>
                        </m:r>
                      </m:e>
                    </m:acc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𝐾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–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вектор угловой скорости собственного вращения</a:t>
                </a: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664" y="3435216"/>
                <a:ext cx="5029967" cy="507831"/>
              </a:xfrm>
              <a:prstGeom prst="rect">
                <a:avLst/>
              </a:prstGeom>
              <a:blipFill rotWithShape="1">
                <a:blip r:embed="rId17"/>
                <a:stretch>
                  <a:fillRect b="-96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65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33" grpId="0"/>
      <p:bldP spid="34" grpId="0"/>
      <p:bldP spid="35" grpId="0"/>
      <p:bldP spid="31" grpId="0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17" grpId="0"/>
      <p:bldP spid="18" grpId="0"/>
      <p:bldP spid="19" grpId="0"/>
      <p:bldP spid="15" grpId="0"/>
      <p:bldP spid="56" grpId="0"/>
      <p:bldP spid="57" grpId="0"/>
      <p:bldP spid="58" grpId="0"/>
      <p:bldP spid="59" grpId="0"/>
      <p:bldP spid="88" grpId="0"/>
      <p:bldP spid="89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914" y="101172"/>
            <a:ext cx="6779053" cy="53346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27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Кинематические уравнения Эйлера.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61953" y="646405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61953" y="788537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H="1">
            <a:off x="2381521" y="3658345"/>
            <a:ext cx="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H="1">
            <a:off x="2382052" y="3658345"/>
            <a:ext cx="20824" cy="40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Группа 104"/>
          <p:cNvGrpSpPr/>
          <p:nvPr/>
        </p:nvGrpSpPr>
        <p:grpSpPr>
          <a:xfrm>
            <a:off x="365246" y="921421"/>
            <a:ext cx="5194492" cy="4509148"/>
            <a:chOff x="466591" y="1292042"/>
            <a:chExt cx="3895869" cy="3381861"/>
          </a:xfrm>
        </p:grpSpPr>
        <p:sp>
          <p:nvSpPr>
            <p:cNvPr id="42" name="TextBox 41"/>
            <p:cNvSpPr txBox="1"/>
            <p:nvPr/>
          </p:nvSpPr>
          <p:spPr>
            <a:xfrm>
              <a:off x="1651270" y="3005759"/>
              <a:ext cx="344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ru-RU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4" name="Группа 103"/>
            <p:cNvGrpSpPr/>
            <p:nvPr/>
          </p:nvGrpSpPr>
          <p:grpSpPr>
            <a:xfrm>
              <a:off x="466591" y="1292042"/>
              <a:ext cx="3895869" cy="3381861"/>
              <a:chOff x="466591" y="1292042"/>
              <a:chExt cx="3895869" cy="3381861"/>
            </a:xfrm>
          </p:grpSpPr>
          <p:grpSp>
            <p:nvGrpSpPr>
              <p:cNvPr id="103" name="Группа 102"/>
              <p:cNvGrpSpPr/>
              <p:nvPr/>
            </p:nvGrpSpPr>
            <p:grpSpPr>
              <a:xfrm>
                <a:off x="466591" y="1292042"/>
                <a:ext cx="3895869" cy="3381861"/>
                <a:chOff x="466591" y="1292042"/>
                <a:chExt cx="3895869" cy="3381861"/>
              </a:xfrm>
            </p:grpSpPr>
            <p:grpSp>
              <p:nvGrpSpPr>
                <p:cNvPr id="102" name="Группа 101"/>
                <p:cNvGrpSpPr/>
                <p:nvPr/>
              </p:nvGrpSpPr>
              <p:grpSpPr>
                <a:xfrm>
                  <a:off x="466591" y="1292042"/>
                  <a:ext cx="3895869" cy="3381861"/>
                  <a:chOff x="466591" y="1292042"/>
                  <a:chExt cx="3895869" cy="3381861"/>
                </a:xfrm>
              </p:grpSpPr>
              <p:grpSp>
                <p:nvGrpSpPr>
                  <p:cNvPr id="99" name="Группа 98"/>
                  <p:cNvGrpSpPr/>
                  <p:nvPr/>
                </p:nvGrpSpPr>
                <p:grpSpPr>
                  <a:xfrm>
                    <a:off x="466591" y="1292042"/>
                    <a:ext cx="3895869" cy="3381861"/>
                    <a:chOff x="466591" y="1292042"/>
                    <a:chExt cx="3895869" cy="3381861"/>
                  </a:xfrm>
                </p:grpSpPr>
                <p:sp>
                  <p:nvSpPr>
                    <p:cNvPr id="41" name="TextBox 40"/>
                    <p:cNvSpPr txBox="1"/>
                    <p:nvPr/>
                  </p:nvSpPr>
                  <p:spPr>
                    <a:xfrm>
                      <a:off x="1726079" y="1292042"/>
                      <a:ext cx="26873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i="1" dirty="0" smtClean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endParaRPr lang="ru-RU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  <p:grpSp>
                  <p:nvGrpSpPr>
                    <p:cNvPr id="98" name="Группа 97"/>
                    <p:cNvGrpSpPr/>
                    <p:nvPr/>
                  </p:nvGrpSpPr>
                  <p:grpSpPr>
                    <a:xfrm>
                      <a:off x="466591" y="1417321"/>
                      <a:ext cx="3895869" cy="3256582"/>
                      <a:chOff x="466591" y="1417321"/>
                      <a:chExt cx="3895869" cy="3256582"/>
                    </a:xfrm>
                  </p:grpSpPr>
                  <p:cxnSp>
                    <p:nvCxnSpPr>
                      <p:cNvPr id="39" name="Прямая со стрелкой 38"/>
                      <p:cNvCxnSpPr/>
                      <p:nvPr/>
                    </p:nvCxnSpPr>
                    <p:spPr>
                      <a:xfrm flipH="1">
                        <a:off x="1563990" y="3209992"/>
                        <a:ext cx="467704" cy="1446089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97" name="Группа 96"/>
                      <p:cNvGrpSpPr/>
                      <p:nvPr/>
                    </p:nvGrpSpPr>
                    <p:grpSpPr>
                      <a:xfrm>
                        <a:off x="466591" y="1417321"/>
                        <a:ext cx="3895869" cy="3256582"/>
                        <a:chOff x="466591" y="1417321"/>
                        <a:chExt cx="3895869" cy="3256582"/>
                      </a:xfrm>
                    </p:grpSpPr>
                    <p:grpSp>
                      <p:nvGrpSpPr>
                        <p:cNvPr id="96" name="Группа 95"/>
                        <p:cNvGrpSpPr/>
                        <p:nvPr/>
                      </p:nvGrpSpPr>
                      <p:grpSpPr>
                        <a:xfrm>
                          <a:off x="466591" y="1417321"/>
                          <a:ext cx="3895869" cy="3256582"/>
                          <a:chOff x="466591" y="1417321"/>
                          <a:chExt cx="3895869" cy="3256582"/>
                        </a:xfrm>
                      </p:grpSpPr>
                      <p:sp>
                        <p:nvSpPr>
                          <p:cNvPr id="40" name="TextBox 39"/>
                          <p:cNvSpPr txBox="1"/>
                          <p:nvPr/>
                        </p:nvSpPr>
                        <p:spPr>
                          <a:xfrm>
                            <a:off x="466591" y="4027572"/>
                            <a:ext cx="346710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i="1" dirty="0" smtClean="0">
                                <a:latin typeface="Times New Roman" pitchFamily="18" charset="0"/>
                                <a:cs typeface="Times New Roman" pitchFamily="18" charset="0"/>
                              </a:rPr>
                              <a:t>x</a:t>
                            </a:r>
                            <a:endParaRPr lang="ru-RU" i="1" dirty="0">
                              <a:latin typeface="Times New Roman" pitchFamily="18" charset="0"/>
                              <a:cs typeface="Times New Roman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3" name="TextBox 42"/>
                          <p:cNvSpPr txBox="1"/>
                          <p:nvPr/>
                        </p:nvSpPr>
                        <p:spPr>
                          <a:xfrm>
                            <a:off x="1351671" y="4396904"/>
                            <a:ext cx="261836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i="1" dirty="0" smtClean="0">
                                <a:latin typeface="Times New Roman" pitchFamily="18" charset="0"/>
                                <a:cs typeface="Times New Roman" pitchFamily="18" charset="0"/>
                              </a:rPr>
                              <a:t>K</a:t>
                            </a:r>
                            <a:endParaRPr lang="ru-RU" i="1" dirty="0">
                              <a:latin typeface="Times New Roman" pitchFamily="18" charset="0"/>
                              <a:cs typeface="Times New Roman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9" name="TextBox 58"/>
                          <p:cNvSpPr txBox="1"/>
                          <p:nvPr/>
                        </p:nvSpPr>
                        <p:spPr>
                          <a:xfrm>
                            <a:off x="3975089" y="3067314"/>
                            <a:ext cx="296556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i="1" dirty="0" smtClean="0">
                                <a:latin typeface="Times New Roman" pitchFamily="18" charset="0"/>
                                <a:cs typeface="Times New Roman" pitchFamily="18" charset="0"/>
                              </a:rPr>
                              <a:t>y</a:t>
                            </a:r>
                            <a:endParaRPr lang="ru-RU" i="1" dirty="0">
                              <a:latin typeface="Times New Roman" pitchFamily="18" charset="0"/>
                              <a:cs typeface="Times New Roman" pitchFamily="18" charset="0"/>
                            </a:endParaRPr>
                          </a:p>
                        </p:txBody>
                      </p:sp>
                      <p:grpSp>
                        <p:nvGrpSpPr>
                          <p:cNvPr id="95" name="Группа 94"/>
                          <p:cNvGrpSpPr/>
                          <p:nvPr/>
                        </p:nvGrpSpPr>
                        <p:grpSpPr>
                          <a:xfrm>
                            <a:off x="683052" y="1417321"/>
                            <a:ext cx="3679408" cy="2935528"/>
                            <a:chOff x="683052" y="1417321"/>
                            <a:chExt cx="3679408" cy="2935528"/>
                          </a:xfrm>
                        </p:grpSpPr>
                        <p:grpSp>
                          <p:nvGrpSpPr>
                            <p:cNvPr id="94" name="Группа 93"/>
                            <p:cNvGrpSpPr/>
                            <p:nvPr/>
                          </p:nvGrpSpPr>
                          <p:grpSpPr>
                            <a:xfrm>
                              <a:off x="683052" y="1417321"/>
                              <a:ext cx="3679408" cy="2935528"/>
                              <a:chOff x="683052" y="1417321"/>
                              <a:chExt cx="3679408" cy="2935528"/>
                            </a:xfrm>
                          </p:grpSpPr>
                          <p:grpSp>
                            <p:nvGrpSpPr>
                              <p:cNvPr id="93" name="Группа 92"/>
                              <p:cNvGrpSpPr/>
                              <p:nvPr/>
                            </p:nvGrpSpPr>
                            <p:grpSpPr>
                              <a:xfrm>
                                <a:off x="683052" y="1417321"/>
                                <a:ext cx="3679408" cy="2935528"/>
                                <a:chOff x="683052" y="1417321"/>
                                <a:chExt cx="3679408" cy="2935528"/>
                              </a:xfrm>
                            </p:grpSpPr>
                            <p:grpSp>
                              <p:nvGrpSpPr>
                                <p:cNvPr id="92" name="Группа 91"/>
                                <p:cNvGrpSpPr/>
                                <p:nvPr/>
                              </p:nvGrpSpPr>
                              <p:grpSpPr>
                                <a:xfrm>
                                  <a:off x="683052" y="1417321"/>
                                  <a:ext cx="3679408" cy="2935528"/>
                                  <a:chOff x="683052" y="1417321"/>
                                  <a:chExt cx="3679408" cy="2935528"/>
                                </a:xfrm>
                              </p:grpSpPr>
                              <p:grpSp>
                                <p:nvGrpSpPr>
                                  <p:cNvPr id="91" name="Группа 90"/>
                                  <p:cNvGrpSpPr/>
                                  <p:nvPr/>
                                </p:nvGrpSpPr>
                                <p:grpSpPr>
                                  <a:xfrm>
                                    <a:off x="683052" y="1417321"/>
                                    <a:ext cx="3679408" cy="2935528"/>
                                    <a:chOff x="683052" y="1417321"/>
                                    <a:chExt cx="3679408" cy="2935528"/>
                                  </a:xfrm>
                                </p:grpSpPr>
                                <p:sp>
                                  <p:nvSpPr>
                                    <p:cNvPr id="49" name="Дуга 48"/>
                                    <p:cNvSpPr/>
                                    <p:nvPr/>
                                  </p:nvSpPr>
                                  <p:spPr>
                                    <a:xfrm rot="17875190">
                                      <a:off x="1731624" y="2770040"/>
                                      <a:ext cx="417749" cy="415495"/>
                                    </a:xfrm>
                                    <a:prstGeom prst="arc">
                                      <a:avLst/>
                                    </a:prstGeom>
                                    <a:ln w="12700">
                                      <a:solidFill>
                                        <a:schemeClr val="tx1"/>
                                      </a:solidFill>
                                      <a:headEnd type="stealth"/>
                                    </a:ln>
                                  </p:spPr>
                                  <p:style>
                                    <a:lnRef idx="1">
                                      <a:schemeClr val="accent1"/>
                                    </a:lnRef>
                                    <a:fillRef idx="0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tx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ru-RU"/>
                                    </a:p>
                                  </p:txBody>
                                </p:sp>
                                <p:grpSp>
                                  <p:nvGrpSpPr>
                                    <p:cNvPr id="90" name="Группа 89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683052" y="1417321"/>
                                      <a:ext cx="3679408" cy="2935528"/>
                                      <a:chOff x="683052" y="1417321"/>
                                      <a:chExt cx="3679408" cy="2935528"/>
                                    </a:xfrm>
                                  </p:grpSpPr>
                                  <p:sp>
                                    <p:nvSpPr>
                                      <p:cNvPr id="11" name="Параллелограмм 10"/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683052" y="3199375"/>
                                        <a:ext cx="3263534" cy="1153474"/>
                                      </a:xfrm>
                                      <a:prstGeom prst="parallelogram">
                                        <a:avLst>
                                          <a:gd name="adj" fmla="val 117072"/>
                                        </a:avLst>
                                      </a:prstGeom>
                                      <a:solidFill>
                                        <a:schemeClr val="accent3">
                                          <a:lumMod val="40000"/>
                                          <a:lumOff val="60000"/>
                                          <a:alpha val="51000"/>
                                        </a:schemeClr>
                                      </a:solidFill>
                                      <a:ln w="3175"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50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ru-RU"/>
                                      </a:p>
                                    </p:txBody>
                                  </p:sp>
                                  <p:sp>
                                    <p:nvSpPr>
                                      <p:cNvPr id="10" name="Параллелограмм 65"/>
                                      <p:cNvSpPr/>
                                      <p:nvPr/>
                                    </p:nvSpPr>
                                    <p:spPr>
                                      <a:xfrm rot="19504622">
                                        <a:off x="1002354" y="2843473"/>
                                        <a:ext cx="3360106" cy="932376"/>
                                      </a:xfrm>
                                      <a:custGeom>
                                        <a:avLst/>
                                        <a:gdLst>
                                          <a:gd name="connsiteX0" fmla="*/ 0 w 2617098"/>
                                          <a:gd name="connsiteY0" fmla="*/ 1580784 h 1580784"/>
                                          <a:gd name="connsiteX1" fmla="*/ 449844 w 2617098"/>
                                          <a:gd name="connsiteY1" fmla="*/ 0 h 1580784"/>
                                          <a:gd name="connsiteX2" fmla="*/ 2617098 w 2617098"/>
                                          <a:gd name="connsiteY2" fmla="*/ 0 h 1580784"/>
                                          <a:gd name="connsiteX3" fmla="*/ 2167254 w 2617098"/>
                                          <a:gd name="connsiteY3" fmla="*/ 1580784 h 1580784"/>
                                          <a:gd name="connsiteX4" fmla="*/ 0 w 2617098"/>
                                          <a:gd name="connsiteY4" fmla="*/ 1580784 h 1580784"/>
                                          <a:gd name="connsiteX0" fmla="*/ 0 w 3388519"/>
                                          <a:gd name="connsiteY0" fmla="*/ 935297 h 1580784"/>
                                          <a:gd name="connsiteX1" fmla="*/ 1221265 w 3388519"/>
                                          <a:gd name="connsiteY1" fmla="*/ 0 h 1580784"/>
                                          <a:gd name="connsiteX2" fmla="*/ 3388519 w 3388519"/>
                                          <a:gd name="connsiteY2" fmla="*/ 0 h 1580784"/>
                                          <a:gd name="connsiteX3" fmla="*/ 2938675 w 3388519"/>
                                          <a:gd name="connsiteY3" fmla="*/ 1580784 h 1580784"/>
                                          <a:gd name="connsiteX4" fmla="*/ 0 w 3388519"/>
                                          <a:gd name="connsiteY4" fmla="*/ 935297 h 1580784"/>
                                          <a:gd name="connsiteX0" fmla="*/ 0 w 3388519"/>
                                          <a:gd name="connsiteY0" fmla="*/ 935297 h 935297"/>
                                          <a:gd name="connsiteX1" fmla="*/ 1221265 w 3388519"/>
                                          <a:gd name="connsiteY1" fmla="*/ 0 h 935297"/>
                                          <a:gd name="connsiteX2" fmla="*/ 3388519 w 3388519"/>
                                          <a:gd name="connsiteY2" fmla="*/ 0 h 935297"/>
                                          <a:gd name="connsiteX3" fmla="*/ 2087031 w 3388519"/>
                                          <a:gd name="connsiteY3" fmla="*/ 930400 h 935297"/>
                                          <a:gd name="connsiteX4" fmla="*/ 0 w 3388519"/>
                                          <a:gd name="connsiteY4" fmla="*/ 935297 h 935297"/>
                                        </a:gdLst>
                                        <a:ahLst/>
                                        <a:cxnLst>
                                          <a:cxn ang="0">
                                            <a:pos x="connsiteX0" y="connsiteY0"/>
                                          </a:cxn>
                                          <a:cxn ang="0">
                                            <a:pos x="connsiteX1" y="connsiteY1"/>
                                          </a:cxn>
                                          <a:cxn ang="0">
                                            <a:pos x="connsiteX2" y="connsiteY2"/>
                                          </a:cxn>
                                          <a:cxn ang="0">
                                            <a:pos x="connsiteX3" y="connsiteY3"/>
                                          </a:cxn>
                                          <a:cxn ang="0">
                                            <a:pos x="connsiteX4" y="connsiteY4"/>
                                          </a:cxn>
                                        </a:cxnLst>
                                        <a:rect l="l" t="t" r="r" b="b"/>
                                        <a:pathLst>
                                          <a:path w="3388519" h="935297">
                                            <a:moveTo>
                                              <a:pt x="0" y="935297"/>
                                            </a:moveTo>
                                            <a:lnTo>
                                              <a:pt x="1221265" y="0"/>
                                            </a:lnTo>
                                            <a:lnTo>
                                              <a:pt x="3388519" y="0"/>
                                            </a:lnTo>
                                            <a:lnTo>
                                              <a:pt x="2087031" y="930400"/>
                                            </a:lnTo>
                                            <a:lnTo>
                                              <a:pt x="0" y="935297"/>
                                            </a:lnTo>
                                            <a:close/>
                                          </a:path>
                                        </a:pathLst>
                                      </a:custGeom>
                                      <a:solidFill>
                                        <a:schemeClr val="accent6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n w="3175"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50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ru-RU"/>
                                      </a:p>
                                    </p:txBody>
                                  </p:sp>
                                  <p:grpSp>
                                    <p:nvGrpSpPr>
                                      <p:cNvPr id="21" name="Группа 20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13909" y="3203715"/>
                                        <a:ext cx="1311761" cy="1116552"/>
                                        <a:chOff x="743253" y="3604086"/>
                                        <a:chExt cx="1311761" cy="1116552"/>
                                      </a:xfrm>
                                    </p:grpSpPr>
                                    <p:cxnSp>
                                      <p:nvCxnSpPr>
                                        <p:cNvPr id="22" name="Прямая со стрелкой 21"/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743253" y="3604086"/>
                                          <a:ext cx="1311761" cy="1116552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 w="1270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tailEnd type="arrow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23" name="Прямая соединительная линия 22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929045" y="4504074"/>
                                          <a:ext cx="72008" cy="0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24" name="Прямая соединительная линия 23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965049" y="4470021"/>
                                          <a:ext cx="72008" cy="0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25" name="Прямая соединительная линия 24"/>
                                        <p:cNvCxnSpPr/>
                                        <p:nvPr/>
                                      </p:nvCxnSpPr>
                                      <p:spPr>
                                        <a:xfrm>
                                          <a:off x="1001812" y="4435115"/>
                                          <a:ext cx="72008" cy="0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</p:grpSp>
                                  <p:grpSp>
                                    <p:nvGrpSpPr>
                                      <p:cNvPr id="31" name="Группа 30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1964565" y="1417321"/>
                                        <a:ext cx="81834" cy="1797877"/>
                                        <a:chOff x="2042814" y="1661216"/>
                                        <a:chExt cx="62106" cy="1853734"/>
                                      </a:xfrm>
                                    </p:grpSpPr>
                                    <p:cxnSp>
                                      <p:nvCxnSpPr>
                                        <p:cNvPr id="32" name="Прямая со стрелкой 31"/>
                                        <p:cNvCxnSpPr/>
                                        <p:nvPr/>
                                      </p:nvCxnSpPr>
                                      <p:spPr>
                                        <a:xfrm flipV="1">
                                          <a:off x="2093680" y="1661216"/>
                                          <a:ext cx="11240" cy="1853734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 w="1270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tailEnd type="arrow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33" name="Прямая соединительная линия 32"/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2042978" y="1890579"/>
                                          <a:ext cx="60201" cy="74295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34" name="Прямая соединительная линия 33"/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2042814" y="1972385"/>
                                          <a:ext cx="60201" cy="74295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35" name="Прямая соединительная линия 34"/>
                                        <p:cNvCxnSpPr/>
                                        <p:nvPr/>
                                      </p:nvCxnSpPr>
                                      <p:spPr>
                                        <a:xfrm flipH="1">
                                          <a:off x="2044355" y="1798751"/>
                                          <a:ext cx="60201" cy="74295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</p:grpSp>
                                  <p:cxnSp>
                                    <p:nvCxnSpPr>
                                      <p:cNvPr id="36" name="Прямая со стрелкой 35"/>
                                      <p:cNvCxnSpPr/>
                                      <p:nvPr/>
                                    </p:nvCxnSpPr>
                                    <p:spPr>
                                      <a:xfrm>
                                        <a:off x="2030278" y="3192157"/>
                                        <a:ext cx="265101" cy="851776"/>
                                      </a:xfrm>
                                      <a:prstGeom prst="straightConnector1">
                                        <a:avLst/>
                                      </a:prstGeom>
                                      <a:ln w="12700">
                                        <a:solidFill>
                                          <a:schemeClr val="tx1"/>
                                        </a:solidFill>
                                        <a:tailEnd type="arrow"/>
                                      </a:ln>
                                    </p:spPr>
                                    <p:style>
                                      <a:lnRef idx="1">
                                        <a:schemeClr val="accent1"/>
                                      </a:lnRef>
                                      <a:fillRef idx="0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p:cxnSp>
                                    <p:nvCxnSpPr>
                                      <p:cNvPr id="37" name="Прямая со стрелкой 36"/>
                                      <p:cNvCxnSpPr/>
                                      <p:nvPr/>
                                    </p:nvCxnSpPr>
                                    <p:spPr>
                                      <a:xfrm flipV="1">
                                        <a:off x="2025670" y="1974968"/>
                                        <a:ext cx="1752961" cy="1223215"/>
                                      </a:xfrm>
                                      <a:prstGeom prst="straightConnector1">
                                        <a:avLst/>
                                      </a:prstGeom>
                                      <a:ln w="12700">
                                        <a:solidFill>
                                          <a:schemeClr val="tx1"/>
                                        </a:solidFill>
                                        <a:tailEnd type="arrow"/>
                                      </a:ln>
                                    </p:spPr>
                                    <p:style>
                                      <a:lnRef idx="1">
                                        <a:schemeClr val="accent1"/>
                                      </a:lnRef>
                                      <a:fillRef idx="0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p:cxnSp>
                                    <p:nvCxnSpPr>
                                      <p:cNvPr id="38" name="Прямая со стрелкой 37"/>
                                      <p:cNvCxnSpPr/>
                                      <p:nvPr/>
                                    </p:nvCxnSpPr>
                                    <p:spPr>
                                      <a:xfrm flipH="1" flipV="1">
                                        <a:off x="813301" y="1775460"/>
                                        <a:ext cx="1207099" cy="1422724"/>
                                      </a:xfrm>
                                      <a:prstGeom prst="straightConnector1">
                                        <a:avLst/>
                                      </a:prstGeom>
                                      <a:ln w="12700">
                                        <a:solidFill>
                                          <a:schemeClr val="tx1"/>
                                        </a:solidFill>
                                        <a:tailEnd type="arrow"/>
                                      </a:ln>
                                    </p:spPr>
                                    <p:style>
                                      <a:lnRef idx="1">
                                        <a:schemeClr val="accent1"/>
                                      </a:lnRef>
                                      <a:fillRef idx="0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p:sp>
                                    <p:nvSpPr>
                                      <p:cNvPr id="45" name="TextBox 44"/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719195" y="1693131"/>
                                        <a:ext cx="552450" cy="276999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 smtClean="0">
                                            <a:latin typeface="Times New Roman" pitchFamily="18" charset="0"/>
                                            <a:cs typeface="Times New Roman" pitchFamily="18" charset="0"/>
                                          </a:rPr>
                                          <a:t>Y</a:t>
                                        </a:r>
                                        <a:endParaRPr lang="ru-RU" dirty="0">
                                          <a:latin typeface="Times New Roman" pitchFamily="18" charset="0"/>
                                          <a:cs typeface="Times New Roman" pitchFamily="18" charset="0"/>
                                        </a:endParaRPr>
                                      </a:p>
                                    </p:txBody>
                                  </p:sp>
                                  <mc:AlternateContent xmlns:mc="http://schemas.openxmlformats.org/markup-compatibility/2006" xmlns:a14="http://schemas.microsoft.com/office/drawing/2010/main">
                                    <mc:Choice Requires="a14">
                                      <p:sp>
                                        <p:nvSpPr>
                                          <p:cNvPr id="56" name="Прямоугольник 55"/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1706422" y="2542061"/>
                                            <a:ext cx="248425" cy="276999"/>
                                          </a:xfrm>
                                          <a:prstGeom prst="rect">
                                            <a:avLst/>
                                          </a:prstGeom>
                                        </p:spPr>
                                        <p:txBody>
                                          <a:bodyPr wrap="square">
                                            <a:spAutoFit/>
                                          </a:bodyPr>
                                          <a:lstStyle/>
                                          <a:p>
                                            <a:pPr/>
                                            <a14:m>
                                              <m:oMathPara xmlns:m="http://schemas.openxmlformats.org/officeDocument/2006/math">
                                                <m:oMathParaPr>
                                                  <m:jc m:val="centerGroup"/>
                                                </m:oMathParaPr>
                                                <m:oMath xmlns:m="http://schemas.openxmlformats.org/officeDocument/2006/math">
                                                  <m:r>
                                                    <a:rPr lang="ru-RU" i="1" smtClean="0">
                                                      <a:solidFill>
                                                        <a:srgbClr val="006600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𝜃</m:t>
                                                  </m:r>
                                                </m:oMath>
                                              </m:oMathPara>
                                            </a14:m>
                                            <a:endParaRPr lang="ru-RU" dirty="0"/>
                                          </a:p>
                                        </p:txBody>
                                      </p:sp>
                                    </mc:Choice>
                                    <mc:Fallback xmlns="">
                                      <p:sp>
                                        <p:nvSpPr>
                                          <p:cNvPr id="56" name="Прямоугольник 55"/>
                                          <p:cNvSpPr>
                                            <a:spLocks noRot="1" noChangeAspect="1" noMove="1" noResize="1" noEditPoints="1" noAdjustHandles="1" noChangeArrowheads="1" noChangeShapeType="1" noTextEdit="1"/>
                                          </p:cNvSpPr>
                                          <p:nvPr/>
                                        </p:nvSpPr>
                                        <p:spPr>
                                          <a:xfrm>
                                            <a:off x="1706422" y="2542061"/>
                                            <a:ext cx="248425" cy="30777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blipFill rotWithShape="1">
                                            <a:blip r:embed="rId3"/>
                                            <a:stretch>
                                              <a:fillRect r="-2439"/>
                                            </a:stretch>
                                          </a:blipFill>
                                        </p:spPr>
                                        <p:txBody>
                                          <a:bodyPr/>
                                          <a:lstStyle/>
                                          <a:p>
                                            <a:r>
                                              <a:rPr lang="ru-RU">
                                                <a:noFill/>
                                              </a:rPr>
                                              <a:t> </a:t>
                                            </a:r>
                                          </a:p>
                                        </p:txBody>
                                      </p:sp>
                                    </mc:Fallback>
                                  </mc:AlternateContent>
                                  <p:cxnSp>
                                    <p:nvCxnSpPr>
                                      <p:cNvPr id="69" name="Прямая со стрелкой 68"/>
                                      <p:cNvCxnSpPr>
                                        <a:stCxn id="10" idx="1"/>
                                      </p:cNvCxnSpPr>
                                      <p:nvPr/>
                                    </p:nvCxnSpPr>
                                    <p:spPr>
                                      <a:xfrm flipH="1" flipV="1">
                                        <a:off x="1044476" y="2062463"/>
                                        <a:ext cx="986484" cy="1133467"/>
                                      </a:xfrm>
                                      <a:prstGeom prst="straightConnector1">
                                        <a:avLst/>
                                      </a:prstGeom>
                                      <a:ln w="19050">
                                        <a:solidFill>
                                          <a:srgbClr val="FF0000"/>
                                        </a:solidFill>
                                        <a:tailEnd type="stealth"/>
                                      </a:ln>
                                    </p:spPr>
                                    <p:style>
                                      <a:lnRef idx="1">
                                        <a:schemeClr val="accent1"/>
                                      </a:lnRef>
                                      <a:fillRef idx="0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mc:AlternateContent xmlns:mc="http://schemas.openxmlformats.org/markup-compatibility/2006" xmlns:a14="http://schemas.microsoft.com/office/drawing/2010/main">
                                    <mc:Choice Requires="a14">
                                      <p:sp>
                                        <p:nvSpPr>
                                          <p:cNvPr id="83" name="Прямоугольник 82"/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2013920" y="2062463"/>
                                            <a:ext cx="388027" cy="286617"/>
                                          </a:xfrm>
                                          <a:prstGeom prst="rect">
                                            <a:avLst/>
                                          </a:prstGeom>
                                        </p:spPr>
                                        <p:txBody>
                                          <a:bodyPr wrap="square">
                                            <a:spAutoFit/>
                                          </a:bodyPr>
                                          <a:lstStyle/>
                                          <a:p>
                                            <a:pPr/>
                                            <a14:m>
                                              <m:oMathPara xmlns:m="http://schemas.openxmlformats.org/officeDocument/2006/math">
                                                <m:oMathParaPr>
                                                  <m:jc m:val="centerGroup"/>
                                                </m:oMathParaPr>
                                                <m:oMath xmlns:m="http://schemas.openxmlformats.org/officeDocument/2006/math">
                                                  <m:acc>
                                                    <m:accPr>
                                                      <m:chr m:val="̇"/>
                                                      <m:ctrlPr>
                                                        <a:rPr lang="ru-RU" i="1" smtClean="0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𝜓</m:t>
                                                      </m:r>
                                                    </m:e>
                                                  </m:acc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i="1">
                                                          <a:solidFill>
                                                            <a:srgbClr val="0000FF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acc>
                                                </m:oMath>
                                              </m:oMathPara>
                                            </a14:m>
                                            <a:endParaRPr lang="ru-RU" dirty="0"/>
                                          </a:p>
                                        </p:txBody>
                                      </p:sp>
                                    </mc:Choice>
                                    <mc:Fallback xmlns="">
                                      <p:sp>
                                        <p:nvSpPr>
                                          <p:cNvPr id="83" name="Прямоугольник 82"/>
                                          <p:cNvSpPr>
                                            <a:spLocks noRot="1" noChangeAspect="1" noMove="1" noResize="1" noEditPoints="1" noAdjustHandles="1" noChangeArrowheads="1" noChangeShapeType="1" noTextEdit="1"/>
                                          </p:cNvSpPr>
                                          <p:nvPr/>
                                        </p:nvSpPr>
                                        <p:spPr>
                                          <a:xfrm>
                                            <a:off x="2013920" y="2062463"/>
                                            <a:ext cx="388027" cy="317844"/>
                                          </a:xfrm>
                                          <a:prstGeom prst="rect">
                                            <a:avLst/>
                                          </a:prstGeom>
                                          <a:blipFill rotWithShape="1">
                                            <a:blip r:embed="rId4"/>
                                            <a:stretch>
                                              <a:fillRect r="-17460" b="-7692"/>
                                            </a:stretch>
                                          </a:blipFill>
                                        </p:spPr>
                                        <p:txBody>
                                          <a:bodyPr/>
                                          <a:lstStyle/>
                                          <a:p>
                                            <a:r>
                                              <a:rPr lang="ru-RU">
                                                <a:noFill/>
                                              </a:rPr>
                                              <a:t> </a:t>
                                            </a:r>
                                          </a:p>
                                        </p:txBody>
                                      </p:sp>
                                    </mc:Fallback>
                                  </mc:AlternateContent>
                                  <mc:AlternateContent xmlns:mc="http://schemas.openxmlformats.org/markup-compatibility/2006" xmlns:a14="http://schemas.microsoft.com/office/drawing/2010/main">
                                    <mc:Choice Requires="a14">
                                      <p:sp>
                                        <p:nvSpPr>
                                          <p:cNvPr id="84" name="Прямоугольник 83"/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751304" y="2169514"/>
                                            <a:ext cx="368802" cy="276999"/>
                                          </a:xfrm>
                                          <a:prstGeom prst="rect">
                                            <a:avLst/>
                                          </a:prstGeom>
                                        </p:spPr>
                                        <p:txBody>
                                          <a:bodyPr wrap="square">
                                            <a:spAutoFit/>
                                          </a:bodyPr>
                                          <a:lstStyle/>
                                          <a:p>
                                            <a:pPr/>
                                            <a14:m>
                                              <m:oMathPara xmlns:m="http://schemas.openxmlformats.org/officeDocument/2006/math">
                                                <m:oMathParaPr>
                                                  <m:jc m:val="centerGroup"/>
                                                </m:oMathParaPr>
                                                <m:oMath xmlns:m="http://schemas.openxmlformats.org/officeDocument/2006/math">
                                                  <m:acc>
                                                    <m:accPr>
                                                      <m:chr m:val="̇"/>
                                                      <m:ctrlPr>
                                                        <a:rPr lang="ru-RU" i="1" smtClean="0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𝜑</m:t>
                                                      </m:r>
                                                    </m:e>
                                                  </m:acc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i="1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𝐾</m:t>
                                                      </m:r>
                                                    </m:e>
                                                  </m:acc>
                                                </m:oMath>
                                              </m:oMathPara>
                                            </a14:m>
                                            <a:endParaRPr lang="ru-RU" dirty="0"/>
                                          </a:p>
                                        </p:txBody>
                                      </p:sp>
                                    </mc:Choice>
                                    <mc:Fallback xmlns="">
                                      <p:sp>
                                        <p:nvSpPr>
                                          <p:cNvPr id="84" name="Прямоугольник 83"/>
                                          <p:cNvSpPr>
                                            <a:spLocks noRot="1" noChangeAspect="1" noMove="1" noResize="1" noEditPoints="1" noAdjustHandles="1" noChangeArrowheads="1" noChangeShapeType="1" noTextEdit="1"/>
                                          </p:cNvSpPr>
                                          <p:nvPr/>
                                        </p:nvSpPr>
                                        <p:spPr>
                                          <a:xfrm>
                                            <a:off x="751304" y="2169514"/>
                                            <a:ext cx="368802" cy="30777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blipFill rotWithShape="1">
                                            <a:blip r:embed="rId5"/>
                                            <a:stretch>
                                              <a:fillRect r="-15000" b="-1961"/>
                                            </a:stretch>
                                          </a:blipFill>
                                        </p:spPr>
                                        <p:txBody>
                                          <a:bodyPr/>
                                          <a:lstStyle/>
                                          <a:p>
                                            <a:r>
                                              <a:rPr lang="ru-RU">
                                                <a:noFill/>
                                              </a:rPr>
                                              <a:t> </a:t>
                                            </a:r>
                                          </a:p>
                                        </p:txBody>
                                      </p:sp>
                                    </mc:Fallback>
                                  </mc:AlternateContent>
                                </p:grpSp>
                              </p:grpSp>
                              <p:sp>
                                <p:nvSpPr>
                                  <p:cNvPr id="47" name="Дуга 46"/>
                                  <p:cNvSpPr/>
                                  <p:nvPr/>
                                </p:nvSpPr>
                                <p:spPr>
                                  <a:xfrm rot="10095727">
                                    <a:off x="1748485" y="3284346"/>
                                    <a:ext cx="272051" cy="282393"/>
                                  </a:xfrm>
                                  <a:prstGeom prst="arc">
                                    <a:avLst/>
                                  </a:prstGeom>
                                  <a:ln w="12700">
                                    <a:solidFill>
                                      <a:schemeClr val="tx1"/>
                                    </a:solidFill>
                                    <a:headEnd type="stealth"/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ru-RU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8" name="Дуга 47"/>
                                <p:cNvSpPr/>
                                <p:nvPr/>
                              </p:nvSpPr>
                              <p:spPr>
                                <a:xfrm rot="7589622">
                                  <a:off x="1807549" y="3272147"/>
                                  <a:ext cx="377350" cy="441810"/>
                                </a:xfrm>
                                <a:prstGeom prst="arc">
                                  <a:avLst/>
                                </a:prstGeom>
                                <a:ln w="12700">
                                  <a:solidFill>
                                    <a:schemeClr val="tx1"/>
                                  </a:solidFill>
                                  <a:headEnd type="stealth"/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ru-RU"/>
                                </a:p>
                              </p:txBody>
                            </p:sp>
                          </p:grpSp>
                          <mc:AlternateContent xmlns:mc="http://schemas.openxmlformats.org/markup-compatibility/2006" xmlns:a14="http://schemas.microsoft.com/office/drawing/2010/main">
                            <mc:Choice Requires="a14">
                              <p:sp>
                                <p:nvSpPr>
                                  <p:cNvPr id="52" name="Прямоугольник 51"/>
                                  <p:cNvSpPr/>
                                  <p:nvPr/>
                                </p:nvSpPr>
                                <p:spPr>
                                  <a:xfrm>
                                    <a:off x="1881663" y="3617588"/>
                                    <a:ext cx="288013" cy="276999"/>
                                  </a:xfrm>
                                  <a:prstGeom prst="rect">
                                    <a:avLst/>
                                  </a:prstGeom>
                                </p:spPr>
                                <p:txBody>
                                  <a:bodyPr wrap="square">
                                    <a:spAutoFit/>
                                  </a:bodyPr>
                                  <a:lstStyle/>
                                  <a:p>
                                    <a:pPr/>
                                    <a14:m>
                                      <m:oMathPara xmlns:m="http://schemas.openxmlformats.org/officeDocument/2006/math">
                                        <m:oMathParaPr>
                                          <m:jc m:val="centerGroup"/>
                                        </m:oMathParaPr>
                                        <m:oMath xmlns:m="http://schemas.openxmlformats.org/officeDocument/2006/math">
                                          <m:r>
                                            <a:rPr lang="ru-RU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𝜑</m:t>
                                          </m:r>
                                        </m:oMath>
                                      </m:oMathPara>
                                    </a14:m>
                                    <a:endParaRPr lang="ru-RU" dirty="0"/>
                                  </a:p>
                                </p:txBody>
                              </p:sp>
                            </mc:Choice>
                            <mc:Fallback xmlns="">
                              <p:sp>
                                <p:nvSpPr>
                                  <p:cNvPr id="52" name="Прямоугольник 51"/>
                                  <p:cNvSpPr>
                                    <a:spLocks noRot="1" noChangeAspect="1" noMove="1" noResize="1" noEditPoints="1" noAdjustHandles="1" noChangeArrowheads="1" noChangeShapeType="1" noTextEdit="1"/>
                                  </p:cNvSpPr>
                                  <p:nvPr/>
                                </p:nvSpPr>
                                <p:spPr>
                                  <a:xfrm>
                                    <a:off x="1881663" y="3617588"/>
                                    <a:ext cx="288013" cy="307777"/>
                                  </a:xfrm>
                                  <a:prstGeom prst="rect">
                                    <a:avLst/>
                                  </a:prstGeom>
                                  <a:blipFill rotWithShape="1">
                                    <a:blip r:embed="rId6"/>
                                    <a:stretch>
                                      <a:fillRect b="-2000"/>
                                    </a:stretch>
                                  </a:blipFill>
                                </p:spPr>
                                <p:txBody>
                                  <a:bodyPr/>
                                  <a:lstStyle/>
                                  <a:p>
                                    <a:r>
                                      <a:rPr lang="ru-RU">
                                        <a:noFill/>
                                      </a:rPr>
                                      <a:t> </a:t>
                                    </a:r>
                                  </a:p>
                                </p:txBody>
                              </p:sp>
                            </mc:Fallback>
                          </mc:AlternateContent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85" name="Прямоугольник 84"/>
                                <p:cNvSpPr/>
                                <p:nvPr/>
                              </p:nvSpPr>
                              <p:spPr>
                                <a:xfrm>
                                  <a:off x="1395425" y="3850095"/>
                                  <a:ext cx="383375" cy="286617"/>
                                </a:xfrm>
                                <a:prstGeom prst="rect">
                                  <a:avLst/>
                                </a:prstGeom>
                              </p:spPr>
                              <p:txBody>
                                <a:bodyPr wrap="none">
                                  <a:spAutoFit/>
                                </a:bodyPr>
                                <a:lstStyle/>
                                <a:p>
                                  <a:pPr/>
                                  <a14:m>
                                    <m:oMathPara xmlns:m="http://schemas.openxmlformats.org/officeDocument/2006/math">
                                      <m:oMathParaPr>
                                        <m:jc m:val="centerGroup"/>
                                      </m:oMathParaPr>
                                      <m:oMath xmlns:m="http://schemas.openxmlformats.org/officeDocument/2006/math"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ru-RU" i="1" smtClean="0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ru-RU" i="1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ru-RU" i="1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chemeClr val="accent6">
                                                    <a:lumMod val="50000"/>
                                                  </a:schemeClr>
                                                </a:solidFill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</m:e>
                                        </m:acc>
                                      </m:oMath>
                                    </m:oMathPara>
                                  </a14:m>
                                  <a:endParaRPr lang="ru-RU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85" name="Прямоугольник 84"/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1395425" y="3850095"/>
                                  <a:ext cx="428322" cy="317844"/>
                                </a:xfrm>
                                <a:prstGeom prst="rect">
                                  <a:avLst/>
                                </a:prstGeom>
                                <a:blipFill rotWithShape="1">
                                  <a:blip r:embed="rId7"/>
                                  <a:stretch>
                                    <a:fillRect r="-9859"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ru-RU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53" name="Прямоугольник 52"/>
                            <p:cNvSpPr/>
                            <p:nvPr/>
                          </p:nvSpPr>
                          <p:spPr>
                            <a:xfrm>
                              <a:off x="1558221" y="3474489"/>
                              <a:ext cx="313791" cy="276999"/>
                            </a:xfrm>
                            <a:prstGeom prst="rect">
                              <a:avLst/>
                            </a:prstGeom>
                          </p:spPr>
                          <p:txBody>
                            <a:bodyPr wrap="square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r>
                                      <a:rPr lang="ru-RU" i="1" smtClean="0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𝜓</m:t>
                                    </m:r>
                                  </m:oMath>
                                </m:oMathPara>
                              </a14:m>
                              <a:endParaRPr lang="ru-RU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53" name="Прямоугольник 52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558221" y="3474489"/>
                              <a:ext cx="313791" cy="307777"/>
                            </a:xfrm>
                            <a:prstGeom prst="rect">
                              <a:avLst/>
                            </a:prstGeom>
                            <a:blipFill rotWithShape="1">
                              <a:blip r:embed="rId8"/>
                              <a:stretch>
                                <a:fillRect b="-5882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ru-RU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</p:grpSp>
              <p:grpSp>
                <p:nvGrpSpPr>
                  <p:cNvPr id="26" name="Группа 25"/>
                  <p:cNvGrpSpPr/>
                  <p:nvPr/>
                </p:nvGrpSpPr>
                <p:grpSpPr>
                  <a:xfrm>
                    <a:off x="2039327" y="3126725"/>
                    <a:ext cx="1907259" cy="80843"/>
                    <a:chOff x="2148362" y="3486322"/>
                    <a:chExt cx="1907259" cy="80843"/>
                  </a:xfrm>
                </p:grpSpPr>
                <p:cxnSp>
                  <p:nvCxnSpPr>
                    <p:cNvPr id="27" name="Прямая со стрелкой 26"/>
                    <p:cNvCxnSpPr/>
                    <p:nvPr/>
                  </p:nvCxnSpPr>
                  <p:spPr>
                    <a:xfrm flipV="1">
                      <a:off x="2148362" y="3567164"/>
                      <a:ext cx="1907259" cy="1"/>
                    </a:xfrm>
                    <a:prstGeom prst="straightConnector1">
                      <a:avLst/>
                    </a:prstGeom>
                    <a:ln w="12700">
                      <a:solidFill>
                        <a:schemeClr val="accent3">
                          <a:lumMod val="50000"/>
                        </a:schemeClr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Прямая соединительная линия 27"/>
                    <p:cNvCxnSpPr/>
                    <p:nvPr/>
                  </p:nvCxnSpPr>
                  <p:spPr>
                    <a:xfrm flipH="1">
                      <a:off x="3601331" y="3486322"/>
                      <a:ext cx="64770" cy="71458"/>
                    </a:xfrm>
                    <a:prstGeom prst="line">
                      <a:avLst/>
                    </a:prstGeom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Прямая соединительная линия 28"/>
                    <p:cNvCxnSpPr/>
                    <p:nvPr/>
                  </p:nvCxnSpPr>
                  <p:spPr>
                    <a:xfrm flipH="1">
                      <a:off x="3662741" y="3495707"/>
                      <a:ext cx="64770" cy="71458"/>
                    </a:xfrm>
                    <a:prstGeom prst="line">
                      <a:avLst/>
                    </a:prstGeom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Прямая соединительная линия 29"/>
                    <p:cNvCxnSpPr/>
                    <p:nvPr/>
                  </p:nvCxnSpPr>
                  <p:spPr>
                    <a:xfrm flipH="1">
                      <a:off x="3759334" y="3487514"/>
                      <a:ext cx="64770" cy="71458"/>
                    </a:xfrm>
                    <a:prstGeom prst="line">
                      <a:avLst/>
                    </a:prstGeom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44" name="TextBox 43"/>
                <p:cNvSpPr txBox="1"/>
                <p:nvPr/>
              </p:nvSpPr>
              <p:spPr>
                <a:xfrm>
                  <a:off x="2286026" y="3798607"/>
                  <a:ext cx="44577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endParaRPr lang="ru-RU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6" name="TextBox 45"/>
              <p:cNvSpPr txBox="1"/>
              <p:nvPr/>
            </p:nvSpPr>
            <p:spPr>
              <a:xfrm>
                <a:off x="833021" y="1531702"/>
                <a:ext cx="4229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Z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cxnSp>
        <p:nvCxnSpPr>
          <p:cNvPr id="72" name="Прямая со стрелкой 71"/>
          <p:cNvCxnSpPr>
            <a:stCxn id="10" idx="1"/>
          </p:cNvCxnSpPr>
          <p:nvPr/>
        </p:nvCxnSpPr>
        <p:spPr>
          <a:xfrm flipH="1">
            <a:off x="2039931" y="3459938"/>
            <a:ext cx="411140" cy="1296012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stCxn id="10" idx="1"/>
          </p:cNvCxnSpPr>
          <p:nvPr/>
        </p:nvCxnSpPr>
        <p:spPr>
          <a:xfrm flipV="1">
            <a:off x="2451071" y="2175025"/>
            <a:ext cx="11156" cy="1284913"/>
          </a:xfrm>
          <a:prstGeom prst="straightConnector1">
            <a:avLst/>
          </a:prstGeom>
          <a:ln w="19050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 flipV="1">
            <a:off x="2451070" y="2817480"/>
            <a:ext cx="1889453" cy="6470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2471039" y="2175023"/>
            <a:ext cx="848628" cy="99405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 flipH="1">
            <a:off x="1569508" y="2175023"/>
            <a:ext cx="892717" cy="2446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923963" y="2505776"/>
            <a:ext cx="368875" cy="41035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Прямоугольник 86"/>
              <p:cNvSpPr/>
              <p:nvPr/>
            </p:nvSpPr>
            <p:spPr>
              <a:xfrm>
                <a:off x="5038177" y="874713"/>
                <a:ext cx="5424999" cy="711036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Получим проекции  вектора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acc>
                      <m:accPr>
                        <m:chr m:val="̇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𝜑</m:t>
                        </m:r>
                      </m:e>
                    </m:acc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+</m:t>
                    </m:r>
                    <m:acc>
                      <m:accPr>
                        <m:chr m:val="̇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𝜃</m:t>
                        </m:r>
                      </m:e>
                    </m:acc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+</m:t>
                    </m:r>
                    <m:acc>
                      <m:accPr>
                        <m:chr m:val="̇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𝜓</m:t>
                        </m:r>
                      </m:e>
                    </m:acc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e>
                    </m:acc>
                  </m:oMath>
                </a14:m>
                <a:endParaRPr lang="ru-RU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н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а оси подвижной системы координат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OXYZ.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7" name="Прямоугольник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177" y="874713"/>
                <a:ext cx="5424999" cy="711036"/>
              </a:xfrm>
              <a:prstGeom prst="rect">
                <a:avLst/>
              </a:prstGeom>
              <a:blipFill rotWithShape="1"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/>
          <p:cNvSpPr txBox="1"/>
          <p:nvPr/>
        </p:nvSpPr>
        <p:spPr>
          <a:xfrm>
            <a:off x="5486457" y="1586924"/>
            <a:ext cx="6178681" cy="1107979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Предварительно разложим вектор угловой скорости прецессии на две взаимно перпендикулярные составляющие вдоль оси О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вспомогательной оси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OL,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перпендикулярной линии узлов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OK.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Тогда: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4" name="Группа 133"/>
          <p:cNvGrpSpPr/>
          <p:nvPr/>
        </p:nvGrpSpPr>
        <p:grpSpPr>
          <a:xfrm>
            <a:off x="3481046" y="4226459"/>
            <a:ext cx="3660983" cy="1963996"/>
            <a:chOff x="4459921" y="3223121"/>
            <a:chExt cx="2745737" cy="1472997"/>
          </a:xfrm>
        </p:grpSpPr>
        <p:grpSp>
          <p:nvGrpSpPr>
            <p:cNvPr id="121" name="Группа 120"/>
            <p:cNvGrpSpPr/>
            <p:nvPr/>
          </p:nvGrpSpPr>
          <p:grpSpPr>
            <a:xfrm>
              <a:off x="4459921" y="3223121"/>
              <a:ext cx="2745737" cy="1472997"/>
              <a:chOff x="4459921" y="3223121"/>
              <a:chExt cx="2745737" cy="1472997"/>
            </a:xfrm>
          </p:grpSpPr>
          <p:grpSp>
            <p:nvGrpSpPr>
              <p:cNvPr id="115" name="Группа 114"/>
              <p:cNvGrpSpPr/>
              <p:nvPr/>
            </p:nvGrpSpPr>
            <p:grpSpPr>
              <a:xfrm>
                <a:off x="4648200" y="3474489"/>
                <a:ext cx="2380298" cy="1209822"/>
                <a:chOff x="4648200" y="3474489"/>
                <a:chExt cx="2380298" cy="1209822"/>
              </a:xfrm>
            </p:grpSpPr>
            <p:cxnSp>
              <p:nvCxnSpPr>
                <p:cNvPr id="108" name="Прямая со стрелкой 107"/>
                <p:cNvCxnSpPr/>
                <p:nvPr/>
              </p:nvCxnSpPr>
              <p:spPr>
                <a:xfrm>
                  <a:off x="5511690" y="3474489"/>
                  <a:ext cx="1516808" cy="559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Прямая со стрелкой 109"/>
                <p:cNvCxnSpPr/>
                <p:nvPr/>
              </p:nvCxnSpPr>
              <p:spPr>
                <a:xfrm>
                  <a:off x="5511690" y="3493052"/>
                  <a:ext cx="0" cy="119125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Прямая соединительная линия 111"/>
                <p:cNvCxnSpPr/>
                <p:nvPr/>
              </p:nvCxnSpPr>
              <p:spPr>
                <a:xfrm flipH="1">
                  <a:off x="4648200" y="3474489"/>
                  <a:ext cx="863490" cy="117919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Прямая соединительная линия 113"/>
                <p:cNvCxnSpPr/>
                <p:nvPr/>
              </p:nvCxnSpPr>
              <p:spPr>
                <a:xfrm>
                  <a:off x="5511690" y="3474489"/>
                  <a:ext cx="1217732" cy="101741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extBox 115"/>
              <p:cNvSpPr txBox="1"/>
              <p:nvPr/>
            </p:nvSpPr>
            <p:spPr>
              <a:xfrm>
                <a:off x="5264122" y="3223121"/>
                <a:ext cx="3683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 smtClean="0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ru-RU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4459921" y="4338017"/>
                <a:ext cx="3765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 smtClean="0">
                    <a:latin typeface="Times New Roman" pitchFamily="18" charset="0"/>
                    <a:cs typeface="Times New Roman" pitchFamily="18" charset="0"/>
                  </a:rPr>
                  <a:t>K</a:t>
                </a:r>
                <a:endParaRPr lang="ru-RU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6677978" y="4221414"/>
                <a:ext cx="350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 smtClean="0">
                    <a:latin typeface="Times New Roman" pitchFamily="18" charset="0"/>
                    <a:cs typeface="Times New Roman" pitchFamily="18" charset="0"/>
                  </a:rPr>
                  <a:t>L</a:t>
                </a:r>
                <a:endParaRPr lang="ru-RU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5548100" y="4419119"/>
                <a:ext cx="2933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X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6893665" y="3550283"/>
                <a:ext cx="3119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133" name="Группа 132"/>
            <p:cNvGrpSpPr/>
            <p:nvPr/>
          </p:nvGrpSpPr>
          <p:grpSpPr>
            <a:xfrm>
              <a:off x="4622315" y="3394342"/>
              <a:ext cx="2202018" cy="877392"/>
              <a:chOff x="4622315" y="3394342"/>
              <a:chExt cx="2202018" cy="87739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Прямоугольник 121"/>
                  <p:cNvSpPr/>
                  <p:nvPr/>
                </p:nvSpPr>
                <p:spPr>
                  <a:xfrm>
                    <a:off x="4622315" y="3944781"/>
                    <a:ext cx="383375" cy="28661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ru-RU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𝜃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ru-RU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</m:acc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22" name="Прямоугольник 1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2315" y="3944781"/>
                    <a:ext cx="428322" cy="317844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r="-1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4" name="Прямая со стрелкой 123"/>
              <p:cNvCxnSpPr/>
              <p:nvPr/>
            </p:nvCxnSpPr>
            <p:spPr>
              <a:xfrm flipH="1">
                <a:off x="4930438" y="3491607"/>
                <a:ext cx="579120" cy="780127"/>
              </a:xfrm>
              <a:prstGeom prst="straightConnector1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Прямая со стрелкой 125"/>
              <p:cNvCxnSpPr/>
              <p:nvPr/>
            </p:nvCxnSpPr>
            <p:spPr>
              <a:xfrm>
                <a:off x="5511690" y="3480086"/>
                <a:ext cx="722683" cy="589564"/>
              </a:xfrm>
              <a:prstGeom prst="straightConnector1">
                <a:avLst/>
              </a:prstGeom>
              <a:ln w="28575">
                <a:solidFill>
                  <a:srgbClr val="0000FF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Прямоугольник 127"/>
                  <p:cNvSpPr/>
                  <p:nvPr/>
                </p:nvSpPr>
                <p:spPr>
                  <a:xfrm>
                    <a:off x="6082894" y="3694402"/>
                    <a:ext cx="741439" cy="28661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ru-RU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𝜓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𝑠𝑖𝑛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𝜃</m:t>
                          </m:r>
                          <m:acc>
                            <m:accPr>
                              <m:chr m:val="̅"/>
                              <m:ctrlPr>
                                <a:rPr lang="ru-RU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</m:acc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28" name="Прямоугольник 1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2894" y="3694402"/>
                    <a:ext cx="741439" cy="326821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r="-28099" b="-3704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9" name="Дуга 128"/>
              <p:cNvSpPr/>
              <p:nvPr/>
            </p:nvSpPr>
            <p:spPr>
              <a:xfrm rot="9427417">
                <a:off x="5251183" y="3570030"/>
                <a:ext cx="394232" cy="390064"/>
              </a:xfrm>
              <a:prstGeom prst="arc">
                <a:avLst/>
              </a:prstGeom>
              <a:ln w="12700">
                <a:solidFill>
                  <a:schemeClr val="tx1"/>
                </a:solidFill>
                <a:headEnd type="stealt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0" name="Дуга 129"/>
              <p:cNvSpPr/>
              <p:nvPr/>
            </p:nvSpPr>
            <p:spPr>
              <a:xfrm rot="3339549">
                <a:off x="5558365" y="3396426"/>
                <a:ext cx="394232" cy="390064"/>
              </a:xfrm>
              <a:prstGeom prst="arc">
                <a:avLst/>
              </a:prstGeom>
              <a:ln w="12700">
                <a:solidFill>
                  <a:schemeClr val="tx1"/>
                </a:solidFill>
                <a:headEnd type="stealt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Прямоугольник 130"/>
                  <p:cNvSpPr/>
                  <p:nvPr/>
                </p:nvSpPr>
                <p:spPr>
                  <a:xfrm>
                    <a:off x="5190869" y="3881184"/>
                    <a:ext cx="288013" cy="27699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𝜑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31" name="Прямоугольник 1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0869" y="3881184"/>
                    <a:ext cx="288013" cy="307777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Прямоугольник 131"/>
                  <p:cNvSpPr/>
                  <p:nvPr/>
                </p:nvSpPr>
                <p:spPr>
                  <a:xfrm>
                    <a:off x="5893183" y="3441934"/>
                    <a:ext cx="288013" cy="27699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𝜑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32" name="Прямоугольник 1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93183" y="3441934"/>
                    <a:ext cx="288013" cy="307777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36" name="Прямая со стрелкой 135"/>
          <p:cNvCxnSpPr>
            <a:stCxn id="10" idx="1"/>
          </p:cNvCxnSpPr>
          <p:nvPr/>
        </p:nvCxnSpPr>
        <p:spPr>
          <a:xfrm flipV="1">
            <a:off x="2451071" y="3169081"/>
            <a:ext cx="868596" cy="290857"/>
          </a:xfrm>
          <a:prstGeom prst="straightConnector1">
            <a:avLst/>
          </a:prstGeom>
          <a:ln w="28575">
            <a:solidFill>
              <a:srgbClr val="0033CC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137"/>
          <p:cNvCxnSpPr>
            <a:stCxn id="10" idx="1"/>
          </p:cNvCxnSpPr>
          <p:nvPr/>
        </p:nvCxnSpPr>
        <p:spPr>
          <a:xfrm flipH="1" flipV="1">
            <a:off x="1569510" y="2419667"/>
            <a:ext cx="881561" cy="1040271"/>
          </a:xfrm>
          <a:prstGeom prst="straightConnector1">
            <a:avLst/>
          </a:prstGeom>
          <a:ln w="28575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Прямоугольник 138"/>
              <p:cNvSpPr/>
              <p:nvPr/>
            </p:nvSpPr>
            <p:spPr>
              <a:xfrm>
                <a:off x="6098865" y="2912800"/>
                <a:ext cx="3044308" cy="423779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𝜓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𝑠𝑖𝑛</m:t>
                      </m:r>
                      <m:r>
                        <a:rPr lang="ru-RU" i="1">
                          <a:latin typeface="Cambria Math"/>
                        </a:rPr>
                        <m:t>𝜃</m:t>
                      </m:r>
                      <m:r>
                        <a:rPr lang="ru-RU" i="1">
                          <a:latin typeface="Cambria Math"/>
                        </a:rPr>
                        <m:t>𝑠𝑖𝑛</m:t>
                      </m:r>
                      <m:r>
                        <a:rPr lang="ru-RU" i="1">
                          <a:latin typeface="Cambria Math"/>
                        </a:rPr>
                        <m:t>𝜑</m:t>
                      </m:r>
                      <m:r>
                        <a:rPr lang="ru-RU" i="1">
                          <a:latin typeface="Cambria Math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𝜃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𝑐𝑜𝑠</m:t>
                      </m:r>
                      <m:r>
                        <a:rPr lang="ru-RU" i="1">
                          <a:latin typeface="Cambria Math"/>
                        </a:rPr>
                        <m:t>𝜑</m:t>
                      </m:r>
                      <m:r>
                        <a:rPr lang="ru-RU" b="0" i="1" smtClean="0"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9" name="Прямоугольник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148" y="2184599"/>
                <a:ext cx="2263184" cy="317844"/>
              </a:xfrm>
              <a:prstGeom prst="rect">
                <a:avLst/>
              </a:prstGeom>
              <a:blipFill rotWithShape="1">
                <a:blip r:embed="rId13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Прямоугольник 139"/>
              <p:cNvSpPr/>
              <p:nvPr/>
            </p:nvSpPr>
            <p:spPr>
              <a:xfrm>
                <a:off x="6086569" y="3288448"/>
                <a:ext cx="3037896" cy="423779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𝜓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𝑠𝑖𝑛</m:t>
                      </m:r>
                      <m:r>
                        <a:rPr lang="ru-RU" i="1">
                          <a:latin typeface="Cambria Math"/>
                        </a:rPr>
                        <m:t>𝜃</m:t>
                      </m:r>
                      <m:r>
                        <a:rPr lang="ru-RU" i="1">
                          <a:latin typeface="Cambria Math"/>
                        </a:rPr>
                        <m:t>𝑐𝑜𝑠</m:t>
                      </m:r>
                      <m:r>
                        <a:rPr lang="ru-RU" i="1">
                          <a:latin typeface="Cambria Math"/>
                        </a:rPr>
                        <m:t>𝜑</m:t>
                      </m:r>
                      <m:r>
                        <a:rPr lang="ru-RU" i="1">
                          <a:latin typeface="Cambria Math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𝜃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𝑠𝑖𝑛</m:t>
                      </m:r>
                      <m:r>
                        <a:rPr lang="ru-RU" i="1">
                          <a:latin typeface="Cambria Math"/>
                        </a:rPr>
                        <m:t>𝜑</m:t>
                      </m:r>
                      <m:r>
                        <a:rPr lang="ru-RU" b="0" i="1" smtClean="0"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0" name="Прямоугольник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927" y="2466336"/>
                <a:ext cx="2256772" cy="317844"/>
              </a:xfrm>
              <a:prstGeom prst="rect">
                <a:avLst/>
              </a:prstGeom>
              <a:blipFill rotWithShape="1">
                <a:blip r:embed="rId1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Прямоугольник 140"/>
              <p:cNvSpPr/>
              <p:nvPr/>
            </p:nvSpPr>
            <p:spPr>
              <a:xfrm>
                <a:off x="6117347" y="3658347"/>
                <a:ext cx="2075240" cy="423779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𝑍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𝜑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𝜓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𝑐𝑜𝑠</m:t>
                      </m:r>
                      <m:r>
                        <a:rPr lang="ru-RU" i="1">
                          <a:latin typeface="Cambria Math"/>
                        </a:rPr>
                        <m:t>𝜃</m:t>
                      </m:r>
                      <m:r>
                        <a:rPr lang="ru-RU" b="0" i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1" name="Прямоугольник 1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009" y="2743759"/>
                <a:ext cx="1537023" cy="317844"/>
              </a:xfrm>
              <a:prstGeom prst="rect">
                <a:avLst/>
              </a:prstGeom>
              <a:blipFill rotWithShape="1">
                <a:blip r:embed="rId1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TextBox 141"/>
          <p:cNvSpPr txBox="1"/>
          <p:nvPr/>
        </p:nvSpPr>
        <p:spPr>
          <a:xfrm>
            <a:off x="7591085" y="4281533"/>
            <a:ext cx="3789680" cy="615537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Эти соотношения носят название </a:t>
            </a:r>
            <a:r>
              <a:rPr lang="ru-RU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кинематических уравнений Эйлера.</a:t>
            </a:r>
            <a:endParaRPr lang="ru-RU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6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106" grpId="0"/>
      <p:bldP spid="139" grpId="0"/>
      <p:bldP spid="140" grpId="0"/>
      <p:bldP spid="141" grpId="0"/>
      <p:bldP spid="1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61952" y="651027"/>
            <a:ext cx="9279888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89571" y="744792"/>
            <a:ext cx="9252269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1949" y="101172"/>
            <a:ext cx="10071801" cy="53346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27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Скорости точек твердого тела при сферическом движении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5352" y="810684"/>
            <a:ext cx="6910008" cy="1107979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Линейные скорости точек тела при вращении вокруг неподвижной точки можно вычислить по формуле Эйлера, как и в случае вращения вокруг неподвижной оси, только радиус-вектор каждой точки удобно проводить из неподвижной точки: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3149977" y="3865483"/>
                <a:ext cx="8943471" cy="1415949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1600">
                        <a:latin typeface="Times New Roman" pitchFamily="18" charset="0"/>
                        <a:cs typeface="Times New Roman" pitchFamily="18" charset="0"/>
                      </a:rPr>
                      <m:t>Представим правую часть формулы Эйлера в виде определителя</m:t>
                    </m:r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𝐽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/>
                                      </a:rPr>
                                      <m:t>𝑍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𝑌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m:t>, где 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𝐼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𝐽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𝐾</m:t>
                          </m:r>
                        </m:e>
                      </m:acc>
                      <m:r>
                        <m:rPr>
                          <m:nor/>
                        </m:rP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m:t> – орты подвижной системы координат О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XYZ</m:t>
                      </m:r>
                      <m:r>
                        <m:rPr>
                          <m:nor/>
                        </m:rPr>
                        <a:rPr lang="ru-RU">
                          <a:latin typeface="Times New Roman" pitchFamily="18" charset="0"/>
                          <a:cs typeface="Times New Roman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977" y="3865483"/>
                <a:ext cx="8943471" cy="14159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4281010" y="2388859"/>
                <a:ext cx="7267261" cy="646315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Модуль скорости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𝑣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𝜔</m:t>
                    </m:r>
                    <m:r>
                      <a:rPr lang="ru-RU" i="1">
                        <a:latin typeface="Cambria Math"/>
                      </a:rPr>
                      <m:t>𝑟𝑠𝑖𝑛</m:t>
                    </m:r>
                    <m:r>
                      <a:rPr lang="ru-RU" i="1">
                        <a:latin typeface="Cambria Math"/>
                      </a:rPr>
                      <m:t>𝛼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𝜔</m:t>
                    </m:r>
                    <m:r>
                      <a:rPr lang="ru-RU" i="1" smtClean="0">
                        <a:latin typeface="Cambria Math"/>
                      </a:rPr>
                      <m:t>h</m:t>
                    </m:r>
                  </m:oMath>
                </a14:m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где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кратчайшее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расстояние от рассматриваемой точки до мгновенной оси вращения.</a:t>
                </a:r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010" y="2388859"/>
                <a:ext cx="7267261" cy="646315"/>
              </a:xfrm>
              <a:prstGeom prst="rect">
                <a:avLst/>
              </a:prstGeom>
              <a:blipFill rotWithShape="1">
                <a:blip r:embed="rId4"/>
                <a:stretch>
                  <a:fillRect t="-2830" b="-84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281009" y="3063754"/>
            <a:ext cx="7762240" cy="615537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Таким образом, </a:t>
            </a:r>
            <a:r>
              <a:rPr lang="ru-RU" sz="1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скорости точек тела при сферическом движении пропорциональны расстояниям от этих точек до мгновенной оси.</a:t>
            </a:r>
            <a:endParaRPr lang="ru-RU" sz="1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Прямоугольник 74"/>
              <p:cNvSpPr/>
              <p:nvPr/>
            </p:nvSpPr>
            <p:spPr>
              <a:xfrm>
                <a:off x="5982664" y="2034605"/>
                <a:ext cx="1323923" cy="410355"/>
              </a:xfrm>
              <a:prstGeom prst="rect">
                <a:avLst/>
              </a:prstGeom>
            </p:spPr>
            <p:txBody>
              <a:bodyPr wrap="none" lIns="121902" tIns="60952" rIns="121902" bIns="60952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5" name="Прямоугольник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98" y="1525954"/>
                <a:ext cx="992964" cy="307777"/>
              </a:xfrm>
              <a:prstGeom prst="rect">
                <a:avLst/>
              </a:prstGeom>
              <a:blipFill rotWithShape="1">
                <a:blip r:embed="rId5"/>
                <a:stretch>
                  <a:fillRect r="-184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Группа 80"/>
          <p:cNvGrpSpPr/>
          <p:nvPr/>
        </p:nvGrpSpPr>
        <p:grpSpPr>
          <a:xfrm>
            <a:off x="79685" y="1281785"/>
            <a:ext cx="4089831" cy="2770875"/>
            <a:chOff x="59762" y="961340"/>
            <a:chExt cx="3067371" cy="2078158"/>
          </a:xfrm>
        </p:grpSpPr>
        <p:grpSp>
          <p:nvGrpSpPr>
            <p:cNvPr id="79" name="Группа 78"/>
            <p:cNvGrpSpPr/>
            <p:nvPr/>
          </p:nvGrpSpPr>
          <p:grpSpPr>
            <a:xfrm>
              <a:off x="59762" y="961340"/>
              <a:ext cx="3067371" cy="2078158"/>
              <a:chOff x="59762" y="961339"/>
              <a:chExt cx="3067370" cy="2078156"/>
            </a:xfrm>
          </p:grpSpPr>
          <p:grpSp>
            <p:nvGrpSpPr>
              <p:cNvPr id="74" name="Группа 73"/>
              <p:cNvGrpSpPr/>
              <p:nvPr/>
            </p:nvGrpSpPr>
            <p:grpSpPr>
              <a:xfrm>
                <a:off x="59762" y="961339"/>
                <a:ext cx="3067370" cy="2078156"/>
                <a:chOff x="59762" y="961339"/>
                <a:chExt cx="3067373" cy="2078157"/>
              </a:xfrm>
            </p:grpSpPr>
            <p:grpSp>
              <p:nvGrpSpPr>
                <p:cNvPr id="68" name="Группа 67"/>
                <p:cNvGrpSpPr/>
                <p:nvPr/>
              </p:nvGrpSpPr>
              <p:grpSpPr>
                <a:xfrm>
                  <a:off x="59762" y="961339"/>
                  <a:ext cx="3067373" cy="2078157"/>
                  <a:chOff x="59762" y="961339"/>
                  <a:chExt cx="3067373" cy="2078156"/>
                </a:xfrm>
              </p:grpSpPr>
              <p:grpSp>
                <p:nvGrpSpPr>
                  <p:cNvPr id="66" name="Группа 65"/>
                  <p:cNvGrpSpPr/>
                  <p:nvPr/>
                </p:nvGrpSpPr>
                <p:grpSpPr>
                  <a:xfrm>
                    <a:off x="59762" y="961339"/>
                    <a:ext cx="3067373" cy="2078156"/>
                    <a:chOff x="56955" y="1004595"/>
                    <a:chExt cx="3067373" cy="2078156"/>
                  </a:xfrm>
                </p:grpSpPr>
                <p:grpSp>
                  <p:nvGrpSpPr>
                    <p:cNvPr id="53" name="Группа 52"/>
                    <p:cNvGrpSpPr/>
                    <p:nvPr/>
                  </p:nvGrpSpPr>
                  <p:grpSpPr>
                    <a:xfrm>
                      <a:off x="56955" y="1004595"/>
                      <a:ext cx="3067373" cy="2078156"/>
                      <a:chOff x="56955" y="1004595"/>
                      <a:chExt cx="3067373" cy="2078155"/>
                    </a:xfrm>
                  </p:grpSpPr>
                  <p:grpSp>
                    <p:nvGrpSpPr>
                      <p:cNvPr id="52" name="Группа 51"/>
                      <p:cNvGrpSpPr/>
                      <p:nvPr/>
                    </p:nvGrpSpPr>
                    <p:grpSpPr>
                      <a:xfrm>
                        <a:off x="56955" y="1004595"/>
                        <a:ext cx="2927939" cy="2078155"/>
                        <a:chOff x="56955" y="1004595"/>
                        <a:chExt cx="2927940" cy="2078156"/>
                      </a:xfrm>
                    </p:grpSpPr>
                    <p:grpSp>
                      <p:nvGrpSpPr>
                        <p:cNvPr id="41" name="Группа 40"/>
                        <p:cNvGrpSpPr/>
                        <p:nvPr/>
                      </p:nvGrpSpPr>
                      <p:grpSpPr>
                        <a:xfrm>
                          <a:off x="696936" y="1004595"/>
                          <a:ext cx="1779395" cy="2078156"/>
                          <a:chOff x="753463" y="1156647"/>
                          <a:chExt cx="1779394" cy="2078156"/>
                        </a:xfrm>
                      </p:grpSpPr>
                      <p:grpSp>
                        <p:nvGrpSpPr>
                          <p:cNvPr id="21" name="Группа 20"/>
                          <p:cNvGrpSpPr/>
                          <p:nvPr/>
                        </p:nvGrpSpPr>
                        <p:grpSpPr>
                          <a:xfrm>
                            <a:off x="753463" y="1311779"/>
                            <a:ext cx="1779394" cy="1923024"/>
                            <a:chOff x="753463" y="1311079"/>
                            <a:chExt cx="1779394" cy="1923024"/>
                          </a:xfrm>
                        </p:grpSpPr>
                        <p:sp>
                          <p:nvSpPr>
                            <p:cNvPr id="18" name="Полилиния 17"/>
                            <p:cNvSpPr/>
                            <p:nvPr/>
                          </p:nvSpPr>
                          <p:spPr>
                            <a:xfrm>
                              <a:off x="753463" y="1311079"/>
                              <a:ext cx="1779394" cy="1923024"/>
                            </a:xfrm>
                            <a:custGeom>
                              <a:avLst/>
                              <a:gdLst>
                                <a:gd name="connsiteX0" fmla="*/ 92357 w 1779394"/>
                                <a:gd name="connsiteY0" fmla="*/ 1325441 h 1923024"/>
                                <a:gd name="connsiteX1" fmla="*/ 16157 w 1779394"/>
                                <a:gd name="connsiteY1" fmla="*/ 837761 h 1923024"/>
                                <a:gd name="connsiteX2" fmla="*/ 412397 w 1779394"/>
                                <a:gd name="connsiteY2" fmla="*/ 159581 h 1923024"/>
                                <a:gd name="connsiteX3" fmla="*/ 930557 w 1779394"/>
                                <a:gd name="connsiteY3" fmla="*/ 30041 h 1923024"/>
                                <a:gd name="connsiteX4" fmla="*/ 1593497 w 1779394"/>
                                <a:gd name="connsiteY4" fmla="*/ 113861 h 1923024"/>
                                <a:gd name="connsiteX5" fmla="*/ 1723037 w 1779394"/>
                                <a:gd name="connsiteY5" fmla="*/ 1134941 h 1923024"/>
                                <a:gd name="connsiteX6" fmla="*/ 785777 w 1779394"/>
                                <a:gd name="connsiteY6" fmla="*/ 1874081 h 1923024"/>
                                <a:gd name="connsiteX7" fmla="*/ 237137 w 1779394"/>
                                <a:gd name="connsiteY7" fmla="*/ 1797881 h 1923024"/>
                                <a:gd name="connsiteX8" fmla="*/ 92357 w 1779394"/>
                                <a:gd name="connsiteY8" fmla="*/ 1325441 h 192302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</a:cxnLst>
                              <a:rect l="l" t="t" r="r" b="b"/>
                              <a:pathLst>
                                <a:path w="1779394" h="1923024">
                                  <a:moveTo>
                                    <a:pt x="92357" y="1325441"/>
                                  </a:moveTo>
                                  <a:cubicBezTo>
                                    <a:pt x="55527" y="1165421"/>
                                    <a:pt x="-37183" y="1032071"/>
                                    <a:pt x="16157" y="837761"/>
                                  </a:cubicBezTo>
                                  <a:cubicBezTo>
                                    <a:pt x="69497" y="643451"/>
                                    <a:pt x="259997" y="294201"/>
                                    <a:pt x="412397" y="159581"/>
                                  </a:cubicBezTo>
                                  <a:cubicBezTo>
                                    <a:pt x="564797" y="24961"/>
                                    <a:pt x="733707" y="37661"/>
                                    <a:pt x="930557" y="30041"/>
                                  </a:cubicBezTo>
                                  <a:cubicBezTo>
                                    <a:pt x="1127407" y="22421"/>
                                    <a:pt x="1461417" y="-70289"/>
                                    <a:pt x="1593497" y="113861"/>
                                  </a:cubicBezTo>
                                  <a:cubicBezTo>
                                    <a:pt x="1725577" y="298011"/>
                                    <a:pt x="1857657" y="841571"/>
                                    <a:pt x="1723037" y="1134941"/>
                                  </a:cubicBezTo>
                                  <a:cubicBezTo>
                                    <a:pt x="1588417" y="1428311"/>
                                    <a:pt x="1033427" y="1763591"/>
                                    <a:pt x="785777" y="1874081"/>
                                  </a:cubicBezTo>
                                  <a:cubicBezTo>
                                    <a:pt x="538127" y="1984571"/>
                                    <a:pt x="353977" y="1885511"/>
                                    <a:pt x="237137" y="1797881"/>
                                  </a:cubicBezTo>
                                  <a:cubicBezTo>
                                    <a:pt x="120297" y="1710251"/>
                                    <a:pt x="129187" y="1485461"/>
                                    <a:pt x="92357" y="1325441"/>
                                  </a:cubicBezTo>
                                  <a:close/>
                                </a:path>
                              </a:pathLst>
                            </a:custGeom>
                            <a:gradFill flip="none" rotWithShape="1">
                              <a:gsLst>
                                <a:gs pos="0">
                                  <a:schemeClr val="accent1">
                                    <a:lumMod val="40000"/>
                                    <a:lumOff val="60000"/>
                                    <a:shade val="30000"/>
                                    <a:satMod val="115000"/>
                                  </a:schemeClr>
                                </a:gs>
                                <a:gs pos="50000">
                                  <a:schemeClr val="accent1">
                                    <a:lumMod val="40000"/>
                                    <a:lumOff val="60000"/>
                                    <a:shade val="67500"/>
                                    <a:satMod val="115000"/>
                                  </a:schemeClr>
                                </a:gs>
                                <a:gs pos="100000">
                                  <a:schemeClr val="accent1">
                                    <a:lumMod val="40000"/>
                                    <a:lumOff val="60000"/>
                                    <a:shade val="100000"/>
                                    <a:satMod val="115000"/>
                                  </a:schemeClr>
                                </a:gs>
                              </a:gsLst>
                              <a:lin ang="0" scaled="1"/>
                              <a:tileRect/>
                            </a:gradFill>
                            <a:ln w="952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  <p:sp>
                          <p:nvSpPr>
                            <p:cNvPr id="20" name="Равнобедренный треугольник 19"/>
                            <p:cNvSpPr/>
                            <p:nvPr/>
                          </p:nvSpPr>
                          <p:spPr>
                            <a:xfrm>
                              <a:off x="1308163" y="2972387"/>
                              <a:ext cx="131191" cy="121333"/>
                            </a:xfrm>
                            <a:prstGeom prst="triangle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  <p:sp>
                          <p:nvSpPr>
                            <p:cNvPr id="19" name="Овал 18"/>
                            <p:cNvSpPr/>
                            <p:nvPr/>
                          </p:nvSpPr>
                          <p:spPr>
                            <a:xfrm>
                              <a:off x="1333754" y="2932382"/>
                              <a:ext cx="80010" cy="80010"/>
                            </a:xfrm>
                            <a:prstGeom prst="ellipse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</p:grpSp>
                      <p:sp>
                        <p:nvSpPr>
                          <p:cNvPr id="28" name="Равнобедренный треугольник 27"/>
                          <p:cNvSpPr/>
                          <p:nvPr/>
                        </p:nvSpPr>
                        <p:spPr>
                          <a:xfrm rot="4442872">
                            <a:off x="1313407" y="1974319"/>
                            <a:ext cx="803655" cy="909768"/>
                          </a:xfrm>
                          <a:prstGeom prst="triangle">
                            <a:avLst>
                              <a:gd name="adj" fmla="val 0"/>
                            </a:avLst>
                          </a:prstGeom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  <p:cxnSp>
                        <p:nvCxnSpPr>
                          <p:cNvPr id="23" name="Прямая со стрелкой 22"/>
                          <p:cNvCxnSpPr>
                            <a:stCxn id="19" idx="0"/>
                          </p:cNvCxnSpPr>
                          <p:nvPr/>
                        </p:nvCxnSpPr>
                        <p:spPr>
                          <a:xfrm flipH="1" flipV="1">
                            <a:off x="895350" y="1156647"/>
                            <a:ext cx="478409" cy="1776435"/>
                          </a:xfrm>
                          <a:prstGeom prst="straightConnector1">
                            <a:avLst/>
                          </a:prstGeom>
                          <a:ln w="9525">
                            <a:solidFill>
                              <a:schemeClr val="tx1"/>
                            </a:solidFill>
                            <a:tailEnd type="stealt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5" name="Прямая со стрелкой 24"/>
                          <p:cNvCxnSpPr/>
                          <p:nvPr/>
                        </p:nvCxnSpPr>
                        <p:spPr>
                          <a:xfrm flipH="1" flipV="1">
                            <a:off x="1165860" y="2175510"/>
                            <a:ext cx="207900" cy="756872"/>
                          </a:xfrm>
                          <a:prstGeom prst="straightConnector1">
                            <a:avLst/>
                          </a:prstGeom>
                          <a:ln w="19050">
                            <a:solidFill>
                              <a:srgbClr val="0000FF"/>
                            </a:solidFill>
                            <a:tailEnd type="stealt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1" name="Прямая со стрелкой 30"/>
                          <p:cNvCxnSpPr>
                            <a:stCxn id="28" idx="4"/>
                            <a:endCxn id="45" idx="3"/>
                          </p:cNvCxnSpPr>
                          <p:nvPr/>
                        </p:nvCxnSpPr>
                        <p:spPr>
                          <a:xfrm flipV="1">
                            <a:off x="1388303" y="1944453"/>
                            <a:ext cx="637698" cy="99612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tailEnd type="stealt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3" name="Полилиния 32"/>
                          <p:cNvSpPr/>
                          <p:nvPr/>
                        </p:nvSpPr>
                        <p:spPr>
                          <a:xfrm>
                            <a:off x="1497330" y="1850343"/>
                            <a:ext cx="580147" cy="650333"/>
                          </a:xfrm>
                          <a:custGeom>
                            <a:avLst/>
                            <a:gdLst>
                              <a:gd name="connsiteX0" fmla="*/ 0 w 580147"/>
                              <a:gd name="connsiteY0" fmla="*/ 53984 h 650333"/>
                              <a:gd name="connsiteX1" fmla="*/ 243840 w 580147"/>
                              <a:gd name="connsiteY1" fmla="*/ 8264 h 650333"/>
                              <a:gd name="connsiteX2" fmla="*/ 438150 w 580147"/>
                              <a:gd name="connsiteY2" fmla="*/ 8264 h 650333"/>
                              <a:gd name="connsiteX3" fmla="*/ 560070 w 580147"/>
                              <a:gd name="connsiteY3" fmla="*/ 92084 h 650333"/>
                              <a:gd name="connsiteX4" fmla="*/ 575310 w 580147"/>
                              <a:gd name="connsiteY4" fmla="*/ 252104 h 650333"/>
                              <a:gd name="connsiteX5" fmla="*/ 510540 w 580147"/>
                              <a:gd name="connsiteY5" fmla="*/ 473084 h 650333"/>
                              <a:gd name="connsiteX6" fmla="*/ 441960 w 580147"/>
                              <a:gd name="connsiteY6" fmla="*/ 629294 h 650333"/>
                              <a:gd name="connsiteX7" fmla="*/ 434340 w 580147"/>
                              <a:gd name="connsiteY7" fmla="*/ 644534 h 650333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</a:cxnLst>
                            <a:rect l="l" t="t" r="r" b="b"/>
                            <a:pathLst>
                              <a:path w="580147" h="650333">
                                <a:moveTo>
                                  <a:pt x="0" y="53984"/>
                                </a:moveTo>
                                <a:cubicBezTo>
                                  <a:pt x="85407" y="34934"/>
                                  <a:pt x="170815" y="15884"/>
                                  <a:pt x="243840" y="8264"/>
                                </a:cubicBezTo>
                                <a:cubicBezTo>
                                  <a:pt x="316865" y="644"/>
                                  <a:pt x="385445" y="-5706"/>
                                  <a:pt x="438150" y="8264"/>
                                </a:cubicBezTo>
                                <a:cubicBezTo>
                                  <a:pt x="490855" y="22234"/>
                                  <a:pt x="537210" y="51444"/>
                                  <a:pt x="560070" y="92084"/>
                                </a:cubicBezTo>
                                <a:cubicBezTo>
                                  <a:pt x="582930" y="132724"/>
                                  <a:pt x="583565" y="188604"/>
                                  <a:pt x="575310" y="252104"/>
                                </a:cubicBezTo>
                                <a:cubicBezTo>
                                  <a:pt x="567055" y="315604"/>
                                  <a:pt x="532765" y="410219"/>
                                  <a:pt x="510540" y="473084"/>
                                </a:cubicBezTo>
                                <a:cubicBezTo>
                                  <a:pt x="488315" y="535949"/>
                                  <a:pt x="454660" y="600719"/>
                                  <a:pt x="441960" y="629294"/>
                                </a:cubicBezTo>
                                <a:cubicBezTo>
                                  <a:pt x="429260" y="657869"/>
                                  <a:pt x="431800" y="651201"/>
                                  <a:pt x="434340" y="644534"/>
                                </a:cubicBezTo>
                              </a:path>
                            </a:pathLst>
                          </a:custGeom>
                          <a:ln w="317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  <p:sp>
                        <p:nvSpPr>
                          <p:cNvPr id="38" name="Дуга 37"/>
                          <p:cNvSpPr/>
                          <p:nvPr/>
                        </p:nvSpPr>
                        <p:spPr>
                          <a:xfrm rot="15259070">
                            <a:off x="1892509" y="1832338"/>
                            <a:ext cx="194310" cy="191902"/>
                          </a:xfrm>
                          <a:prstGeom prst="arc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  <p:cxnSp>
                        <p:nvCxnSpPr>
                          <p:cNvPr id="35" name="Прямая со стрелкой 34"/>
                          <p:cNvCxnSpPr/>
                          <p:nvPr/>
                        </p:nvCxnSpPr>
                        <p:spPr>
                          <a:xfrm flipH="1" flipV="1">
                            <a:off x="1700000" y="1608406"/>
                            <a:ext cx="342166" cy="309426"/>
                          </a:xfrm>
                          <a:prstGeom prst="straightConnector1">
                            <a:avLst/>
                          </a:prstGeom>
                          <a:ln w="19050">
                            <a:solidFill>
                              <a:srgbClr val="0000FF"/>
                            </a:solidFill>
                            <a:tailEnd type="stealt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0" name="TextBox 39"/>
                          <p:cNvSpPr txBox="1"/>
                          <p:nvPr/>
                        </p:nvSpPr>
                        <p:spPr>
                          <a:xfrm>
                            <a:off x="1869962" y="1696454"/>
                            <a:ext cx="113693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ru-RU" dirty="0" smtClean="0"/>
                              <a:t>.</a:t>
                            </a:r>
                            <a:endParaRPr lang="ru-RU" dirty="0"/>
                          </a:p>
                        </p:txBody>
                      </p:sp>
                    </p:grpSp>
                    <p:sp>
                      <p:nvSpPr>
                        <p:cNvPr id="43" name="Овальная выноска 42"/>
                        <p:cNvSpPr/>
                        <p:nvPr/>
                      </p:nvSpPr>
                      <p:spPr>
                        <a:xfrm rot="5400000">
                          <a:off x="2243843" y="1940858"/>
                          <a:ext cx="518160" cy="963944"/>
                        </a:xfrm>
                        <a:prstGeom prst="wedgeEllipseCallout">
                          <a:avLst/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  <p:sp>
                      <p:nvSpPr>
                        <p:cNvPr id="45" name="Овал 44"/>
                        <p:cNvSpPr/>
                        <p:nvPr/>
                      </p:nvSpPr>
                      <p:spPr>
                        <a:xfrm>
                          <a:off x="1962780" y="1753376"/>
                          <a:ext cx="45719" cy="45719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  <p:sp>
                      <p:nvSpPr>
                        <p:cNvPr id="47" name="Овальная выноска 46"/>
                        <p:cNvSpPr/>
                        <p:nvPr/>
                      </p:nvSpPr>
                      <p:spPr>
                        <a:xfrm rot="15841725">
                          <a:off x="271755" y="1430456"/>
                          <a:ext cx="559370" cy="875280"/>
                        </a:xfrm>
                        <a:prstGeom prst="wedgeEllipseCallout">
                          <a:avLst>
                            <a:gd name="adj1" fmla="val 90256"/>
                            <a:gd name="adj2" fmla="val 49223"/>
                          </a:avLst>
                        </a:prstGeom>
                        <a:solidFill>
                          <a:schemeClr val="bg1"/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  <p:sp>
                      <p:nvSpPr>
                        <p:cNvPr id="49" name="TextBox 48"/>
                        <p:cNvSpPr txBox="1"/>
                        <p:nvPr/>
                      </p:nvSpPr>
                      <p:spPr>
                        <a:xfrm>
                          <a:off x="56955" y="1650438"/>
                          <a:ext cx="1034704" cy="48474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ru-RU" sz="12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Мгновенная </a:t>
                          </a:r>
                        </a:p>
                        <a:p>
                          <a:pPr algn="ctr"/>
                          <a:r>
                            <a:rPr lang="ru-RU" sz="12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ось вращения</a:t>
                          </a:r>
                        </a:p>
                        <a:p>
                          <a:pPr algn="ctr"/>
                          <a:r>
                            <a:rPr lang="ru-RU" sz="12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тела</a:t>
                          </a:r>
                        </a:p>
                      </p:txBody>
                    </p:sp>
                  </p:grpSp>
                  <p:sp>
                    <p:nvSpPr>
                      <p:cNvPr id="44" name="TextBox 43"/>
                      <p:cNvSpPr txBox="1"/>
                      <p:nvPr/>
                    </p:nvSpPr>
                    <p:spPr>
                      <a:xfrm>
                        <a:off x="1881515" y="2212391"/>
                        <a:ext cx="1242813" cy="48474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ru-RU" sz="1200" b="1" dirty="0">
                            <a:latin typeface="Times New Roman" pitchFamily="18" charset="0"/>
                            <a:cs typeface="Times New Roman" pitchFamily="18" charset="0"/>
                          </a:rPr>
                          <a:t>Мгновенная траектория </a:t>
                        </a:r>
                      </a:p>
                      <a:p>
                        <a:pPr algn="ctr"/>
                        <a:r>
                          <a:rPr lang="ru-RU" sz="1200" b="1" dirty="0">
                            <a:latin typeface="Times New Roman" pitchFamily="18" charset="0"/>
                            <a:cs typeface="Times New Roman" pitchFamily="18" charset="0"/>
                          </a:rPr>
                          <a:t>точки</a:t>
                        </a:r>
                      </a:p>
                    </p:txBody>
                  </p:sp>
                </p:grpSp>
                <p:sp>
                  <p:nvSpPr>
                    <p:cNvPr id="65" name="Дуга 64"/>
                    <p:cNvSpPr/>
                    <p:nvPr/>
                  </p:nvSpPr>
                  <p:spPr>
                    <a:xfrm rot="4959490">
                      <a:off x="891337" y="1815632"/>
                      <a:ext cx="373380" cy="369570"/>
                    </a:xfrm>
                    <a:prstGeom prst="arc">
                      <a:avLst>
                        <a:gd name="adj1" fmla="val 16200000"/>
                        <a:gd name="adj2" fmla="val 20452785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67" name="TextBox 66"/>
                  <p:cNvSpPr txBox="1"/>
                  <p:nvPr/>
                </p:nvSpPr>
                <p:spPr>
                  <a:xfrm>
                    <a:off x="1080834" y="1808923"/>
                    <a:ext cx="22752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dirty="0" smtClean="0"/>
                      <a:t>.</a:t>
                    </a:r>
                    <a:endParaRPr lang="ru-RU" dirty="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Прямоугольник 68"/>
                    <p:cNvSpPr/>
                    <p:nvPr/>
                  </p:nvSpPr>
                  <p:spPr>
                    <a:xfrm>
                      <a:off x="1653689" y="1180816"/>
                      <a:ext cx="299505" cy="31162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ru-RU" sz="21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sz="2100" i="1">
                                    <a:latin typeface="Cambria Math"/>
                                  </a:rPr>
                                  <m:t>𝑣</m:t>
                                </m:r>
                              </m:e>
                            </m:acc>
                          </m:oMath>
                        </m:oMathPara>
                      </a14:m>
                      <a:endParaRPr lang="ru-RU" sz="2100" dirty="0"/>
                    </a:p>
                  </p:txBody>
                </p:sp>
              </mc:Choice>
              <mc:Fallback xmlns="">
                <p:sp>
                  <p:nvSpPr>
                    <p:cNvPr id="69" name="Прямоугольник 6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3689" y="1180816"/>
                      <a:ext cx="349390" cy="338554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r="-172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Прямоугольник 69"/>
                    <p:cNvSpPr/>
                    <p:nvPr/>
                  </p:nvSpPr>
                  <p:spPr>
                    <a:xfrm>
                      <a:off x="852038" y="2081938"/>
                      <a:ext cx="335284" cy="31162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ru-RU" sz="21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ru-RU" sz="2100" i="1">
                                    <a:latin typeface="Cambria Math"/>
                                  </a:rPr>
                                  <m:t>𝜔</m:t>
                                </m:r>
                              </m:e>
                            </m:acc>
                          </m:oMath>
                        </m:oMathPara>
                      </a14:m>
                      <a:endParaRPr lang="ru-RU" sz="2100" dirty="0"/>
                    </a:p>
                  </p:txBody>
                </p:sp>
              </mc:Choice>
              <mc:Fallback xmlns="">
                <p:sp>
                  <p:nvSpPr>
                    <p:cNvPr id="70" name="Прямоугольник 6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2038" y="2081937"/>
                      <a:ext cx="384721" cy="338554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Прямоугольник 70"/>
                    <p:cNvSpPr/>
                    <p:nvPr/>
                  </p:nvSpPr>
                  <p:spPr>
                    <a:xfrm>
                      <a:off x="1194594" y="1622368"/>
                      <a:ext cx="299457" cy="31162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100" i="1">
                                <a:latin typeface="Cambria Math"/>
                              </a:rPr>
                              <m:t>h</m:t>
                            </m:r>
                          </m:oMath>
                        </m:oMathPara>
                      </a14:m>
                      <a:endParaRPr lang="ru-RU" sz="2100" dirty="0"/>
                    </a:p>
                  </p:txBody>
                </p:sp>
              </mc:Choice>
              <mc:Fallback xmlns="">
                <p:sp>
                  <p:nvSpPr>
                    <p:cNvPr id="71" name="Прямоугольник 7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4594" y="1622367"/>
                      <a:ext cx="348493" cy="338554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Прямоугольник 71"/>
                    <p:cNvSpPr/>
                    <p:nvPr/>
                  </p:nvSpPr>
                  <p:spPr>
                    <a:xfrm>
                      <a:off x="1568882" y="2116701"/>
                      <a:ext cx="284789" cy="31162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ru-RU" sz="21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ru-RU" sz="2100" i="1">
                                    <a:latin typeface="Cambria Math"/>
                                  </a:rPr>
                                  <m:t>𝑟</m:t>
                                </m:r>
                              </m:e>
                            </m:acc>
                          </m:oMath>
                        </m:oMathPara>
                      </a14:m>
                      <a:endParaRPr lang="ru-RU" sz="2100" dirty="0"/>
                    </a:p>
                  </p:txBody>
                </p:sp>
              </mc:Choice>
              <mc:Fallback xmlns="">
                <p:sp>
                  <p:nvSpPr>
                    <p:cNvPr id="72" name="Прямоугольник 7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68882" y="2116700"/>
                      <a:ext cx="333425" cy="338554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r="-1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3" name="TextBox 72"/>
                <p:cNvSpPr txBox="1"/>
                <p:nvPr/>
              </p:nvSpPr>
              <p:spPr>
                <a:xfrm>
                  <a:off x="1018607" y="2591335"/>
                  <a:ext cx="20780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b="1" i="1" dirty="0" smtClean="0">
                      <a:latin typeface="Times New Roman" pitchFamily="18" charset="0"/>
                      <a:cs typeface="Times New Roman" pitchFamily="18" charset="0"/>
                    </a:rPr>
                    <a:t>О</a:t>
                  </a:r>
                  <a:endParaRPr lang="ru-RU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78" name="Дуга 77"/>
              <p:cNvSpPr/>
              <p:nvPr/>
            </p:nvSpPr>
            <p:spPr>
              <a:xfrm rot="19691785">
                <a:off x="1229913" y="2556616"/>
                <a:ext cx="211574" cy="19431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Прямоугольник 79"/>
                <p:cNvSpPr/>
                <p:nvPr/>
              </p:nvSpPr>
              <p:spPr>
                <a:xfrm>
                  <a:off x="1188438" y="2285977"/>
                  <a:ext cx="311720" cy="3116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100" i="1">
                            <a:latin typeface="Cambria Math"/>
                          </a:rPr>
                          <m:t>𝛼</m:t>
                        </m:r>
                      </m:oMath>
                    </m:oMathPara>
                  </a14:m>
                  <a:endParaRPr lang="ru-RU" sz="2100" dirty="0"/>
                </a:p>
              </p:txBody>
            </p:sp>
          </mc:Choice>
          <mc:Fallback xmlns="">
            <p:sp>
              <p:nvSpPr>
                <p:cNvPr id="80" name="Прямоугольник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8438" y="2285977"/>
                  <a:ext cx="360803" cy="338554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Прямоугольник 81"/>
              <p:cNvSpPr/>
              <p:nvPr/>
            </p:nvSpPr>
            <p:spPr>
              <a:xfrm>
                <a:off x="393219" y="5358075"/>
                <a:ext cx="11232959" cy="1169535"/>
              </a:xfrm>
              <a:prstGeom prst="rect">
                <a:avLst/>
              </a:prstGeom>
            </p:spPr>
            <p:txBody>
              <a:bodyPr wrap="square" lIns="121902" tIns="60952" rIns="121902" bIns="60952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Раскрывая этот определитель по элементам первой строки, найдем проекции скорости точки тела на оси подвижной системы координат:</a:t>
                </a:r>
                <a:endParaRPr lang="en-US" sz="16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ru-RU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      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𝑍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𝑍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𝑌</m:t>
                    </m:r>
                    <m:r>
                      <a:rPr lang="en-US" i="1">
                        <a:latin typeface="Cambria Math"/>
                      </a:rPr>
                      <m:t>;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𝑍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𝑍</m:t>
                    </m:r>
                    <m:r>
                      <a:rPr lang="en-US" i="1">
                        <a:latin typeface="Cambria Math"/>
                      </a:rPr>
                      <m:t>;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𝑍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𝑌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ru-RU" b="0" i="1" smtClean="0">
                        <a:latin typeface="Cambria Math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82" name="Прямоугольник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19" y="5358075"/>
                <a:ext cx="11232959" cy="1169535"/>
              </a:xfrm>
              <a:prstGeom prst="rect">
                <a:avLst/>
              </a:prstGeom>
              <a:blipFill rotWithShape="1">
                <a:blip r:embed="rId11"/>
                <a:stretch>
                  <a:fillRect l="-54" t="-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2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7" grpId="0"/>
      <p:bldP spid="75" grpId="0"/>
      <p:bldP spid="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36859" y="651027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36858" y="744792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09600" y="873761"/>
            <a:ext cx="9926320" cy="36932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точек, расположенных на мгновенной оси, скорости равны нулю, тогда: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2028108" y="1388508"/>
                <a:ext cx="5676425" cy="410369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𝑍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𝑍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𝑌</m:t>
                    </m:r>
                    <m:r>
                      <a:rPr lang="ru-RU" b="0" i="1" smtClean="0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;</m:t>
                    </m:r>
                  </m:oMath>
                </a14:m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𝑍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𝑋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𝑍</m:t>
                    </m:r>
                    <m:r>
                      <a:rPr lang="ru-RU" b="0" i="1" smtClean="0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;</m:t>
                    </m:r>
                    <m:r>
                      <a:rPr lang="ru-RU" b="0" i="0" smtClean="0">
                        <a:latin typeface="Cambria Math"/>
                      </a:rPr>
                      <m:t>   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𝑌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𝑋</m:t>
                    </m:r>
                    <m:r>
                      <a:rPr lang="ru-RU" b="0" i="1" smtClean="0">
                        <a:latin typeface="Cambria Math"/>
                      </a:rPr>
                      <m:t>=0</m:t>
                    </m:r>
                    <m:r>
                      <a:rPr lang="ru-RU" i="1">
                        <a:latin typeface="Cambria Math"/>
                      </a:rPr>
                      <m:t>.</m:t>
                    </m:r>
                  </m:oMath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080" y="1041380"/>
                <a:ext cx="4257319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41680" y="2036210"/>
            <a:ext cx="4484461" cy="36932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Эти уравнения можно переписать в виде: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5572760" y="1938076"/>
                <a:ext cx="1883592" cy="707801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𝑌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𝑍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𝑍</m:t>
                              </m:r>
                            </m:sub>
                          </m:sSub>
                        </m:den>
                      </m:f>
                      <m:r>
                        <a:rPr lang="ru-RU" b="0" i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570" y="1453556"/>
                <a:ext cx="1412694" cy="53085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41680" y="2674352"/>
            <a:ext cx="10708640" cy="86177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Данные соотношения являются уравнениями мгновенных осей вращения тела в подвижной системе координат. Если величины, входящие в данные уравнения, рассматривать как функции времени, то эти соотношения будут уравнениями подвижного аксоида.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732349" y="3330849"/>
                <a:ext cx="10607040" cy="1814724"/>
              </a:xfrm>
              <a:prstGeom prst="rect">
                <a:avLst/>
              </a:prstGeom>
            </p:spPr>
            <p:txBody>
              <a:bodyPr wrap="square" lIns="121917" tIns="60958" rIns="121917" bIns="60958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Поскольку длина радиуса-вектора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как расстояние между двумя точками в твердом теле является постоянной величиной, то формулу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Эйлера:</a:t>
                </a:r>
              </a:p>
              <a:p>
                <a:pPr algn="ctr"/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i="1">
                            <a:latin typeface="Cambria Math"/>
                          </a:rPr>
                          <m:t>𝑑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ru-RU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ru-RU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𝑟</m:t>
                        </m:r>
                      </m:e>
                    </m:acc>
                  </m:oMath>
                </a14:m>
                <a:endParaRPr lang="ru-RU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можно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рассматривать, как формулу для вычисления производной по времени от вектора постоянного по модулю, изменение которого связано только с поворотом вокруг неподвижной точки.</a:t>
                </a:r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49" y="3330849"/>
                <a:ext cx="10607040" cy="1814724"/>
              </a:xfrm>
              <a:prstGeom prst="rect">
                <a:avLst/>
              </a:prstGeom>
              <a:blipFill rotWithShape="1">
                <a:blip r:embed="rId5"/>
                <a:stretch>
                  <a:fillRect b="-2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732349" y="5069193"/>
                <a:ext cx="10607040" cy="1471040"/>
              </a:xfrm>
              <a:prstGeom prst="rect">
                <a:avLst/>
              </a:prstGeom>
            </p:spPr>
            <p:txBody>
              <a:bodyPr wrap="square" lIns="121917" tIns="60958" rIns="121917" bIns="60958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Если в качестве таких векторов взять орты подвижной системы координат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𝐼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,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𝐽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,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𝐾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вращающейся с угловой скоростью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то получим </a:t>
                </a:r>
                <a:r>
                  <a:rPr lang="ru-RU" sz="16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формулы Пуассона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𝐼</m:t>
                              </m:r>
                            </m:e>
                          </m:acc>
                        </m:num>
                        <m:den>
                          <m:r>
                            <a:rPr lang="ru-RU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𝐼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;  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𝐽</m:t>
                              </m:r>
                            </m:e>
                          </m:acc>
                        </m:num>
                        <m:den>
                          <m:r>
                            <a:rPr lang="ru-RU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𝐽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;  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𝐾</m:t>
                              </m:r>
                            </m:e>
                          </m:acc>
                        </m:num>
                        <m:den>
                          <m:r>
                            <a:rPr lang="ru-RU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𝐾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. </m:t>
                      </m:r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49" y="5069193"/>
                <a:ext cx="10607040" cy="147104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6860" y="101172"/>
            <a:ext cx="10071801" cy="53346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27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Уравнение мгновенной оси вращения. Формулы Пуассона.</a:t>
            </a:r>
          </a:p>
        </p:txBody>
      </p:sp>
      <p:sp>
        <p:nvSpPr>
          <p:cNvPr id="15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0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2" grpId="0"/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/>
          <p:cNvGrpSpPr/>
          <p:nvPr/>
        </p:nvGrpSpPr>
        <p:grpSpPr>
          <a:xfrm>
            <a:off x="418078" y="1164842"/>
            <a:ext cx="2620990" cy="2746042"/>
            <a:chOff x="471967" y="352940"/>
            <a:chExt cx="2184158" cy="2288368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471967" y="352940"/>
              <a:ext cx="2184158" cy="2288368"/>
              <a:chOff x="471967" y="352940"/>
              <a:chExt cx="2184158" cy="2288368"/>
            </a:xfrm>
          </p:grpSpPr>
          <p:grpSp>
            <p:nvGrpSpPr>
              <p:cNvPr id="12" name="Группа 11"/>
              <p:cNvGrpSpPr/>
              <p:nvPr/>
            </p:nvGrpSpPr>
            <p:grpSpPr>
              <a:xfrm>
                <a:off x="471967" y="352940"/>
                <a:ext cx="2184158" cy="2288368"/>
                <a:chOff x="471967" y="352940"/>
                <a:chExt cx="2184158" cy="228836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Прямоугольник 13"/>
                    <p:cNvSpPr/>
                    <p:nvPr/>
                  </p:nvSpPr>
                  <p:spPr>
                    <a:xfrm>
                      <a:off x="1394483" y="352940"/>
                      <a:ext cx="450037" cy="30777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i="1">
                                <a:latin typeface="Cambria Math"/>
                              </a:rPr>
                              <m:t>𝜔</m:t>
                            </m:r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17" name="Прямоугольник 1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94483" y="352940"/>
                      <a:ext cx="450037" cy="307777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" name="Выгнутая влево стрелка 14"/>
                <p:cNvSpPr/>
                <p:nvPr/>
              </p:nvSpPr>
              <p:spPr>
                <a:xfrm rot="1498361">
                  <a:off x="1737936" y="586321"/>
                  <a:ext cx="175263" cy="178988"/>
                </a:xfrm>
                <a:prstGeom prst="curvedRightArrow">
                  <a:avLst/>
                </a:prstGeom>
                <a:solidFill>
                  <a:srgbClr val="0000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6" name="Группа 15"/>
                <p:cNvGrpSpPr/>
                <p:nvPr/>
              </p:nvGrpSpPr>
              <p:grpSpPr>
                <a:xfrm>
                  <a:off x="471967" y="578481"/>
                  <a:ext cx="2184158" cy="2062827"/>
                  <a:chOff x="471967" y="578481"/>
                  <a:chExt cx="2184158" cy="2062827"/>
                </a:xfrm>
              </p:grpSpPr>
              <p:sp>
                <p:nvSpPr>
                  <p:cNvPr id="17" name="Полилиния 16"/>
                  <p:cNvSpPr/>
                  <p:nvPr/>
                </p:nvSpPr>
                <p:spPr>
                  <a:xfrm>
                    <a:off x="471967" y="832858"/>
                    <a:ext cx="2184158" cy="1808450"/>
                  </a:xfrm>
                  <a:custGeom>
                    <a:avLst/>
                    <a:gdLst>
                      <a:gd name="connsiteX0" fmla="*/ 138381 w 1595266"/>
                      <a:gd name="connsiteY0" fmla="*/ 1188728 h 1308840"/>
                      <a:gd name="connsiteX1" fmla="*/ 1221 w 1595266"/>
                      <a:gd name="connsiteY1" fmla="*/ 797568 h 1308840"/>
                      <a:gd name="connsiteX2" fmla="*/ 224741 w 1595266"/>
                      <a:gd name="connsiteY2" fmla="*/ 193048 h 1308840"/>
                      <a:gd name="connsiteX3" fmla="*/ 880061 w 1595266"/>
                      <a:gd name="connsiteY3" fmla="*/ 8 h 1308840"/>
                      <a:gd name="connsiteX4" fmla="*/ 1449021 w 1595266"/>
                      <a:gd name="connsiteY4" fmla="*/ 198128 h 1308840"/>
                      <a:gd name="connsiteX5" fmla="*/ 1570941 w 1595266"/>
                      <a:gd name="connsiteY5" fmla="*/ 731528 h 1308840"/>
                      <a:gd name="connsiteX6" fmla="*/ 1062941 w 1595266"/>
                      <a:gd name="connsiteY6" fmla="*/ 1148088 h 1308840"/>
                      <a:gd name="connsiteX7" fmla="*/ 478741 w 1595266"/>
                      <a:gd name="connsiteY7" fmla="*/ 1305568 h 1308840"/>
                      <a:gd name="connsiteX8" fmla="*/ 209501 w 1595266"/>
                      <a:gd name="connsiteY8" fmla="*/ 1249688 h 1308840"/>
                      <a:gd name="connsiteX9" fmla="*/ 138381 w 1595266"/>
                      <a:gd name="connsiteY9" fmla="*/ 1188728 h 1308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595266" h="1308840">
                        <a:moveTo>
                          <a:pt x="138381" y="1188728"/>
                        </a:moveTo>
                        <a:cubicBezTo>
                          <a:pt x="103668" y="1113375"/>
                          <a:pt x="-13172" y="963515"/>
                          <a:pt x="1221" y="797568"/>
                        </a:cubicBezTo>
                        <a:cubicBezTo>
                          <a:pt x="15614" y="631621"/>
                          <a:pt x="78268" y="325975"/>
                          <a:pt x="224741" y="193048"/>
                        </a:cubicBezTo>
                        <a:cubicBezTo>
                          <a:pt x="371214" y="60121"/>
                          <a:pt x="676014" y="-839"/>
                          <a:pt x="880061" y="8"/>
                        </a:cubicBezTo>
                        <a:cubicBezTo>
                          <a:pt x="1084108" y="855"/>
                          <a:pt x="1333874" y="76208"/>
                          <a:pt x="1449021" y="198128"/>
                        </a:cubicBezTo>
                        <a:cubicBezTo>
                          <a:pt x="1564168" y="320048"/>
                          <a:pt x="1635288" y="573201"/>
                          <a:pt x="1570941" y="731528"/>
                        </a:cubicBezTo>
                        <a:cubicBezTo>
                          <a:pt x="1506594" y="889855"/>
                          <a:pt x="1244974" y="1052415"/>
                          <a:pt x="1062941" y="1148088"/>
                        </a:cubicBezTo>
                        <a:cubicBezTo>
                          <a:pt x="880908" y="1243761"/>
                          <a:pt x="620981" y="1288635"/>
                          <a:pt x="478741" y="1305568"/>
                        </a:cubicBezTo>
                        <a:cubicBezTo>
                          <a:pt x="336501" y="1322501"/>
                          <a:pt x="267921" y="1269161"/>
                          <a:pt x="209501" y="1249688"/>
                        </a:cubicBezTo>
                        <a:cubicBezTo>
                          <a:pt x="151081" y="1230215"/>
                          <a:pt x="173094" y="1264081"/>
                          <a:pt x="138381" y="1188728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40000"/>
                          <a:lumOff val="60000"/>
                          <a:shade val="30000"/>
                          <a:satMod val="115000"/>
                        </a:schemeClr>
                      </a:gs>
                      <a:gs pos="50000">
                        <a:schemeClr val="accent1">
                          <a:lumMod val="40000"/>
                          <a:lumOff val="60000"/>
                          <a:shade val="67500"/>
                          <a:satMod val="115000"/>
                        </a:schemeClr>
                      </a:gs>
                      <a:gs pos="100000">
                        <a:schemeClr val="accent1">
                          <a:lumMod val="40000"/>
                          <a:lumOff val="60000"/>
                          <a:shade val="100000"/>
                          <a:satMod val="115000"/>
                        </a:schemeClr>
                      </a:gs>
                    </a:gsLst>
                    <a:lin ang="18900000" scaled="1"/>
                    <a:tileRect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8" name="Равнобедренный треугольник 17"/>
                  <p:cNvSpPr/>
                  <p:nvPr/>
                </p:nvSpPr>
                <p:spPr>
                  <a:xfrm>
                    <a:off x="863248" y="2375243"/>
                    <a:ext cx="138236" cy="84231"/>
                  </a:xfrm>
                  <a:prstGeom prst="triangl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9" name="Овал 18"/>
                  <p:cNvSpPr/>
                  <p:nvPr/>
                </p:nvSpPr>
                <p:spPr>
                  <a:xfrm>
                    <a:off x="901071" y="2343673"/>
                    <a:ext cx="62596" cy="63171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grpSp>
                <p:nvGrpSpPr>
                  <p:cNvPr id="20" name="Группа 19"/>
                  <p:cNvGrpSpPr/>
                  <p:nvPr/>
                </p:nvGrpSpPr>
                <p:grpSpPr>
                  <a:xfrm rot="1252268">
                    <a:off x="1279006" y="578481"/>
                    <a:ext cx="230960" cy="1865157"/>
                    <a:chOff x="985067" y="3230466"/>
                    <a:chExt cx="168688" cy="1361897"/>
                  </a:xfrm>
                </p:grpSpPr>
                <p:cxnSp>
                  <p:nvCxnSpPr>
                    <p:cNvPr id="23" name="Прямая соединительная линия 22"/>
                    <p:cNvCxnSpPr>
                      <a:stCxn id="19" idx="0"/>
                    </p:cNvCxnSpPr>
                    <p:nvPr/>
                  </p:nvCxnSpPr>
                  <p:spPr>
                    <a:xfrm flipV="1">
                      <a:off x="985067" y="3230466"/>
                      <a:ext cx="168688" cy="1361897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Прямая со стрелкой 23"/>
                    <p:cNvCxnSpPr>
                      <a:stCxn id="19" idx="0"/>
                    </p:cNvCxnSpPr>
                    <p:nvPr/>
                  </p:nvCxnSpPr>
                  <p:spPr>
                    <a:xfrm flipV="1">
                      <a:off x="985067" y="3415132"/>
                      <a:ext cx="150147" cy="1177231"/>
                    </a:xfrm>
                    <a:prstGeom prst="straightConnector1">
                      <a:avLst/>
                    </a:prstGeom>
                    <a:ln w="12700">
                      <a:solidFill>
                        <a:srgbClr val="0000CC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1" name="Прямая со стрелкой 20"/>
                  <p:cNvCxnSpPr/>
                  <p:nvPr/>
                </p:nvCxnSpPr>
                <p:spPr>
                  <a:xfrm flipV="1">
                    <a:off x="957355" y="1925435"/>
                    <a:ext cx="218564" cy="406496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Прямоугольник 21"/>
                      <p:cNvSpPr/>
                      <p:nvPr/>
                    </p:nvSpPr>
                    <p:spPr>
                      <a:xfrm>
                        <a:off x="637542" y="1806101"/>
                        <a:ext cx="602470" cy="30777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ru-RU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14" name="Прямоугольник 1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7542" y="1806101"/>
                        <a:ext cx="602470" cy="510313"/>
                      </a:xfrm>
                      <a:prstGeom prst="rect">
                        <a:avLst/>
                      </a:prstGeom>
                      <a:blipFill rotWithShape="1">
                        <a:blip r:embed="rId4"/>
                        <a:stretch>
                          <a:fillRect r="-816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3" name="TextBox 12"/>
              <p:cNvSpPr txBox="1"/>
              <p:nvPr/>
            </p:nvSpPr>
            <p:spPr>
              <a:xfrm>
                <a:off x="637542" y="2091198"/>
                <a:ext cx="2948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i="1" dirty="0">
                    <a:latin typeface="Times New Roman" pitchFamily="18" charset="0"/>
                    <a:cs typeface="Times New Roman" pitchFamily="18" charset="0"/>
                  </a:rPr>
                  <a:t>О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Прямоугольник 7"/>
                <p:cNvSpPr/>
                <p:nvPr/>
              </p:nvSpPr>
              <p:spPr>
                <a:xfrm>
                  <a:off x="1256103" y="863680"/>
                  <a:ext cx="449789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2" name="Прямоугольник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6103" y="863680"/>
                  <a:ext cx="449789" cy="51031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r="-4054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/>
              <p:cNvSpPr/>
              <p:nvPr/>
            </p:nvSpPr>
            <p:spPr>
              <a:xfrm>
                <a:off x="3131158" y="1086760"/>
                <a:ext cx="6623068" cy="369322"/>
              </a:xfrm>
              <a:prstGeom prst="rect">
                <a:avLst/>
              </a:prstGeom>
            </p:spPr>
            <p:txBody>
              <a:bodyPr wrap="square" lIns="91429" tIns="45715" rIns="91429" bIns="45715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Представим вектор угловой скорости в виде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   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𝜔</m:t>
                    </m:r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 smtClean="0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8" name="Прямоугольник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58" y="1086760"/>
                <a:ext cx="6623068" cy="369322"/>
              </a:xfrm>
              <a:prstGeom prst="rect">
                <a:avLst/>
              </a:prstGeom>
              <a:blipFill rotWithShape="1">
                <a:blip r:embed="rId9"/>
                <a:stretch>
                  <a:fillRect l="-552" b="-180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/>
              <p:cNvSpPr/>
              <p:nvPr/>
            </p:nvSpPr>
            <p:spPr>
              <a:xfrm>
                <a:off x="3161012" y="1635472"/>
                <a:ext cx="7151388" cy="535649"/>
              </a:xfrm>
              <a:prstGeom prst="rect">
                <a:avLst/>
              </a:prstGeom>
            </p:spPr>
            <p:txBody>
              <a:bodyPr wrap="square" lIns="91429" tIns="45715" rIns="91429" bIns="45715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Тогда</a:t>
                </a:r>
                <a:r>
                  <a:rPr lang="ru-RU" sz="1600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sz="2000" i="1">
                            <a:latin typeface="Cambria Math"/>
                          </a:rPr>
                          <m:t>𝜀</m:t>
                        </m:r>
                      </m:e>
                    </m:acc>
                    <m:r>
                      <a:rPr lang="ru-RU" sz="20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𝑑</m:t>
                        </m:r>
                        <m:acc>
                          <m:accPr>
                            <m:chr m:val="̅"/>
                            <m:ctrlPr>
                              <a:rPr lang="ru-RU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num>
                      <m:den>
                        <m:r>
                          <a:rPr lang="ru-RU" sz="2000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ru-RU" sz="20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ru-RU" sz="2000" i="1">
                            <a:latin typeface="Cambria Math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ru-RU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ru-RU" sz="2000" i="1"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ru-RU" sz="2000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ru-RU" sz="20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ru-RU" sz="2000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20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/>
                          </a:rPr>
                          <m:t>𝑑</m:t>
                        </m:r>
                        <m:r>
                          <a:rPr lang="ru-RU" sz="2000" i="1">
                            <a:latin typeface="Cambria Math"/>
                          </a:rPr>
                          <m:t>𝜔</m:t>
                        </m:r>
                      </m:num>
                      <m:den>
                        <m:r>
                          <a:rPr lang="ru-RU" sz="2000" i="1">
                            <a:latin typeface="Cambria Math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ru-RU" sz="2000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sz="200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u-RU" sz="2000" i="1">
                        <a:latin typeface="Cambria Math"/>
                      </a:rPr>
                      <m:t>+</m:t>
                    </m:r>
                    <m:r>
                      <a:rPr lang="ru-RU" sz="2000" i="1">
                        <a:latin typeface="Cambria Math"/>
                      </a:rPr>
                      <m:t>𝜔</m:t>
                    </m:r>
                    <m:f>
                      <m:fPr>
                        <m:ctrlPr>
                          <a:rPr lang="ru-RU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ru-RU" sz="2000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ru-RU" sz="20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ru-RU" sz="2000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ru-RU" sz="2000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ru-RU" sz="20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ru-RU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ru-RU" sz="2000" i="1">
                        <a:latin typeface="Cambria Math"/>
                      </a:rPr>
                      <m:t>+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ru-RU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ru-RU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12" y="1635472"/>
                <a:ext cx="7151388" cy="535649"/>
              </a:xfrm>
              <a:prstGeom prst="rect">
                <a:avLst/>
              </a:prstGeom>
              <a:blipFill rotWithShape="1">
                <a:blip r:embed="rId10"/>
                <a:stretch>
                  <a:fillRect l="-5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3161012" y="2401421"/>
                <a:ext cx="5850908" cy="761930"/>
              </a:xfrm>
              <a:prstGeom prst="rect">
                <a:avLst/>
              </a:prstGeom>
            </p:spPr>
            <p:txBody>
              <a:bodyPr wrap="square" lIns="91429" tIns="45715" rIns="91429" bIns="45715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i="1">
                            <a:latin typeface="Cambria Math"/>
                          </a:rPr>
                          <m:t>𝑑</m:t>
                        </m:r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num>
                      <m:den>
                        <m:r>
                          <a:rPr lang="ru-RU" i="1">
                            <a:latin typeface="Cambria Math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составляющая </a:t>
                </a:r>
                <a:r>
                  <a:rPr lang="ru-RU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𝜀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направленная вдоль мгновенной оси вращения и характеризует изменение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по величине;</a:t>
                </a:r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12" y="2401421"/>
                <a:ext cx="5850908" cy="761930"/>
              </a:xfrm>
              <a:prstGeom prst="rect">
                <a:avLst/>
              </a:prstGeom>
              <a:blipFill rotWithShape="1">
                <a:blip r:embed="rId11"/>
                <a:stretch>
                  <a:fillRect l="-626" b="-88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/>
              <p:cNvSpPr/>
              <p:nvPr/>
            </p:nvSpPr>
            <p:spPr>
              <a:xfrm>
                <a:off x="3131158" y="3257850"/>
                <a:ext cx="7113456" cy="761930"/>
              </a:xfrm>
              <a:prstGeom prst="rect">
                <a:avLst/>
              </a:prstGeom>
            </p:spPr>
            <p:txBody>
              <a:bodyPr wrap="square" lIns="91429" tIns="45715" rIns="91429" bIns="45715">
                <a:spAutoFit/>
              </a:bodyPr>
              <a:lstStyle/>
              <a:p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𝜔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i="1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𝜔</m:t>
                                </m:r>
                              </m:e>
                            </m:acc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 составляющая </a:t>
                </a:r>
                <a:r>
                  <a:rPr lang="ru-RU" sz="1600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𝜀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перпендикулярная вектору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и характеризующая изменение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 по направлению.</a:t>
                </a:r>
              </a:p>
            </p:txBody>
          </p:sp>
        </mc:Choice>
        <mc:Fallback xmlns="">
          <p:sp>
            <p:nvSpPr>
              <p:cNvPr id="31" name="Прямоугольник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58" y="3257850"/>
                <a:ext cx="7113456" cy="761930"/>
              </a:xfrm>
              <a:prstGeom prst="rect">
                <a:avLst/>
              </a:prstGeom>
              <a:blipFill rotWithShape="1">
                <a:blip r:embed="rId12"/>
                <a:stretch>
                  <a:fillRect l="-514" b="-88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/>
              <p:cNvSpPr/>
              <p:nvPr/>
            </p:nvSpPr>
            <p:spPr>
              <a:xfrm>
                <a:off x="3284184" y="4098508"/>
                <a:ext cx="8697388" cy="1032580"/>
              </a:xfrm>
              <a:prstGeom prst="rect">
                <a:avLst/>
              </a:prstGeom>
            </p:spPr>
            <p:txBody>
              <a:bodyPr wrap="square" lIns="91429" tIns="45715" rIns="91429" bIns="45715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Если угловая скорость постоянна по модулю,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то: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𝜀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num>
                      <m:den>
                        <m:r>
                          <a:rPr lang="ru-RU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где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– угловая скорость вращения дифференцируемого по времени вектора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т.е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. угловая скорость вращения мгновенной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оси, по которой направлен вектор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2" name="Прямоугольник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184" y="4098508"/>
                <a:ext cx="8697388" cy="1032580"/>
              </a:xfrm>
              <a:prstGeom prst="rect">
                <a:avLst/>
              </a:prstGeom>
              <a:blipFill rotWithShape="1">
                <a:blip r:embed="rId13"/>
                <a:stretch>
                  <a:fillRect l="-421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301356" y="5363127"/>
                <a:ext cx="5570220" cy="609196"/>
              </a:xfrm>
              <a:prstGeom prst="rect">
                <a:avLst/>
              </a:prstGeom>
              <a:noFill/>
            </p:spPr>
            <p:txBody>
              <a:bodyPr wrap="square" lIns="91429" tIns="45715" rIns="91429" bIns="45715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Условимся вектор мгновенного углового ускорения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𝜀</m:t>
                        </m:r>
                      </m:e>
                    </m:acc>
                  </m:oMath>
                </a14:m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откладывать от неподвижной точки О тела.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356" y="5363127"/>
                <a:ext cx="5570220" cy="609196"/>
              </a:xfrm>
              <a:prstGeom prst="rect">
                <a:avLst/>
              </a:prstGeom>
              <a:blipFill rotWithShape="1">
                <a:blip r:embed="rId14"/>
                <a:stretch>
                  <a:fillRect l="-657" b="-1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Группа 33"/>
          <p:cNvGrpSpPr/>
          <p:nvPr/>
        </p:nvGrpSpPr>
        <p:grpSpPr>
          <a:xfrm>
            <a:off x="741852" y="4275832"/>
            <a:ext cx="2063070" cy="2139793"/>
            <a:chOff x="796540" y="2936186"/>
            <a:chExt cx="1719225" cy="1783161"/>
          </a:xfrm>
        </p:grpSpPr>
        <p:grpSp>
          <p:nvGrpSpPr>
            <p:cNvPr id="35" name="Группа 34"/>
            <p:cNvGrpSpPr/>
            <p:nvPr/>
          </p:nvGrpSpPr>
          <p:grpSpPr>
            <a:xfrm>
              <a:off x="796540" y="2936186"/>
              <a:ext cx="1719225" cy="1783161"/>
              <a:chOff x="796540" y="2936186"/>
              <a:chExt cx="1719225" cy="1783161"/>
            </a:xfrm>
          </p:grpSpPr>
          <p:grpSp>
            <p:nvGrpSpPr>
              <p:cNvPr id="37" name="Группа 36"/>
              <p:cNvGrpSpPr/>
              <p:nvPr/>
            </p:nvGrpSpPr>
            <p:grpSpPr>
              <a:xfrm>
                <a:off x="796540" y="2936186"/>
                <a:ext cx="1719225" cy="1783161"/>
                <a:chOff x="775325" y="2971339"/>
                <a:chExt cx="1719225" cy="1783161"/>
              </a:xfrm>
            </p:grpSpPr>
            <p:grpSp>
              <p:nvGrpSpPr>
                <p:cNvPr id="39" name="Группа 38"/>
                <p:cNvGrpSpPr/>
                <p:nvPr/>
              </p:nvGrpSpPr>
              <p:grpSpPr>
                <a:xfrm>
                  <a:off x="775325" y="2971339"/>
                  <a:ext cx="1719225" cy="1783161"/>
                  <a:chOff x="603129" y="2789503"/>
                  <a:chExt cx="1719225" cy="1783161"/>
                </a:xfrm>
              </p:grpSpPr>
              <p:grpSp>
                <p:nvGrpSpPr>
                  <p:cNvPr id="41" name="Группа 40"/>
                  <p:cNvGrpSpPr/>
                  <p:nvPr/>
                </p:nvGrpSpPr>
                <p:grpSpPr>
                  <a:xfrm>
                    <a:off x="603129" y="2789503"/>
                    <a:ext cx="1536796" cy="1783161"/>
                    <a:chOff x="612044" y="2789503"/>
                    <a:chExt cx="1536796" cy="1783161"/>
                  </a:xfrm>
                </p:grpSpPr>
                <p:grpSp>
                  <p:nvGrpSpPr>
                    <p:cNvPr id="43" name="Группа 42"/>
                    <p:cNvGrpSpPr/>
                    <p:nvPr/>
                  </p:nvGrpSpPr>
                  <p:grpSpPr>
                    <a:xfrm>
                      <a:off x="612044" y="2789503"/>
                      <a:ext cx="1536796" cy="1783161"/>
                      <a:chOff x="612044" y="2789503"/>
                      <a:chExt cx="1536796" cy="1783161"/>
                    </a:xfrm>
                  </p:grpSpPr>
                  <p:grpSp>
                    <p:nvGrpSpPr>
                      <p:cNvPr id="46" name="Группа 45"/>
                      <p:cNvGrpSpPr/>
                      <p:nvPr/>
                    </p:nvGrpSpPr>
                    <p:grpSpPr>
                      <a:xfrm>
                        <a:off x="612044" y="2818985"/>
                        <a:ext cx="1353810" cy="1753679"/>
                        <a:chOff x="613088" y="2868878"/>
                        <a:chExt cx="1353810" cy="1753679"/>
                      </a:xfrm>
                    </p:grpSpPr>
                    <p:grpSp>
                      <p:nvGrpSpPr>
                        <p:cNvPr id="52" name="Группа 51"/>
                        <p:cNvGrpSpPr/>
                        <p:nvPr/>
                      </p:nvGrpSpPr>
                      <p:grpSpPr>
                        <a:xfrm>
                          <a:off x="613088" y="2868878"/>
                          <a:ext cx="1353810" cy="1753679"/>
                          <a:chOff x="613088" y="2868878"/>
                          <a:chExt cx="1353810" cy="1753679"/>
                        </a:xfrm>
                      </p:grpSpPr>
                      <p:sp>
                        <p:nvSpPr>
                          <p:cNvPr id="54" name="Полилиния 53"/>
                          <p:cNvSpPr/>
                          <p:nvPr/>
                        </p:nvSpPr>
                        <p:spPr>
                          <a:xfrm>
                            <a:off x="613088" y="3072221"/>
                            <a:ext cx="1353810" cy="1550336"/>
                          </a:xfrm>
                          <a:custGeom>
                            <a:avLst/>
                            <a:gdLst>
                              <a:gd name="connsiteX0" fmla="*/ 331792 w 1353810"/>
                              <a:gd name="connsiteY0" fmla="*/ 162469 h 1550336"/>
                              <a:gd name="connsiteX1" fmla="*/ 869002 w 1353810"/>
                              <a:gd name="connsiteY1" fmla="*/ 6259 h 1550336"/>
                              <a:gd name="connsiteX2" fmla="*/ 1326202 w 1353810"/>
                              <a:gd name="connsiteY2" fmla="*/ 372019 h 1550336"/>
                              <a:gd name="connsiteX3" fmla="*/ 1246192 w 1353810"/>
                              <a:gd name="connsiteY3" fmla="*/ 985429 h 1550336"/>
                              <a:gd name="connsiteX4" fmla="*/ 781372 w 1353810"/>
                              <a:gd name="connsiteY4" fmla="*/ 1534069 h 1550336"/>
                              <a:gd name="connsiteX5" fmla="*/ 76522 w 1353810"/>
                              <a:gd name="connsiteY5" fmla="*/ 1351189 h 1550336"/>
                              <a:gd name="connsiteX6" fmla="*/ 95572 w 1353810"/>
                              <a:gd name="connsiteY6" fmla="*/ 798739 h 1550336"/>
                              <a:gd name="connsiteX7" fmla="*/ 7942 w 1353810"/>
                              <a:gd name="connsiteY7" fmla="*/ 436789 h 1550336"/>
                              <a:gd name="connsiteX8" fmla="*/ 331792 w 1353810"/>
                              <a:gd name="connsiteY8" fmla="*/ 162469 h 1550336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353810" h="1550336">
                                <a:moveTo>
                                  <a:pt x="331792" y="162469"/>
                                </a:moveTo>
                                <a:cubicBezTo>
                                  <a:pt x="475302" y="90714"/>
                                  <a:pt x="703267" y="-28666"/>
                                  <a:pt x="869002" y="6259"/>
                                </a:cubicBezTo>
                                <a:cubicBezTo>
                                  <a:pt x="1034737" y="41184"/>
                                  <a:pt x="1263337" y="208824"/>
                                  <a:pt x="1326202" y="372019"/>
                                </a:cubicBezTo>
                                <a:cubicBezTo>
                                  <a:pt x="1389067" y="535214"/>
                                  <a:pt x="1336997" y="791754"/>
                                  <a:pt x="1246192" y="985429"/>
                                </a:cubicBezTo>
                                <a:cubicBezTo>
                                  <a:pt x="1155387" y="1179104"/>
                                  <a:pt x="976317" y="1473109"/>
                                  <a:pt x="781372" y="1534069"/>
                                </a:cubicBezTo>
                                <a:cubicBezTo>
                                  <a:pt x="586427" y="1595029"/>
                                  <a:pt x="190822" y="1473744"/>
                                  <a:pt x="76522" y="1351189"/>
                                </a:cubicBezTo>
                                <a:cubicBezTo>
                                  <a:pt x="-37778" y="1228634"/>
                                  <a:pt x="107002" y="951139"/>
                                  <a:pt x="95572" y="798739"/>
                                </a:cubicBezTo>
                                <a:cubicBezTo>
                                  <a:pt x="84142" y="646339"/>
                                  <a:pt x="-30793" y="541564"/>
                                  <a:pt x="7942" y="436789"/>
                                </a:cubicBezTo>
                                <a:cubicBezTo>
                                  <a:pt x="46677" y="332014"/>
                                  <a:pt x="188282" y="234224"/>
                                  <a:pt x="331792" y="162469"/>
                                </a:cubicBezTo>
                                <a:close/>
                              </a:path>
                            </a:pathLst>
                          </a:custGeom>
                          <a:gradFill flip="none" rotWithShape="1">
                            <a:gsLst>
                              <a:gs pos="0">
                                <a:schemeClr val="accent1">
                                  <a:lumMod val="40000"/>
                                  <a:lumOff val="60000"/>
                                  <a:shade val="30000"/>
                                  <a:satMod val="115000"/>
                                </a:schemeClr>
                              </a:gs>
                              <a:gs pos="50000">
                                <a:schemeClr val="accent1">
                                  <a:lumMod val="40000"/>
                                  <a:lumOff val="60000"/>
                                  <a:shade val="67500"/>
                                  <a:satMod val="115000"/>
                                </a:schemeClr>
                              </a:gs>
                              <a:gs pos="100000">
                                <a:schemeClr val="accent1">
                                  <a:lumMod val="40000"/>
                                  <a:lumOff val="60000"/>
                                  <a:shade val="100000"/>
                                  <a:satMod val="115000"/>
                                </a:schemeClr>
                              </a:gs>
                            </a:gsLst>
                            <a:lin ang="0" scaled="1"/>
                            <a:tileRect/>
                          </a:gradFill>
                          <a:ln w="63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  <p:grpSp>
                        <p:nvGrpSpPr>
                          <p:cNvPr id="55" name="Группа 54"/>
                          <p:cNvGrpSpPr/>
                          <p:nvPr/>
                        </p:nvGrpSpPr>
                        <p:grpSpPr>
                          <a:xfrm>
                            <a:off x="1150448" y="4344352"/>
                            <a:ext cx="148044" cy="140017"/>
                            <a:chOff x="967470" y="4324350"/>
                            <a:chExt cx="148044" cy="140017"/>
                          </a:xfrm>
                        </p:grpSpPr>
                        <p:sp>
                          <p:nvSpPr>
                            <p:cNvPr id="58" name="Равнобедренный треугольник 57"/>
                            <p:cNvSpPr/>
                            <p:nvPr/>
                          </p:nvSpPr>
                          <p:spPr>
                            <a:xfrm>
                              <a:off x="967470" y="4344352"/>
                              <a:ext cx="148044" cy="120015"/>
                            </a:xfrm>
                            <a:prstGeom prst="triangle">
                              <a:avLst/>
                            </a:prstGeom>
                            <a:solidFill>
                              <a:schemeClr val="bg2">
                                <a:lumMod val="90000"/>
                              </a:schemeClr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  <p:sp>
                          <p:nvSpPr>
                            <p:cNvPr id="59" name="Овал 58"/>
                            <p:cNvSpPr/>
                            <p:nvPr/>
                          </p:nvSpPr>
                          <p:spPr>
                            <a:xfrm>
                              <a:off x="1001487" y="4324350"/>
                              <a:ext cx="80010" cy="80010"/>
                            </a:xfrm>
                            <a:prstGeom prst="ellipse">
                              <a:avLst/>
                            </a:prstGeom>
                            <a:solidFill>
                              <a:schemeClr val="bg1">
                                <a:lumMod val="85000"/>
                              </a:schemeClr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</p:grpSp>
                      <p:sp>
                        <p:nvSpPr>
                          <p:cNvPr id="56" name="Овал 55"/>
                          <p:cNvSpPr/>
                          <p:nvPr/>
                        </p:nvSpPr>
                        <p:spPr>
                          <a:xfrm>
                            <a:off x="664400" y="3497829"/>
                            <a:ext cx="1200150" cy="395991"/>
                          </a:xfrm>
                          <a:prstGeom prst="ellipse">
                            <a:avLst/>
                          </a:prstGeom>
                          <a:noFill/>
                          <a:ln w="6350">
                            <a:solidFill>
                              <a:schemeClr val="tx1"/>
                            </a:solidFill>
                            <a:prstDash val="dash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  <p:cxnSp>
                        <p:nvCxnSpPr>
                          <p:cNvPr id="57" name="Прямая соединительная линия 56"/>
                          <p:cNvCxnSpPr/>
                          <p:nvPr/>
                        </p:nvCxnSpPr>
                        <p:spPr>
                          <a:xfrm flipV="1">
                            <a:off x="1236040" y="2868878"/>
                            <a:ext cx="73093" cy="1475474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prstDash val="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53" name="TextBox 52"/>
                        <p:cNvSpPr txBox="1"/>
                        <p:nvPr/>
                      </p:nvSpPr>
                      <p:spPr>
                        <a:xfrm>
                          <a:off x="970136" y="4172245"/>
                          <a:ext cx="215258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ru-RU" i="1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о</a:t>
                          </a:r>
                          <a:endParaRPr lang="ru-RU" i="1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p:txBody>
                    </p:sp>
                  </p:grpSp>
                  <p:cxnSp>
                    <p:nvCxnSpPr>
                      <p:cNvPr id="47" name="Прямая со стрелкой 46"/>
                      <p:cNvCxnSpPr>
                        <a:stCxn id="59" idx="0"/>
                        <a:endCxn id="56" idx="5"/>
                      </p:cNvCxnSpPr>
                      <p:nvPr/>
                    </p:nvCxnSpPr>
                    <p:spPr>
                      <a:xfrm flipV="1">
                        <a:off x="1223426" y="3785935"/>
                        <a:ext cx="464322" cy="508524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0033CC"/>
                        </a:solidFill>
                        <a:headEnd type="none"/>
                        <a:tailEnd type="stealt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Прямая со стрелкой 47"/>
                      <p:cNvCxnSpPr/>
                      <p:nvPr/>
                    </p:nvCxnSpPr>
                    <p:spPr>
                      <a:xfrm flipV="1">
                        <a:off x="1687748" y="3589020"/>
                        <a:ext cx="461092" cy="208476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FF0000"/>
                        </a:solidFill>
                        <a:prstDash val="dash"/>
                        <a:tailEnd type="stealt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Прямая со стрелкой 48"/>
                      <p:cNvCxnSpPr/>
                      <p:nvPr/>
                    </p:nvCxnSpPr>
                    <p:spPr>
                      <a:xfrm flipV="1">
                        <a:off x="1237637" y="4085983"/>
                        <a:ext cx="461092" cy="208476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FF0000"/>
                        </a:solidFill>
                        <a:prstDash val="solid"/>
                        <a:tailEnd type="stealt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Прямая со стрелкой 49"/>
                      <p:cNvCxnSpPr/>
                      <p:nvPr/>
                    </p:nvCxnSpPr>
                    <p:spPr>
                      <a:xfrm flipV="1">
                        <a:off x="1230719" y="3843927"/>
                        <a:ext cx="28435" cy="450532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stealt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1" name="Выгнутая влево стрелка 50"/>
                      <p:cNvSpPr/>
                      <p:nvPr/>
                    </p:nvSpPr>
                    <p:spPr>
                      <a:xfrm>
                        <a:off x="1170624" y="2789503"/>
                        <a:ext cx="278181" cy="181836"/>
                      </a:xfrm>
                      <a:prstGeom prst="curvedRightArrow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ru-RU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4" name="Прямоугольник 43"/>
                        <p:cNvSpPr/>
                        <p:nvPr/>
                      </p:nvSpPr>
                      <p:spPr>
                        <a:xfrm>
                          <a:off x="1219641" y="3809691"/>
                          <a:ext cx="358560" cy="307777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𝜔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67" name="Прямоугольник 66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19641" y="3809691"/>
                          <a:ext cx="358560" cy="307777"/>
                        </a:xfrm>
                        <a:prstGeom prst="rect">
                          <a:avLst/>
                        </a:prstGeom>
                        <a:blipFill rotWithShape="1">
                          <a:blip r:embed="rId1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5" name="Прямоугольник 44"/>
                        <p:cNvSpPr/>
                        <p:nvPr/>
                      </p:nvSpPr>
                      <p:spPr>
                        <a:xfrm>
                          <a:off x="904579" y="3932094"/>
                          <a:ext cx="429540" cy="307777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𝜔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ru-RU" i="1">
                                        <a:latin typeface="Cambria Math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p:txBody>
                    </p:sp>
                  </mc:Choice>
                  <mc:Fallback xmlns="">
                    <p:sp>
                      <p:nvSpPr>
                        <p:cNvPr id="68" name="Прямоугольник 67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04579" y="3932094"/>
                          <a:ext cx="429540" cy="307777"/>
                        </a:xfrm>
                        <a:prstGeom prst="rect">
                          <a:avLst/>
                        </a:prstGeom>
                        <a:blipFill rotWithShape="1">
                          <a:blip r:embed="rId1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Прямоугольник 41"/>
                      <p:cNvSpPr/>
                      <p:nvPr/>
                    </p:nvSpPr>
                    <p:spPr>
                      <a:xfrm>
                        <a:off x="2010153" y="3539369"/>
                        <a:ext cx="312201" cy="307777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𝜀</m:t>
                                  </m:r>
                                </m:e>
                              </m:acc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72" name="Прямоугольник 71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10153" y="3539369"/>
                        <a:ext cx="317010" cy="307777"/>
                      </a:xfrm>
                      <a:prstGeom prst="rect">
                        <a:avLst/>
                      </a:prstGeom>
                      <a:blipFill rotWithShape="1">
                        <a:blip r:embed="rId17"/>
                        <a:stretch>
                          <a:fillRect r="-1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Прямоугольник 39"/>
                    <p:cNvSpPr/>
                    <p:nvPr/>
                  </p:nvSpPr>
                  <p:spPr>
                    <a:xfrm>
                      <a:off x="1562202" y="4267819"/>
                      <a:ext cx="312201" cy="3077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𝜀</m:t>
                                </m:r>
                              </m:e>
                            </m:acc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74" name="Прямоугольник 7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62202" y="4267819"/>
                      <a:ext cx="317010" cy="307777"/>
                    </a:xfrm>
                    <a:prstGeom prst="rect">
                      <a:avLst/>
                    </a:prstGeom>
                    <a:blipFill rotWithShape="1">
                      <a:blip r:embed="rId18"/>
                      <a:stretch>
                        <a:fillRect r="-1346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8" name="Прямая соединительная линия 37"/>
              <p:cNvCxnSpPr>
                <a:stCxn id="56" idx="2"/>
                <a:endCxn id="56" idx="6"/>
              </p:cNvCxnSpPr>
              <p:nvPr/>
            </p:nvCxnSpPr>
            <p:spPr>
              <a:xfrm>
                <a:off x="847852" y="3792615"/>
                <a:ext cx="120015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Прямая соединительная линия 35"/>
            <p:cNvCxnSpPr>
              <a:endCxn id="56" idx="5"/>
            </p:cNvCxnSpPr>
            <p:nvPr/>
          </p:nvCxnSpPr>
          <p:spPr>
            <a:xfrm>
              <a:off x="1447927" y="3792614"/>
              <a:ext cx="424317" cy="140004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Прямоугольник 62"/>
          <p:cNvSpPr/>
          <p:nvPr/>
        </p:nvSpPr>
        <p:spPr>
          <a:xfrm>
            <a:off x="472937" y="228381"/>
            <a:ext cx="99608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Угловое ускорение твердого тела  при сферическом движении</a:t>
            </a:r>
            <a:r>
              <a:rPr lang="ru-RU" sz="24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b="1" i="1" dirty="0">
              <a:solidFill>
                <a:srgbClr val="002060"/>
              </a:solidFill>
              <a:latin typeface="Sitka Heading" panose="02000505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65" name="Рисунок 64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66" name="Прямая соединительная линия 65"/>
          <p:cNvCxnSpPr/>
          <p:nvPr/>
        </p:nvCxnSpPr>
        <p:spPr>
          <a:xfrm>
            <a:off x="373856" y="69749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>
            <a:off x="391318" y="783408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Прямоугольник 68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cxnSp>
        <p:nvCxnSpPr>
          <p:cNvPr id="62" name="Прямая со стрелкой 61"/>
          <p:cNvCxnSpPr/>
          <p:nvPr/>
        </p:nvCxnSpPr>
        <p:spPr>
          <a:xfrm rot="1252268" flipV="1">
            <a:off x="1186412" y="2495024"/>
            <a:ext cx="138576" cy="11190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Прямоугольник 63"/>
              <p:cNvSpPr/>
              <p:nvPr/>
            </p:nvSpPr>
            <p:spPr>
              <a:xfrm>
                <a:off x="986435" y="2433125"/>
                <a:ext cx="58788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4" name="Прямоугольник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435" y="2433125"/>
                <a:ext cx="587885" cy="369332"/>
              </a:xfrm>
              <a:prstGeom prst="rect">
                <a:avLst/>
              </a:prstGeom>
              <a:blipFill rotWithShape="1">
                <a:blip r:embed="rId20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Прямоугольник 69"/>
              <p:cNvSpPr/>
              <p:nvPr/>
            </p:nvSpPr>
            <p:spPr>
              <a:xfrm>
                <a:off x="1686104" y="2369919"/>
                <a:ext cx="59227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lang="ru-R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0" name="Прямоугольник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104" y="2369919"/>
                <a:ext cx="592276" cy="369332"/>
              </a:xfrm>
              <a:prstGeom prst="rect">
                <a:avLst/>
              </a:prstGeom>
              <a:blipFill rotWithShape="1">
                <a:blip r:embed="rId21"/>
                <a:stretch>
                  <a:fillRect r="-144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Прямоугольник 70"/>
              <p:cNvSpPr/>
              <p:nvPr/>
            </p:nvSpPr>
            <p:spPr>
              <a:xfrm>
                <a:off x="1648254" y="2859405"/>
                <a:ext cx="43696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𝜀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1" name="Прямоугольник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254" y="2859405"/>
                <a:ext cx="436967" cy="369332"/>
              </a:xfrm>
              <a:prstGeom prst="rect">
                <a:avLst/>
              </a:prstGeom>
              <a:blipFill rotWithShape="1">
                <a:blip r:embed="rId22"/>
                <a:stretch>
                  <a:fillRect r="-30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Прямая со стрелкой 71"/>
          <p:cNvCxnSpPr/>
          <p:nvPr/>
        </p:nvCxnSpPr>
        <p:spPr>
          <a:xfrm rot="1252268">
            <a:off x="1496010" y="2662523"/>
            <a:ext cx="539015" cy="50279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/>
          <p:nvPr/>
        </p:nvCxnSpPr>
        <p:spPr>
          <a:xfrm rot="1252268" flipV="1">
            <a:off x="1162107" y="2653359"/>
            <a:ext cx="675168" cy="1068816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55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64" grpId="0"/>
      <p:bldP spid="70" grpId="0"/>
      <p:bldP spid="7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373856" y="697498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391318" y="783408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9470" y="180319"/>
            <a:ext cx="9010770" cy="461655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ru-RU" sz="24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Ускорения точек твердого тела </a:t>
            </a:r>
            <a:r>
              <a:rPr lang="ru-RU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 сферическом </a:t>
            </a:r>
            <a:r>
              <a:rPr lang="ru-RU" sz="24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движении.</a:t>
            </a:r>
            <a:endParaRPr lang="ru-RU" sz="2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710374" y="1228778"/>
            <a:ext cx="2855992" cy="2750736"/>
            <a:chOff x="334437" y="1104426"/>
            <a:chExt cx="2855992" cy="2750736"/>
          </a:xfrm>
        </p:grpSpPr>
        <p:grpSp>
          <p:nvGrpSpPr>
            <p:cNvPr id="12" name="Группа 11"/>
            <p:cNvGrpSpPr/>
            <p:nvPr/>
          </p:nvGrpSpPr>
          <p:grpSpPr>
            <a:xfrm>
              <a:off x="334437" y="1104426"/>
              <a:ext cx="2855992" cy="2750736"/>
              <a:chOff x="334437" y="1104426"/>
              <a:chExt cx="2855992" cy="2750736"/>
            </a:xfrm>
          </p:grpSpPr>
          <p:grpSp>
            <p:nvGrpSpPr>
              <p:cNvPr id="14" name="Группа 13"/>
              <p:cNvGrpSpPr/>
              <p:nvPr/>
            </p:nvGrpSpPr>
            <p:grpSpPr>
              <a:xfrm>
                <a:off x="334437" y="1104426"/>
                <a:ext cx="2855992" cy="2750736"/>
                <a:chOff x="334437" y="1104426"/>
                <a:chExt cx="2855992" cy="2750736"/>
              </a:xfrm>
            </p:grpSpPr>
            <p:grpSp>
              <p:nvGrpSpPr>
                <p:cNvPr id="16" name="Группа 15"/>
                <p:cNvGrpSpPr/>
                <p:nvPr/>
              </p:nvGrpSpPr>
              <p:grpSpPr>
                <a:xfrm>
                  <a:off x="334437" y="1104426"/>
                  <a:ext cx="2855992" cy="2750736"/>
                  <a:chOff x="334437" y="1104426"/>
                  <a:chExt cx="2855992" cy="2750736"/>
                </a:xfrm>
              </p:grpSpPr>
              <p:grpSp>
                <p:nvGrpSpPr>
                  <p:cNvPr id="18" name="Группа 17"/>
                  <p:cNvGrpSpPr/>
                  <p:nvPr/>
                </p:nvGrpSpPr>
                <p:grpSpPr>
                  <a:xfrm>
                    <a:off x="334437" y="1104426"/>
                    <a:ext cx="2855992" cy="2750736"/>
                    <a:chOff x="334437" y="1104426"/>
                    <a:chExt cx="2855992" cy="2750736"/>
                  </a:xfrm>
                </p:grpSpPr>
                <p:grpSp>
                  <p:nvGrpSpPr>
                    <p:cNvPr id="20" name="Группа 19"/>
                    <p:cNvGrpSpPr/>
                    <p:nvPr/>
                  </p:nvGrpSpPr>
                  <p:grpSpPr>
                    <a:xfrm>
                      <a:off x="334437" y="1104426"/>
                      <a:ext cx="2855992" cy="2750736"/>
                      <a:chOff x="334437" y="1104426"/>
                      <a:chExt cx="2855992" cy="2750736"/>
                    </a:xfrm>
                  </p:grpSpPr>
                  <p:grpSp>
                    <p:nvGrpSpPr>
                      <p:cNvPr id="22" name="Группа 21"/>
                      <p:cNvGrpSpPr/>
                      <p:nvPr/>
                    </p:nvGrpSpPr>
                    <p:grpSpPr>
                      <a:xfrm>
                        <a:off x="334437" y="1104426"/>
                        <a:ext cx="2855992" cy="2750736"/>
                        <a:chOff x="334437" y="1104426"/>
                        <a:chExt cx="2855992" cy="2750736"/>
                      </a:xfrm>
                    </p:grpSpPr>
                    <p:grpSp>
                      <p:nvGrpSpPr>
                        <p:cNvPr id="24" name="Группа 23"/>
                        <p:cNvGrpSpPr/>
                        <p:nvPr/>
                      </p:nvGrpSpPr>
                      <p:grpSpPr>
                        <a:xfrm>
                          <a:off x="334437" y="1104426"/>
                          <a:ext cx="2855992" cy="2750736"/>
                          <a:chOff x="334437" y="1104426"/>
                          <a:chExt cx="2855992" cy="2750736"/>
                        </a:xfrm>
                      </p:grpSpPr>
                      <p:grpSp>
                        <p:nvGrpSpPr>
                          <p:cNvPr id="26" name="Группа 25"/>
                          <p:cNvGrpSpPr/>
                          <p:nvPr/>
                        </p:nvGrpSpPr>
                        <p:grpSpPr>
                          <a:xfrm>
                            <a:off x="334437" y="1104426"/>
                            <a:ext cx="2855992" cy="2750736"/>
                            <a:chOff x="334437" y="1104426"/>
                            <a:chExt cx="2855992" cy="2750736"/>
                          </a:xfrm>
                        </p:grpSpPr>
                        <p:grpSp>
                          <p:nvGrpSpPr>
                            <p:cNvPr id="29" name="Группа 28"/>
                            <p:cNvGrpSpPr/>
                            <p:nvPr/>
                          </p:nvGrpSpPr>
                          <p:grpSpPr>
                            <a:xfrm>
                              <a:off x="334437" y="1104426"/>
                              <a:ext cx="2855992" cy="2750736"/>
                              <a:chOff x="334437" y="1104426"/>
                              <a:chExt cx="2855992" cy="2750736"/>
                            </a:xfrm>
                          </p:grpSpPr>
                          <p:grpSp>
                            <p:nvGrpSpPr>
                              <p:cNvPr id="31" name="Группа 30"/>
                              <p:cNvGrpSpPr/>
                              <p:nvPr/>
                            </p:nvGrpSpPr>
                            <p:grpSpPr>
                              <a:xfrm>
                                <a:off x="334437" y="1104426"/>
                                <a:ext cx="2855992" cy="2750736"/>
                                <a:chOff x="471967" y="455015"/>
                                <a:chExt cx="2402450" cy="2228498"/>
                              </a:xfrm>
                            </p:grpSpPr>
                            <p:grpSp>
                              <p:nvGrpSpPr>
                                <p:cNvPr id="33" name="Группа 32"/>
                                <p:cNvGrpSpPr/>
                                <p:nvPr/>
                              </p:nvGrpSpPr>
                              <p:grpSpPr>
                                <a:xfrm>
                                  <a:off x="471967" y="455015"/>
                                  <a:ext cx="2402450" cy="2228498"/>
                                  <a:chOff x="471967" y="455015"/>
                                  <a:chExt cx="2402450" cy="2228498"/>
                                </a:xfrm>
                              </p:grpSpPr>
                              <mc:AlternateContent xmlns:mc="http://schemas.openxmlformats.org/markup-compatibility/2006" xmlns:a14="http://schemas.microsoft.com/office/drawing/2010/main">
                                <mc:Choice Requires="a14">
                                  <p:sp>
                                    <p:nvSpPr>
                                      <p:cNvPr id="35" name="Прямоугольник 34"/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1397329" y="455015"/>
                                        <a:ext cx="450037" cy="307777"/>
                                      </a:xfrm>
                                      <a:prstGeom prst="rect">
                                        <a:avLst/>
                                      </a:prstGeom>
                                    </p:spPr>
                                    <p:txBody>
                                      <a:bodyPr wrap="square">
                                        <a:spAutoFit/>
                                      </a:bodyPr>
                                      <a:lstStyle/>
                                      <a:p>
                                        <a:pPr/>
                                        <a14:m>
                                          <m:oMathPara xmlns:m="http://schemas.openxmlformats.org/officeDocument/2006/math">
                                            <m:oMathParaPr>
                                              <m:jc m:val="centerGroup"/>
                                            </m:oMathParaPr>
                                            <m:oMath xmlns:m="http://schemas.openxmlformats.org/officeDocument/2006/math">
                                              <m:r>
                                                <a:rPr lang="ru-RU" i="1">
                                                  <a:latin typeface="Cambria Math"/>
                                                </a:rPr>
                                                <m:t>𝜔</m:t>
                                              </m:r>
                                            </m:oMath>
                                          </m:oMathPara>
                                        </a14:m>
                                        <a:endParaRPr lang="ru-RU" dirty="0"/>
                                      </a:p>
                                    </p:txBody>
                                  </p:sp>
                                </mc:Choice>
                                <mc:Fallback xmlns="">
                                  <p:sp>
                                    <p:nvSpPr>
                                      <p:cNvPr id="20" name="Прямоугольник 19"/>
                                      <p:cNvSpPr>
                                        <a:spLocks noRot="1" noChangeAspect="1" noMove="1" noResize="1" noEditPoints="1" noAdjustHandles="1" noChangeArrowheads="1" noChangeShapeType="1" noTextEdit="1"/>
                                      </p:cNvSpPr>
                                      <p:nvPr/>
                                    </p:nvSpPr>
                                    <p:spPr>
                                      <a:xfrm>
                                        <a:off x="1397329" y="455015"/>
                                        <a:ext cx="450037" cy="307777"/>
                                      </a:xfrm>
                                      <a:prstGeom prst="rect">
                                        <a:avLst/>
                                      </a:prstGeom>
                                      <a:blipFill rotWithShape="1">
                                        <a:blip r:embed="rId3"/>
                                        <a:stretch>
                                          <a:fillRect/>
                                        </a:stretch>
                                      </a:blipFill>
                                    </p:spPr>
                                    <p:txBody>
                                      <a:bodyPr/>
                                      <a:lstStyle/>
                                      <a:p>
                                        <a:r>
                                          <a:rPr lang="ru-RU">
                                            <a:noFill/>
                                          </a:rPr>
                                          <a:t> </a:t>
                                        </a:r>
                                      </a:p>
                                    </p:txBody>
                                  </p:sp>
                                </mc:Fallback>
                              </mc:AlternateContent>
                              <p:sp>
                                <p:nvSpPr>
                                  <p:cNvPr id="36" name="Выгнутая влево стрелка 35"/>
                                  <p:cNvSpPr/>
                                  <p:nvPr/>
                                </p:nvSpPr>
                                <p:spPr>
                                  <a:xfrm rot="1498361">
                                    <a:off x="1733559" y="605362"/>
                                    <a:ext cx="175263" cy="159014"/>
                                  </a:xfrm>
                                  <a:prstGeom prst="curvedRightArrow">
                                    <a:avLst/>
                                  </a:prstGeom>
                                  <a:solidFill>
                                    <a:srgbClr val="0000FF"/>
                                  </a:solidFill>
                                  <a:ln w="6350"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ru-RU">
                                      <a:solidFill>
                                        <a:schemeClr val="tx1"/>
                                      </a:solidFill>
                                    </a:endParaRPr>
                                  </a:p>
                                </p:txBody>
                              </p:sp>
                              <p:grpSp>
                                <p:nvGrpSpPr>
                                  <p:cNvPr id="37" name="Группа 36"/>
                                  <p:cNvGrpSpPr/>
                                  <p:nvPr/>
                                </p:nvGrpSpPr>
                                <p:grpSpPr>
                                  <a:xfrm>
                                    <a:off x="471967" y="818356"/>
                                    <a:ext cx="2402450" cy="1865157"/>
                                    <a:chOff x="471967" y="818356"/>
                                    <a:chExt cx="2402450" cy="1865157"/>
                                  </a:xfrm>
                                </p:grpSpPr>
                                <p:sp>
                                  <p:nvSpPr>
                                    <p:cNvPr id="38" name="Полилиния 37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71967" y="830270"/>
                                      <a:ext cx="2184158" cy="1808450"/>
                                    </a:xfrm>
                                    <a:custGeom>
                                      <a:avLst/>
                                      <a:gdLst>
                                        <a:gd name="connsiteX0" fmla="*/ 138381 w 1595266"/>
                                        <a:gd name="connsiteY0" fmla="*/ 1188728 h 1308840"/>
                                        <a:gd name="connsiteX1" fmla="*/ 1221 w 1595266"/>
                                        <a:gd name="connsiteY1" fmla="*/ 797568 h 1308840"/>
                                        <a:gd name="connsiteX2" fmla="*/ 224741 w 1595266"/>
                                        <a:gd name="connsiteY2" fmla="*/ 193048 h 1308840"/>
                                        <a:gd name="connsiteX3" fmla="*/ 880061 w 1595266"/>
                                        <a:gd name="connsiteY3" fmla="*/ 8 h 1308840"/>
                                        <a:gd name="connsiteX4" fmla="*/ 1449021 w 1595266"/>
                                        <a:gd name="connsiteY4" fmla="*/ 198128 h 1308840"/>
                                        <a:gd name="connsiteX5" fmla="*/ 1570941 w 1595266"/>
                                        <a:gd name="connsiteY5" fmla="*/ 731528 h 1308840"/>
                                        <a:gd name="connsiteX6" fmla="*/ 1062941 w 1595266"/>
                                        <a:gd name="connsiteY6" fmla="*/ 1148088 h 1308840"/>
                                        <a:gd name="connsiteX7" fmla="*/ 478741 w 1595266"/>
                                        <a:gd name="connsiteY7" fmla="*/ 1305568 h 1308840"/>
                                        <a:gd name="connsiteX8" fmla="*/ 209501 w 1595266"/>
                                        <a:gd name="connsiteY8" fmla="*/ 1249688 h 1308840"/>
                                        <a:gd name="connsiteX9" fmla="*/ 138381 w 1595266"/>
                                        <a:gd name="connsiteY9" fmla="*/ 1188728 h 1308840"/>
                                      </a:gdLst>
                                      <a:ahLst/>
                                      <a:cxnLst>
                                        <a:cxn ang="0">
                                          <a:pos x="connsiteX0" y="connsiteY0"/>
                                        </a:cxn>
                                        <a:cxn ang="0">
                                          <a:pos x="connsiteX1" y="connsiteY1"/>
                                        </a:cxn>
                                        <a:cxn ang="0">
                                          <a:pos x="connsiteX2" y="connsiteY2"/>
                                        </a:cxn>
                                        <a:cxn ang="0">
                                          <a:pos x="connsiteX3" y="connsiteY3"/>
                                        </a:cxn>
                                        <a:cxn ang="0">
                                          <a:pos x="connsiteX4" y="connsiteY4"/>
                                        </a:cxn>
                                        <a:cxn ang="0">
                                          <a:pos x="connsiteX5" y="connsiteY5"/>
                                        </a:cxn>
                                        <a:cxn ang="0">
                                          <a:pos x="connsiteX6" y="connsiteY6"/>
                                        </a:cxn>
                                        <a:cxn ang="0">
                                          <a:pos x="connsiteX7" y="connsiteY7"/>
                                        </a:cxn>
                                        <a:cxn ang="0">
                                          <a:pos x="connsiteX8" y="connsiteY8"/>
                                        </a:cxn>
                                        <a:cxn ang="0">
                                          <a:pos x="connsiteX9" y="connsiteY9"/>
                                        </a:cxn>
                                      </a:cxnLst>
                                      <a:rect l="l" t="t" r="r" b="b"/>
                                      <a:pathLst>
                                        <a:path w="1595266" h="1308840">
                                          <a:moveTo>
                                            <a:pt x="138381" y="1188728"/>
                                          </a:moveTo>
                                          <a:cubicBezTo>
                                            <a:pt x="103668" y="1113375"/>
                                            <a:pt x="-13172" y="963515"/>
                                            <a:pt x="1221" y="797568"/>
                                          </a:cubicBezTo>
                                          <a:cubicBezTo>
                                            <a:pt x="15614" y="631621"/>
                                            <a:pt x="78268" y="325975"/>
                                            <a:pt x="224741" y="193048"/>
                                          </a:cubicBezTo>
                                          <a:cubicBezTo>
                                            <a:pt x="371214" y="60121"/>
                                            <a:pt x="676014" y="-839"/>
                                            <a:pt x="880061" y="8"/>
                                          </a:cubicBezTo>
                                          <a:cubicBezTo>
                                            <a:pt x="1084108" y="855"/>
                                            <a:pt x="1333874" y="76208"/>
                                            <a:pt x="1449021" y="198128"/>
                                          </a:cubicBezTo>
                                          <a:cubicBezTo>
                                            <a:pt x="1564168" y="320048"/>
                                            <a:pt x="1635288" y="573201"/>
                                            <a:pt x="1570941" y="731528"/>
                                          </a:cubicBezTo>
                                          <a:cubicBezTo>
                                            <a:pt x="1506594" y="889855"/>
                                            <a:pt x="1244974" y="1052415"/>
                                            <a:pt x="1062941" y="1148088"/>
                                          </a:cubicBezTo>
                                          <a:cubicBezTo>
                                            <a:pt x="880908" y="1243761"/>
                                            <a:pt x="620981" y="1288635"/>
                                            <a:pt x="478741" y="1305568"/>
                                          </a:cubicBezTo>
                                          <a:cubicBezTo>
                                            <a:pt x="336501" y="1322501"/>
                                            <a:pt x="267921" y="1269161"/>
                                            <a:pt x="209501" y="1249688"/>
                                          </a:cubicBezTo>
                                          <a:cubicBezTo>
                                            <a:pt x="151081" y="1230215"/>
                                            <a:pt x="173094" y="1264081"/>
                                            <a:pt x="138381" y="1188728"/>
                                          </a:cubicBezTo>
                                          <a:close/>
                                        </a:path>
                                      </a:pathLst>
                                    </a:custGeom>
                                    <a:gradFill flip="none" rotWithShape="1">
                                      <a:gsLst>
                                        <a:gs pos="0">
                                          <a:schemeClr val="accent1">
                                            <a:lumMod val="40000"/>
                                            <a:lumOff val="60000"/>
                                            <a:shade val="30000"/>
                                            <a:satMod val="115000"/>
                                          </a:schemeClr>
                                        </a:gs>
                                        <a:gs pos="50000">
                                          <a:schemeClr val="accent1">
                                            <a:lumMod val="40000"/>
                                            <a:lumOff val="60000"/>
                                            <a:shade val="67500"/>
                                            <a:satMod val="115000"/>
                                          </a:schemeClr>
                                        </a:gs>
                                        <a:gs pos="100000">
                                          <a:schemeClr val="accent1">
                                            <a:lumMod val="40000"/>
                                            <a:lumOff val="60000"/>
                                            <a:shade val="100000"/>
                                            <a:satMod val="115000"/>
                                          </a:schemeClr>
                                        </a:gs>
                                      </a:gsLst>
                                      <a:lin ang="18900000" scaled="1"/>
                                      <a:tileRect/>
                                    </a:gradFill>
                                    <a:ln w="6350"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50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ru-RU"/>
                                    </a:p>
                                  </p:txBody>
                                </p:sp>
                                <p:sp>
                                  <p:nvSpPr>
                                    <p:cNvPr id="39" name="Равнобедренный треугольник 38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863248" y="2375243"/>
                                      <a:ext cx="138236" cy="84231"/>
                                    </a:xfrm>
                                    <a:prstGeom prst="triangle">
                                      <a:avLst/>
                                    </a:prstGeom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n w="12700"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50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ru-RU"/>
                                    </a:p>
                                  </p:txBody>
                                </p:sp>
                                <p:sp>
                                  <p:nvSpPr>
                                    <p:cNvPr id="40" name="Овал 39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901071" y="2343673"/>
                                      <a:ext cx="62596" cy="63171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n w="12700"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50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ru-RU"/>
                                    </a:p>
                                  </p:txBody>
                                </p:sp>
                                <p:grpSp>
                                  <p:nvGrpSpPr>
                                    <p:cNvPr id="41" name="Группа 40"/>
                                    <p:cNvGrpSpPr/>
                                    <p:nvPr/>
                                  </p:nvGrpSpPr>
                                  <p:grpSpPr>
                                    <a:xfrm rot="1252268">
                                      <a:off x="1172792" y="818356"/>
                                      <a:ext cx="1701625" cy="1865157"/>
                                      <a:chOff x="939761" y="3230466"/>
                                      <a:chExt cx="1242832" cy="1361897"/>
                                    </a:xfrm>
                                  </p:grpSpPr>
                                  <p:cxnSp>
                                    <p:nvCxnSpPr>
                                      <p:cNvPr id="42" name="Прямая соединительная линия 41"/>
                                      <p:cNvCxnSpPr>
                                        <a:stCxn id="40" idx="0"/>
                                      </p:cNvCxnSpPr>
                                      <p:nvPr/>
                                    </p:nvCxnSpPr>
                                    <p:spPr>
                                      <a:xfrm flipV="1">
                                        <a:off x="985067" y="3230466"/>
                                        <a:ext cx="168688" cy="1361897"/>
                                      </a:xfrm>
                                      <a:prstGeom prst="line">
                                        <a:avLst/>
                                      </a:prstGeom>
                                      <a:ln w="6350"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1">
                                        <a:schemeClr val="accent1"/>
                                      </a:lnRef>
                                      <a:fillRef idx="0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p:cxnSp>
                                    <p:nvCxnSpPr>
                                      <p:cNvPr id="43" name="Прямая со стрелкой 42"/>
                                      <p:cNvCxnSpPr>
                                        <a:stCxn id="40" idx="0"/>
                                      </p:cNvCxnSpPr>
                                      <p:nvPr/>
                                    </p:nvCxnSpPr>
                                    <p:spPr>
                                      <a:xfrm flipV="1">
                                        <a:off x="985067" y="3415132"/>
                                        <a:ext cx="150147" cy="1177231"/>
                                      </a:xfrm>
                                      <a:prstGeom prst="straightConnector1">
                                        <a:avLst/>
                                      </a:prstGeom>
                                      <a:ln w="12700">
                                        <a:solidFill>
                                          <a:srgbClr val="0000CC"/>
                                        </a:solidFill>
                                        <a:headEnd type="none"/>
                                        <a:tailEnd type="triangle"/>
                                      </a:ln>
                                    </p:spPr>
                                    <p:style>
                                      <a:lnRef idx="1">
                                        <a:schemeClr val="accent1"/>
                                      </a:lnRef>
                                      <a:fillRef idx="0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p:cxnSp>
                                    <p:nvCxnSpPr>
                                      <p:cNvPr id="44" name="Прямая со стрелкой 43"/>
                                      <p:cNvCxnSpPr>
                                        <a:stCxn id="40" idx="7"/>
                                      </p:cNvCxnSpPr>
                                      <p:nvPr/>
                                    </p:nvCxnSpPr>
                                    <p:spPr>
                                      <a:xfrm rot="20347732" flipV="1">
                                        <a:off x="939761" y="4305379"/>
                                        <a:ext cx="1242832" cy="73832"/>
                                      </a:xfrm>
                                      <a:prstGeom prst="straightConnector1">
                                        <a:avLst/>
                                      </a:prstGeom>
                                      <a:ln w="12700">
                                        <a:solidFill>
                                          <a:srgbClr val="FF0000"/>
                                        </a:solidFill>
                                        <a:tailEnd type="stealth"/>
                                      </a:ln>
                                    </p:spPr>
                                    <p:style>
                                      <a:lnRef idx="1">
                                        <a:schemeClr val="accent1"/>
                                      </a:lnRef>
                                      <a:fillRef idx="0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</p:grpSp>
                              </p:grpSp>
                            </p:grpSp>
                            <p:sp>
                              <p:nvSpPr>
                                <p:cNvPr id="34" name="TextBox 33"/>
                                <p:cNvSpPr txBox="1"/>
                                <p:nvPr/>
                              </p:nvSpPr>
                              <p:spPr>
                                <a:xfrm>
                                  <a:off x="721181" y="2183081"/>
                                  <a:ext cx="294827" cy="30777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ru-RU" b="1" i="1" dirty="0">
                                      <a:latin typeface="Times New Roman" pitchFamily="18" charset="0"/>
                                      <a:cs typeface="Times New Roman" pitchFamily="18" charset="0"/>
                                    </a:rPr>
                                    <a:t>О</a:t>
                                  </a:r>
                                </a:p>
                              </p:txBody>
                            </p:sp>
                          </p:grpSp>
                          <mc:AlternateContent xmlns:mc="http://schemas.openxmlformats.org/markup-compatibility/2006" xmlns:a14="http://schemas.microsoft.com/office/drawing/2010/main">
                            <mc:Choice Requires="a14">
                              <p:sp>
                                <p:nvSpPr>
                                  <p:cNvPr id="32" name="Прямоугольник 31"/>
                                  <p:cNvSpPr/>
                                  <p:nvPr/>
                                </p:nvSpPr>
                                <p:spPr>
                                  <a:xfrm>
                                    <a:off x="1266605" y="1606779"/>
                                    <a:ext cx="534702" cy="379903"/>
                                  </a:xfrm>
                                  <a:prstGeom prst="rect">
                                    <a:avLst/>
                                  </a:prstGeom>
                                </p:spPr>
                                <p:txBody>
                                  <a:bodyPr wrap="square">
                                    <a:spAutoFit/>
                                  </a:bodyPr>
                                  <a:lstStyle/>
                                  <a:p>
                                    <a:pPr/>
                                    <a14:m>
                                      <m:oMathPara xmlns:m="http://schemas.openxmlformats.org/officeDocument/2006/math">
                                        <m:oMathParaPr>
                                          <m:jc m:val="centerGroup"/>
                                        </m:oMathParaPr>
                                        <m:oMath xmlns:m="http://schemas.openxmlformats.org/officeDocument/2006/math"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ru-RU" i="1">
                                                  <a:latin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ru-RU" i="1">
                                                  <a:latin typeface="Cambria Math"/>
                                                </a:rPr>
                                                <m:t>𝜔</m:t>
                                              </m:r>
                                            </m:e>
                                          </m:acc>
                                        </m:oMath>
                                      </m:oMathPara>
                                    </a14:m>
                                    <a:endParaRPr lang="ru-RU" dirty="0"/>
                                  </a:p>
                                </p:txBody>
                              </p:sp>
                            </mc:Choice>
                            <mc:Fallback xmlns="">
                              <p:sp>
                                <p:nvSpPr>
                                  <p:cNvPr id="14" name="Прямоугольник 13"/>
                                  <p:cNvSpPr>
                                    <a:spLocks noRot="1" noChangeAspect="1" noMove="1" noResize="1" noEditPoints="1" noAdjustHandles="1" noChangeArrowheads="1" noChangeShapeType="1" noTextEdit="1"/>
                                  </p:cNvSpPr>
                                  <p:nvPr/>
                                </p:nvSpPr>
                                <p:spPr>
                                  <a:xfrm>
                                    <a:off x="1266605" y="1606779"/>
                                    <a:ext cx="534702" cy="379903"/>
                                  </a:xfrm>
                                  <a:prstGeom prst="rect">
                                    <a:avLst/>
                                  </a:prstGeom>
                                  <a:blipFill rotWithShape="1">
                                    <a:blip r:embed="rId4"/>
                                    <a:stretch>
                                      <a:fillRect r="-11364"/>
                                    </a:stretch>
                                  </a:blipFill>
                                </p:spPr>
                                <p:txBody>
                                  <a:bodyPr/>
                                  <a:lstStyle/>
                                  <a:p>
                                    <a:r>
                                      <a:rPr lang="ru-RU">
                                        <a:noFill/>
                                      </a:rPr>
                                      <a:t> </a:t>
                                    </a:r>
                                  </a:p>
                                </p:txBody>
                              </p:sp>
                            </mc:Fallback>
                          </mc:AlternateContent>
                        </p:grp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30" name="Прямоугольник 29"/>
                                <p:cNvSpPr/>
                                <p:nvPr/>
                              </p:nvSpPr>
                              <p:spPr>
                                <a:xfrm>
                                  <a:off x="2523113" y="3323485"/>
                                  <a:ext cx="432882" cy="379903"/>
                                </a:xfrm>
                                <a:prstGeom prst="rect">
                                  <a:avLst/>
                                </a:prstGeom>
                              </p:spPr>
                              <p:txBody>
                                <a:bodyPr wrap="square">
                                  <a:spAutoFit/>
                                </a:bodyPr>
                                <a:lstStyle/>
                                <a:p>
                                  <a:pPr/>
                                  <a14:m>
                                    <m:oMathPara xmlns:m="http://schemas.openxmlformats.org/officeDocument/2006/math">
                                      <m:oMathParaPr>
                                        <m:jc m:val="centerGroup"/>
                                      </m:oMathParaPr>
                                      <m:oMath xmlns:m="http://schemas.openxmlformats.org/officeDocument/2006/math"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ru-RU" i="1">
                                                <a:latin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ru-RU" i="1">
                                                <a:latin typeface="Cambria Math"/>
                                              </a:rPr>
                                              <m:t>𝜀</m:t>
                                            </m:r>
                                          </m:e>
                                        </m:acc>
                                      </m:oMath>
                                    </m:oMathPara>
                                  </a14:m>
                                  <a:endParaRPr lang="ru-RU" dirty="0"/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17" name="Прямоугольник 16"/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2523113" y="3323485"/>
                                  <a:ext cx="432882" cy="379903"/>
                                </a:xfrm>
                                <a:prstGeom prst="rect">
                                  <a:avLst/>
                                </a:prstGeom>
                                <a:blipFill rotWithShape="1">
                                  <a:blip r:embed="rId5"/>
                                  <a:stretch>
                                    <a:fillRect r="-22535"/>
                                  </a:stretch>
                                </a:blipFill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ru-RU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  <p:cxnSp>
                        <p:nvCxnSpPr>
                          <p:cNvPr id="27" name="Прямая со стрелкой 26"/>
                          <p:cNvCxnSpPr>
                            <a:endCxn id="23" idx="3"/>
                          </p:cNvCxnSpPr>
                          <p:nvPr/>
                        </p:nvCxnSpPr>
                        <p:spPr>
                          <a:xfrm flipV="1">
                            <a:off x="904616" y="2504094"/>
                            <a:ext cx="1342359" cy="929507"/>
                          </a:xfrm>
                          <a:prstGeom prst="straightConnector1">
                            <a:avLst/>
                          </a:prstGeom>
                          <a:ln w="9525">
                            <a:solidFill>
                              <a:schemeClr val="tx1"/>
                            </a:solidFill>
                            <a:tailEnd type="stealt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8" name="Полилиния 27"/>
                          <p:cNvSpPr/>
                          <p:nvPr/>
                        </p:nvSpPr>
                        <p:spPr>
                          <a:xfrm>
                            <a:off x="1787847" y="1986682"/>
                            <a:ext cx="572786" cy="655320"/>
                          </a:xfrm>
                          <a:custGeom>
                            <a:avLst/>
                            <a:gdLst>
                              <a:gd name="connsiteX0" fmla="*/ 127000 w 572786"/>
                              <a:gd name="connsiteY0" fmla="*/ 0 h 655320"/>
                              <a:gd name="connsiteX1" fmla="*/ 497840 w 572786"/>
                              <a:gd name="connsiteY1" fmla="*/ 228600 h 655320"/>
                              <a:gd name="connsiteX2" fmla="*/ 528320 w 572786"/>
                              <a:gd name="connsiteY2" fmla="*/ 467360 h 655320"/>
                              <a:gd name="connsiteX3" fmla="*/ 0 w 572786"/>
                              <a:gd name="connsiteY3" fmla="*/ 655320 h 65532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572786" h="655320">
                                <a:moveTo>
                                  <a:pt x="127000" y="0"/>
                                </a:moveTo>
                                <a:cubicBezTo>
                                  <a:pt x="278976" y="75353"/>
                                  <a:pt x="430953" y="150707"/>
                                  <a:pt x="497840" y="228600"/>
                                </a:cubicBezTo>
                                <a:cubicBezTo>
                                  <a:pt x="564727" y="306493"/>
                                  <a:pt x="611293" y="396240"/>
                                  <a:pt x="528320" y="467360"/>
                                </a:cubicBezTo>
                                <a:cubicBezTo>
                                  <a:pt x="445347" y="538480"/>
                                  <a:pt x="222673" y="596900"/>
                                  <a:pt x="0" y="655320"/>
                                </a:cubicBezTo>
                              </a:path>
                            </a:pathLst>
                          </a:custGeom>
                          <a:ln w="9525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</p:grpSp>
                    <p:cxnSp>
                      <p:nvCxnSpPr>
                        <p:cNvPr id="25" name="Прямая со стрелкой 24"/>
                        <p:cNvCxnSpPr/>
                        <p:nvPr/>
                      </p:nvCxnSpPr>
                      <p:spPr>
                        <a:xfrm flipV="1">
                          <a:off x="2286952" y="2232660"/>
                          <a:ext cx="555308" cy="239105"/>
                        </a:xfrm>
                        <a:prstGeom prst="straightConnector1">
                          <a:avLst/>
                        </a:prstGeom>
                        <a:ln w="12700">
                          <a:solidFill>
                            <a:srgbClr val="0033CC"/>
                          </a:solidFill>
                          <a:tailEnd type="stealt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23" name="Овал 22"/>
                      <p:cNvSpPr/>
                      <p:nvPr/>
                    </p:nvSpPr>
                    <p:spPr>
                      <a:xfrm>
                        <a:off x="2240280" y="2465070"/>
                        <a:ext cx="45719" cy="45719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ru-RU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1" name="Прямоугольник 20"/>
                        <p:cNvSpPr/>
                        <p:nvPr/>
                      </p:nvSpPr>
                      <p:spPr>
                        <a:xfrm>
                          <a:off x="2631029" y="2202180"/>
                          <a:ext cx="299898" cy="338554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ru-RU" sz="1600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ru-RU" sz="1600" dirty="0"/>
                        </a:p>
                      </p:txBody>
                    </p:sp>
                  </mc:Choice>
                  <mc:Fallback xmlns="">
                    <p:sp>
                      <p:nvSpPr>
                        <p:cNvPr id="72" name="Прямоугольник 71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31029" y="2202180"/>
                          <a:ext cx="299898" cy="338554"/>
                        </a:xfrm>
                        <a:prstGeom prst="rect">
                          <a:avLst/>
                        </a:prstGeom>
                        <a:blipFill rotWithShape="1"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Прямоугольник 18"/>
                      <p:cNvSpPr/>
                      <p:nvPr/>
                    </p:nvSpPr>
                    <p:spPr>
                      <a:xfrm>
                        <a:off x="1458911" y="2638090"/>
                        <a:ext cx="328936" cy="338554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ru-RU" sz="16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ru-RU" sz="1600" i="1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</m:acc>
                            </m:oMath>
                          </m:oMathPara>
                        </a14:m>
                        <a:endParaRPr lang="ru-RU" sz="1600" dirty="0"/>
                      </a:p>
                    </p:txBody>
                  </p:sp>
                </mc:Choice>
                <mc:Fallback xmlns="">
                  <p:sp>
                    <p:nvSpPr>
                      <p:cNvPr id="74" name="Прямоугольник 7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58911" y="2638090"/>
                        <a:ext cx="328936" cy="338554"/>
                      </a:xfrm>
                      <a:prstGeom prst="rect">
                        <a:avLst/>
                      </a:prstGeom>
                      <a:blipFill rotWithShape="1"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7" name="Дуга 16"/>
                <p:cNvSpPr/>
                <p:nvPr/>
              </p:nvSpPr>
              <p:spPr>
                <a:xfrm rot="1020131">
                  <a:off x="963929" y="3329811"/>
                  <a:ext cx="146685" cy="162260"/>
                </a:xfrm>
                <a:prstGeom prst="arc">
                  <a:avLst>
                    <a:gd name="adj1" fmla="val 16200000"/>
                    <a:gd name="adj2" fmla="val 21403860"/>
                  </a:avLst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Прямоугольник 14"/>
                  <p:cNvSpPr/>
                  <p:nvPr/>
                </p:nvSpPr>
                <p:spPr>
                  <a:xfrm>
                    <a:off x="1076659" y="3166873"/>
                    <a:ext cx="333746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80" name="Прямоугольник 7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6659" y="3166873"/>
                    <a:ext cx="333746" cy="307777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/>
            <p:cNvSpPr txBox="1"/>
            <p:nvPr/>
          </p:nvSpPr>
          <p:spPr>
            <a:xfrm>
              <a:off x="1993132" y="2109841"/>
              <a:ext cx="449580" cy="3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>
                  <a:latin typeface="Times New Roman" pitchFamily="18" charset="0"/>
                  <a:cs typeface="Times New Roman" pitchFamily="18" charset="0"/>
                </a:rPr>
                <a:t>М</a:t>
              </a:r>
              <a:endParaRPr lang="ru-RU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" name="Группа 44"/>
          <p:cNvGrpSpPr/>
          <p:nvPr/>
        </p:nvGrpSpPr>
        <p:grpSpPr>
          <a:xfrm>
            <a:off x="1921451" y="1386148"/>
            <a:ext cx="1450310" cy="1271946"/>
            <a:chOff x="1545514" y="1261796"/>
            <a:chExt cx="1450310" cy="1271946"/>
          </a:xfrm>
        </p:grpSpPr>
        <p:grpSp>
          <p:nvGrpSpPr>
            <p:cNvPr id="46" name="Группа 45"/>
            <p:cNvGrpSpPr/>
            <p:nvPr/>
          </p:nvGrpSpPr>
          <p:grpSpPr>
            <a:xfrm>
              <a:off x="1589695" y="1261796"/>
              <a:ext cx="1406129" cy="1271946"/>
              <a:chOff x="1589695" y="1261796"/>
              <a:chExt cx="1406129" cy="12719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Прямоугольник 48"/>
                  <p:cNvSpPr/>
                  <p:nvPr/>
                </p:nvSpPr>
                <p:spPr>
                  <a:xfrm>
                    <a:off x="2461122" y="1261796"/>
                    <a:ext cx="534702" cy="379903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𝜔</m:t>
                              </m:r>
                            </m:e>
                          </m:acc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86" name="Прямоугольник 8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61122" y="1261796"/>
                    <a:ext cx="534702" cy="379903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r="-11364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0" name="Группа 49"/>
              <p:cNvGrpSpPr/>
              <p:nvPr/>
            </p:nvGrpSpPr>
            <p:grpSpPr>
              <a:xfrm>
                <a:off x="1589695" y="1294377"/>
                <a:ext cx="1341232" cy="1239365"/>
                <a:chOff x="1589695" y="1294377"/>
                <a:chExt cx="1341232" cy="1239365"/>
              </a:xfrm>
            </p:grpSpPr>
            <p:grpSp>
              <p:nvGrpSpPr>
                <p:cNvPr id="51" name="Группа 50"/>
                <p:cNvGrpSpPr/>
                <p:nvPr/>
              </p:nvGrpSpPr>
              <p:grpSpPr>
                <a:xfrm>
                  <a:off x="1589695" y="1294377"/>
                  <a:ext cx="1341232" cy="1170693"/>
                  <a:chOff x="1589695" y="1294377"/>
                  <a:chExt cx="1341232" cy="1170693"/>
                </a:xfrm>
              </p:grpSpPr>
              <p:grpSp>
                <p:nvGrpSpPr>
                  <p:cNvPr id="53" name="Группа 52"/>
                  <p:cNvGrpSpPr/>
                  <p:nvPr/>
                </p:nvGrpSpPr>
                <p:grpSpPr>
                  <a:xfrm>
                    <a:off x="1589695" y="1294377"/>
                    <a:ext cx="1341232" cy="1170693"/>
                    <a:chOff x="1589695" y="1294377"/>
                    <a:chExt cx="1341232" cy="1170693"/>
                  </a:xfrm>
                </p:grpSpPr>
                <p:cxnSp>
                  <p:nvCxnSpPr>
                    <p:cNvPr id="55" name="Прямая соединительная линия 54"/>
                    <p:cNvCxnSpPr/>
                    <p:nvPr/>
                  </p:nvCxnSpPr>
                  <p:spPr>
                    <a:xfrm flipH="1" flipV="1">
                      <a:off x="1589695" y="2126905"/>
                      <a:ext cx="650585" cy="33816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" name="Прямая со стрелкой 55"/>
                    <p:cNvCxnSpPr/>
                    <p:nvPr/>
                  </p:nvCxnSpPr>
                  <p:spPr>
                    <a:xfrm flipH="1" flipV="1">
                      <a:off x="1787847" y="2225965"/>
                      <a:ext cx="444473" cy="239105"/>
                    </a:xfrm>
                    <a:prstGeom prst="straightConnector1">
                      <a:avLst/>
                    </a:prstGeom>
                    <a:ln w="12700">
                      <a:solidFill>
                        <a:srgbClr val="FF0000"/>
                      </a:solidFill>
                      <a:tailEnd type="stealt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" name="Прямая соединительная линия 56"/>
                    <p:cNvCxnSpPr/>
                    <p:nvPr/>
                  </p:nvCxnSpPr>
                  <p:spPr>
                    <a:xfrm flipV="1">
                      <a:off x="2286952" y="1294377"/>
                      <a:ext cx="643975" cy="1170693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  <a:prstDash val="dash"/>
                      <a:tailEnd type="stealt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8" name="Прямоугольный треугольник 57"/>
                    <p:cNvSpPr/>
                    <p:nvPr/>
                  </p:nvSpPr>
                  <p:spPr>
                    <a:xfrm rot="14774999">
                      <a:off x="2229664" y="1831969"/>
                      <a:ext cx="472317" cy="605325"/>
                    </a:xfrm>
                    <a:prstGeom prst="rtTriangle">
                      <a:avLst/>
                    </a:prstGeom>
                    <a:solidFill>
                      <a:schemeClr val="accent2">
                        <a:lumMod val="40000"/>
                        <a:lumOff val="60000"/>
                        <a:alpha val="50000"/>
                      </a:schemeClr>
                    </a:solidFill>
                    <a:ln w="31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1692533" y="1928129"/>
                    <a:ext cx="38100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 smtClean="0">
                        <a:latin typeface="Times New Roman" pitchFamily="18" charset="0"/>
                        <a:cs typeface="Times New Roman" pitchFamily="18" charset="0"/>
                      </a:rPr>
                      <a:t>h</a:t>
                    </a:r>
                    <a:endParaRPr lang="ru-RU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Прямоугольник 51"/>
                    <p:cNvSpPr/>
                    <p:nvPr/>
                  </p:nvSpPr>
                  <p:spPr>
                    <a:xfrm>
                      <a:off x="1594479" y="2225965"/>
                      <a:ext cx="458202" cy="3077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ru-RU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ос</m:t>
                                </m:r>
                              </m:sub>
                            </m:sSub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52" name="Прямоугольник 5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4479" y="2225965"/>
                      <a:ext cx="458202" cy="307777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b="-1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47" name="Прямая соединительная линия 46"/>
            <p:cNvCxnSpPr/>
            <p:nvPr/>
          </p:nvCxnSpPr>
          <p:spPr>
            <a:xfrm>
              <a:off x="1545514" y="2209800"/>
              <a:ext cx="77865" cy="4176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/>
            <p:cNvCxnSpPr/>
            <p:nvPr/>
          </p:nvCxnSpPr>
          <p:spPr>
            <a:xfrm flipV="1">
              <a:off x="1623379" y="2165752"/>
              <a:ext cx="43718" cy="858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Группа 58"/>
          <p:cNvGrpSpPr/>
          <p:nvPr/>
        </p:nvGrpSpPr>
        <p:grpSpPr>
          <a:xfrm>
            <a:off x="1246888" y="2621723"/>
            <a:ext cx="2029823" cy="898827"/>
            <a:chOff x="870951" y="2497371"/>
            <a:chExt cx="2029823" cy="898827"/>
          </a:xfrm>
        </p:grpSpPr>
        <p:sp>
          <p:nvSpPr>
            <p:cNvPr id="60" name="Прямоугольный треугольник 59"/>
            <p:cNvSpPr/>
            <p:nvPr/>
          </p:nvSpPr>
          <p:spPr>
            <a:xfrm rot="15982165">
              <a:off x="1153937" y="2258509"/>
              <a:ext cx="854703" cy="1420675"/>
            </a:xfrm>
            <a:prstGeom prst="rtTriangle">
              <a:avLst/>
            </a:prstGeom>
            <a:solidFill>
              <a:schemeClr val="accent4">
                <a:lumMod val="40000"/>
                <a:lumOff val="60000"/>
                <a:alpha val="48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1" name="Группа 60"/>
            <p:cNvGrpSpPr/>
            <p:nvPr/>
          </p:nvGrpSpPr>
          <p:grpSpPr>
            <a:xfrm>
              <a:off x="2212918" y="2497371"/>
              <a:ext cx="687856" cy="863296"/>
              <a:chOff x="2212918" y="2497371"/>
              <a:chExt cx="687856" cy="863296"/>
            </a:xfrm>
          </p:grpSpPr>
          <p:grpSp>
            <p:nvGrpSpPr>
              <p:cNvPr id="62" name="Группа 61"/>
              <p:cNvGrpSpPr/>
              <p:nvPr/>
            </p:nvGrpSpPr>
            <p:grpSpPr>
              <a:xfrm>
                <a:off x="2212918" y="2504094"/>
                <a:ext cx="310195" cy="856573"/>
                <a:chOff x="2212918" y="2504094"/>
                <a:chExt cx="310195" cy="856573"/>
              </a:xfrm>
            </p:grpSpPr>
            <p:cxnSp>
              <p:nvCxnSpPr>
                <p:cNvPr id="65" name="Прямая со стрелкой 64"/>
                <p:cNvCxnSpPr/>
                <p:nvPr/>
              </p:nvCxnSpPr>
              <p:spPr>
                <a:xfrm>
                  <a:off x="2274569" y="2504094"/>
                  <a:ext cx="248544" cy="366741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Прямая соединительная линия 65"/>
                <p:cNvCxnSpPr/>
                <p:nvPr/>
              </p:nvCxnSpPr>
              <p:spPr>
                <a:xfrm flipV="1">
                  <a:off x="2212918" y="3257189"/>
                  <a:ext cx="97847" cy="397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Прямая соединительная линия 66"/>
                <p:cNvCxnSpPr/>
                <p:nvPr/>
              </p:nvCxnSpPr>
              <p:spPr>
                <a:xfrm flipH="1" flipV="1">
                  <a:off x="2216036" y="3259177"/>
                  <a:ext cx="3772" cy="10149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Прямоугольник 62"/>
                  <p:cNvSpPr/>
                  <p:nvPr/>
                </p:nvSpPr>
                <p:spPr>
                  <a:xfrm>
                    <a:off x="2428145" y="2497371"/>
                    <a:ext cx="472629" cy="3270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ru-RU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вр</m:t>
                              </m:r>
                            </m:sub>
                          </m:sSub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3" name="Прямоугольник 6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8145" y="2497371"/>
                    <a:ext cx="472629" cy="327077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b="-24074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4" name="TextBox 63"/>
              <p:cNvSpPr txBox="1"/>
              <p:nvPr/>
            </p:nvSpPr>
            <p:spPr>
              <a:xfrm>
                <a:off x="2240280" y="2874497"/>
                <a:ext cx="4241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sz="6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ru-RU" sz="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/>
              <p:cNvSpPr/>
              <p:nvPr/>
            </p:nvSpPr>
            <p:spPr>
              <a:xfrm>
                <a:off x="4284067" y="1951406"/>
                <a:ext cx="5256173" cy="362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𝜀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+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</m:acc>
                    <m:r>
                      <a:rPr lang="ru-RU" b="0" i="1" smtClean="0">
                        <a:latin typeface="Cambria Math"/>
                      </a:rPr>
                      <m:t> </m:t>
                    </m:r>
                    <m:r>
                      <a:rPr lang="ru-RU" b="0" i="0" smtClean="0">
                        <a:latin typeface="Cambria Math"/>
                      </a:rPr>
                      <m:t>− </m:t>
                    </m:r>
                  </m:oMath>
                </a14:m>
                <a:r>
                  <a:rPr lang="ru-RU" sz="16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формула </a:t>
                </a:r>
                <a:r>
                  <a:rPr lang="ru-RU" sz="1600" b="1" dirty="0" err="1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Ривальса</a:t>
                </a:r>
                <a:r>
                  <a:rPr lang="en-US" sz="16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sz="16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8" name="Прямоугольник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067" y="1951406"/>
                <a:ext cx="5256173" cy="362984"/>
              </a:xfrm>
              <a:prstGeom prst="rect">
                <a:avLst/>
              </a:prstGeom>
              <a:blipFill rotWithShape="1"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Прямоугольник 68"/>
              <p:cNvSpPr/>
              <p:nvPr/>
            </p:nvSpPr>
            <p:spPr>
              <a:xfrm>
                <a:off x="3865342" y="4101820"/>
                <a:ext cx="4712867" cy="394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вр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𝜀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</m:acc>
                    <m:r>
                      <a:rPr lang="ru-RU" b="0" i="0" smtClean="0">
                        <a:latin typeface="Cambria Math"/>
                      </a:rPr>
                      <m:t>− </m:t>
                    </m:r>
                  </m:oMath>
                </a14:m>
                <a:r>
                  <a:rPr lang="ru-RU" sz="16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вращательное ускорение</a:t>
                </a:r>
                <a:endParaRPr lang="ru-RU" sz="16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9" name="Прямоугольник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342" y="4101820"/>
                <a:ext cx="4712867" cy="394210"/>
              </a:xfrm>
              <a:prstGeom prst="rect">
                <a:avLst/>
              </a:prstGeom>
              <a:blipFill rotWithShape="1">
                <a:blip r:embed="rId12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Прямоугольник 70"/>
              <p:cNvSpPr/>
              <p:nvPr/>
            </p:nvSpPr>
            <p:spPr>
              <a:xfrm>
                <a:off x="529470" y="5214305"/>
                <a:ext cx="1180068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– кратчайшее расстояние от точки М до линии вдоль которой направлен вектор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𝜀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в данный момент времени.</a:t>
                </a:r>
              </a:p>
            </p:txBody>
          </p:sp>
        </mc:Choice>
        <mc:Fallback xmlns="">
          <p:sp>
            <p:nvSpPr>
              <p:cNvPr id="71" name="Прямоугольник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70" y="5214305"/>
                <a:ext cx="11800682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310" b="-180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Прямоугольник 71"/>
              <p:cNvSpPr/>
              <p:nvPr/>
            </p:nvSpPr>
            <p:spPr>
              <a:xfrm>
                <a:off x="3962400" y="1335486"/>
                <a:ext cx="6349430" cy="619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r>
                            <a:rPr lang="ru-RU" i="1">
                              <a:latin typeface="Cambria Math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𝜔</m:t>
                              </m:r>
                            </m:e>
                          </m:acc>
                          <m:r>
                            <a:rPr lang="ru-RU" i="1">
                              <a:latin typeface="Cambria Math"/>
                            </a:rPr>
                            <m:t>×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𝑟</m:t>
                              </m:r>
                            </m:e>
                          </m:acc>
                          <m:r>
                            <a:rPr lang="ru-RU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𝜔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𝜀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 ;</m:t>
                      </m:r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2" name="Прямоугольник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335486"/>
                <a:ext cx="6349430" cy="619913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Прямоугольник 73"/>
              <p:cNvSpPr/>
              <p:nvPr/>
            </p:nvSpPr>
            <p:spPr>
              <a:xfrm>
                <a:off x="2426200" y="5776734"/>
                <a:ext cx="6918618" cy="656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Модуль ускорения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равен 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𝑎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вр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ru-RU" i="1">
                            <a:latin typeface="Cambria Math"/>
                          </a:rPr>
                          <m:t>+</m:t>
                        </m:r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ос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ru-RU" i="1">
                            <a:latin typeface="Cambria Math"/>
                          </a:rPr>
                          <m:t>+2</m:t>
                        </m:r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вр</m:t>
                            </m:r>
                          </m:sub>
                        </m:sSub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ос</m:t>
                            </m:r>
                          </m:sub>
                        </m:sSub>
                        <m:r>
                          <a:rPr lang="ru-RU" i="1">
                            <a:latin typeface="Cambria Math"/>
                          </a:rPr>
                          <m:t>𝑐𝑜𝑠</m:t>
                        </m:r>
                        <m:r>
                          <a:rPr lang="ru-RU" i="1"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вр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ос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)</m:t>
                            </m:r>
                          </m:e>
                        </m:acc>
                      </m:e>
                    </m:rad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74" name="Прямоугольник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200" y="5776734"/>
                <a:ext cx="6918618" cy="656013"/>
              </a:xfrm>
              <a:prstGeom prst="rect">
                <a:avLst/>
              </a:prstGeom>
              <a:blipFill rotWithShape="1">
                <a:blip r:embed="rId16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Прямоугольник 75"/>
              <p:cNvSpPr/>
              <p:nvPr/>
            </p:nvSpPr>
            <p:spPr>
              <a:xfrm>
                <a:off x="529470" y="4485151"/>
                <a:ext cx="11294477" cy="6712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Вектор вращательного ускорения направлен перпендикулярно плоскости, проходящей через векторы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𝑟</m:t>
                        </m:r>
                      </m:e>
                    </m:acc>
                  </m:oMath>
                </a14:m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 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𝜀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модуль его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равен: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вр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𝜀</m:t>
                            </m:r>
                          </m:e>
                        </m:acc>
                        <m:r>
                          <a:rPr lang="ru-RU" i="1">
                            <a:latin typeface="Cambria Math"/>
                          </a:rPr>
                          <m:t>×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ru-RU" i="1">
                        <a:latin typeface="Cambria Math"/>
                      </a:rPr>
                      <m:t>= </m:t>
                    </m:r>
                    <m:r>
                      <a:rPr lang="ru-RU" i="1">
                        <a:latin typeface="Cambria Math"/>
                      </a:rPr>
                      <m:t>𝜀</m:t>
                    </m:r>
                    <m:r>
                      <a:rPr lang="en-US" i="1">
                        <a:latin typeface="Cambria Math"/>
                      </a:rPr>
                      <m:t>𝑟𝑠𝑖𝑛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𝜀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76" name="Прямоугольник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70" y="4485151"/>
                <a:ext cx="11294477" cy="671209"/>
              </a:xfrm>
              <a:prstGeom prst="rect">
                <a:avLst/>
              </a:prstGeom>
              <a:blipFill rotWithShape="1">
                <a:blip r:embed="rId17"/>
                <a:stretch>
                  <a:fillRect l="-324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Прямоугольник 76"/>
              <p:cNvSpPr/>
              <p:nvPr/>
            </p:nvSpPr>
            <p:spPr>
              <a:xfrm>
                <a:off x="4284067" y="922966"/>
                <a:ext cx="1258482" cy="369322"/>
              </a:xfrm>
              <a:prstGeom prst="rect">
                <a:avLst/>
              </a:prstGeom>
            </p:spPr>
            <p:txBody>
              <a:bodyPr wrap="square" lIns="91429" tIns="45715" rIns="91429" bIns="45715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𝜔</m:t>
                          </m:r>
                        </m:e>
                      </m:acc>
                      <m:r>
                        <a:rPr lang="ru-RU" i="1">
                          <a:latin typeface="Cambria Math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Прямоугольник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067" y="922966"/>
                <a:ext cx="1258482" cy="369322"/>
              </a:xfrm>
              <a:prstGeom prst="rect">
                <a:avLst/>
              </a:prstGeom>
              <a:blipFill rotWithShape="1">
                <a:blip r:embed="rId19"/>
                <a:stretch>
                  <a:fillRect r="-17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Прямоугольник 74"/>
              <p:cNvSpPr/>
              <p:nvPr/>
            </p:nvSpPr>
            <p:spPr>
              <a:xfrm>
                <a:off x="4284067" y="2322598"/>
                <a:ext cx="489336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ос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</m:acc>
                  </m:oMath>
                </a14:m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 - </a:t>
                </a:r>
                <a:r>
                  <a:rPr lang="ru-RU" sz="1600" b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осестремительное ускорение</a:t>
                </a:r>
                <a:endParaRPr lang="ru-RU" sz="16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5" name="Прямоугольник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067" y="2322598"/>
                <a:ext cx="4893365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Прямоугольник 77"/>
              <p:cNvSpPr/>
              <p:nvPr/>
            </p:nvSpPr>
            <p:spPr>
              <a:xfrm>
                <a:off x="3865342" y="2669310"/>
                <a:ext cx="7621703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Вектор осестремительного ускорения перпендикулярен плоскости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, проходящей через векторы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</m:acc>
                  </m:oMath>
                </a14:m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 и направлен от точки М вдоль перпендикуляра опущенного из нее на мгновенную ось вращения.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М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одуль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его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равен:</a:t>
                </a:r>
                <a:endParaRPr lang="ru-RU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ос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  <m:r>
                          <a:rPr lang="ru-RU" i="1">
                            <a:latin typeface="Cambria Math"/>
                          </a:rPr>
                          <m:t>×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ru-RU" i="1">
                        <a:latin typeface="Cambria Math"/>
                      </a:rPr>
                      <m:t>= </m:t>
                    </m:r>
                    <m:r>
                      <a:rPr lang="en-US" i="1">
                        <a:latin typeface="Cambria Math"/>
                      </a:rPr>
                      <m:t>𝜔</m:t>
                    </m:r>
                    <m:r>
                      <a:rPr lang="en-US" i="1">
                        <a:latin typeface="Cambria Math"/>
                      </a:rPr>
                      <m:t>𝑣𝑠𝑖𝑛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ru-RU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h</m:t>
                    </m:r>
                  </m:oMath>
                </a14:m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,   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где</a:t>
                </a:r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h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– </a:t>
                </a:r>
                <a:r>
                  <a:rPr lang="ru-RU" sz="1600" dirty="0">
                    <a:latin typeface="Times New Roman" pitchFamily="18" charset="0"/>
                    <a:cs typeface="Times New Roman" pitchFamily="18" charset="0"/>
                  </a:rPr>
                  <a:t>кратчайшее расстояние от точки М до мгновенной оси вращения.</a:t>
                </a:r>
              </a:p>
            </p:txBody>
          </p:sp>
        </mc:Choice>
        <mc:Fallback xmlns="">
          <p:sp>
            <p:nvSpPr>
              <p:cNvPr id="78" name="Прямоугольник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342" y="2669310"/>
                <a:ext cx="7621703" cy="1384995"/>
              </a:xfrm>
              <a:prstGeom prst="rect">
                <a:avLst/>
              </a:prstGeom>
              <a:blipFill rotWithShape="1">
                <a:blip r:embed="rId21"/>
                <a:stretch>
                  <a:fillRect l="-400" t="-1322" r="-640" b="-29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1" grpId="0"/>
      <p:bldP spid="72" grpId="0"/>
      <p:bldP spid="74" grpId="0"/>
      <p:bldP spid="76" grpId="0"/>
      <p:bldP spid="77" grpId="0"/>
      <p:bldP spid="75" grpId="0"/>
      <p:bldP spid="7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429131" y="1377191"/>
            <a:ext cx="3750587" cy="3056991"/>
            <a:chOff x="321848" y="1032893"/>
            <a:chExt cx="2812940" cy="2292743"/>
          </a:xfrm>
        </p:grpSpPr>
        <p:grpSp>
          <p:nvGrpSpPr>
            <p:cNvPr id="5" name="Группа 4"/>
            <p:cNvGrpSpPr/>
            <p:nvPr/>
          </p:nvGrpSpPr>
          <p:grpSpPr>
            <a:xfrm>
              <a:off x="321848" y="1032893"/>
              <a:ext cx="2812940" cy="2292743"/>
              <a:chOff x="321848" y="1032893"/>
              <a:chExt cx="2812940" cy="2292743"/>
            </a:xfrm>
          </p:grpSpPr>
          <p:grpSp>
            <p:nvGrpSpPr>
              <p:cNvPr id="7" name="Группа 6"/>
              <p:cNvGrpSpPr/>
              <p:nvPr/>
            </p:nvGrpSpPr>
            <p:grpSpPr>
              <a:xfrm>
                <a:off x="321848" y="1032893"/>
                <a:ext cx="2812940" cy="2292743"/>
                <a:chOff x="321848" y="1032893"/>
                <a:chExt cx="2812940" cy="2292743"/>
              </a:xfrm>
            </p:grpSpPr>
            <p:grpSp>
              <p:nvGrpSpPr>
                <p:cNvPr id="10" name="Группа 9"/>
                <p:cNvGrpSpPr/>
                <p:nvPr/>
              </p:nvGrpSpPr>
              <p:grpSpPr>
                <a:xfrm>
                  <a:off x="321848" y="1032893"/>
                  <a:ext cx="2812940" cy="2292743"/>
                  <a:chOff x="817065" y="1006717"/>
                  <a:chExt cx="2812940" cy="2292743"/>
                </a:xfrm>
              </p:grpSpPr>
              <p:grpSp>
                <p:nvGrpSpPr>
                  <p:cNvPr id="13" name="Группа 12"/>
                  <p:cNvGrpSpPr/>
                  <p:nvPr/>
                </p:nvGrpSpPr>
                <p:grpSpPr>
                  <a:xfrm>
                    <a:off x="817065" y="1006717"/>
                    <a:ext cx="2812940" cy="2292743"/>
                    <a:chOff x="817065" y="1006717"/>
                    <a:chExt cx="2812940" cy="2292743"/>
                  </a:xfrm>
                </p:grpSpPr>
                <p:grpSp>
                  <p:nvGrpSpPr>
                    <p:cNvPr id="15" name="Группа 14"/>
                    <p:cNvGrpSpPr/>
                    <p:nvPr/>
                  </p:nvGrpSpPr>
                  <p:grpSpPr>
                    <a:xfrm>
                      <a:off x="817065" y="1341118"/>
                      <a:ext cx="2542342" cy="1958342"/>
                      <a:chOff x="817065" y="1341118"/>
                      <a:chExt cx="2542342" cy="1958342"/>
                    </a:xfrm>
                  </p:grpSpPr>
                  <p:grpSp>
                    <p:nvGrpSpPr>
                      <p:cNvPr id="17" name="Группа 16"/>
                      <p:cNvGrpSpPr/>
                      <p:nvPr/>
                    </p:nvGrpSpPr>
                    <p:grpSpPr>
                      <a:xfrm>
                        <a:off x="817065" y="1341118"/>
                        <a:ext cx="2542342" cy="1958342"/>
                        <a:chOff x="817065" y="1341118"/>
                        <a:chExt cx="2542342" cy="1958342"/>
                      </a:xfrm>
                    </p:grpSpPr>
                    <p:grpSp>
                      <p:nvGrpSpPr>
                        <p:cNvPr id="19" name="Группа 18"/>
                        <p:cNvGrpSpPr/>
                        <p:nvPr/>
                      </p:nvGrpSpPr>
                      <p:grpSpPr>
                        <a:xfrm>
                          <a:off x="817065" y="1341118"/>
                          <a:ext cx="2542342" cy="1958342"/>
                          <a:chOff x="817065" y="1341118"/>
                          <a:chExt cx="2542342" cy="1958342"/>
                        </a:xfrm>
                      </p:grpSpPr>
                      <p:grpSp>
                        <p:nvGrpSpPr>
                          <p:cNvPr id="22" name="Группа 21"/>
                          <p:cNvGrpSpPr/>
                          <p:nvPr/>
                        </p:nvGrpSpPr>
                        <p:grpSpPr>
                          <a:xfrm>
                            <a:off x="817065" y="1363979"/>
                            <a:ext cx="2519483" cy="1935481"/>
                            <a:chOff x="817065" y="1363979"/>
                            <a:chExt cx="2519483" cy="1935481"/>
                          </a:xfrm>
                        </p:grpSpPr>
                        <p:grpSp>
                          <p:nvGrpSpPr>
                            <p:cNvPr id="24" name="Группа 23"/>
                            <p:cNvGrpSpPr/>
                            <p:nvPr/>
                          </p:nvGrpSpPr>
                          <p:grpSpPr>
                            <a:xfrm>
                              <a:off x="817065" y="1363979"/>
                              <a:ext cx="2519483" cy="1935481"/>
                              <a:chOff x="817065" y="1363979"/>
                              <a:chExt cx="2519483" cy="1935481"/>
                            </a:xfrm>
                          </p:grpSpPr>
                          <p:sp>
                            <p:nvSpPr>
                              <p:cNvPr id="26" name="Прямоугольник 25"/>
                              <p:cNvSpPr/>
                              <p:nvPr/>
                            </p:nvSpPr>
                            <p:spPr>
                              <a:xfrm>
                                <a:off x="2123372" y="2266948"/>
                                <a:ext cx="724484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ru-RU"/>
                              </a:p>
                            </p:txBody>
                          </p:sp>
                          <p:sp>
                            <p:nvSpPr>
                              <p:cNvPr id="27" name="Прямоугольник 26"/>
                              <p:cNvSpPr/>
                              <p:nvPr/>
                            </p:nvSpPr>
                            <p:spPr>
                              <a:xfrm>
                                <a:off x="2058111" y="2325825"/>
                                <a:ext cx="45719" cy="5054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ru-RU"/>
                              </a:p>
                            </p:txBody>
                          </p:sp>
                          <p:grpSp>
                            <p:nvGrpSpPr>
                              <p:cNvPr id="28" name="Группа 27"/>
                              <p:cNvGrpSpPr/>
                              <p:nvPr/>
                            </p:nvGrpSpPr>
                            <p:grpSpPr>
                              <a:xfrm>
                                <a:off x="817065" y="1363979"/>
                                <a:ext cx="2519483" cy="1851660"/>
                                <a:chOff x="815340" y="1588769"/>
                                <a:chExt cx="3535680" cy="1504954"/>
                              </a:xfrm>
                            </p:grpSpPr>
                            <p:sp>
                              <p:nvSpPr>
                                <p:cNvPr id="36" name="Блок-схема: ручное управление 35"/>
                                <p:cNvSpPr/>
                                <p:nvPr/>
                              </p:nvSpPr>
                              <p:spPr>
                                <a:xfrm rot="10800000">
                                  <a:off x="815340" y="2781302"/>
                                  <a:ext cx="3535680" cy="312420"/>
                                </a:xfrm>
                                <a:prstGeom prst="flowChartManualOperation">
                                  <a:avLst/>
                                </a:prstGeom>
                                <a:gradFill flip="none" rotWithShape="1">
                                  <a:gsLst>
                                    <a:gs pos="35000">
                                      <a:schemeClr val="accent1">
                                        <a:lumMod val="75000"/>
                                        <a:alpha val="59000"/>
                                      </a:schemeClr>
                                    </a:gs>
                                    <a:gs pos="50000">
                                      <a:schemeClr val="accent1">
                                        <a:tint val="44500"/>
                                        <a:satMod val="160000"/>
                                      </a:schemeClr>
                                    </a:gs>
                                    <a:gs pos="100000">
                                      <a:schemeClr val="accent1">
                                        <a:tint val="23500"/>
                                        <a:satMod val="160000"/>
                                      </a:schemeClr>
                                    </a:gs>
                                  </a:gsLst>
                                  <a:lin ang="12000000" scaled="0"/>
                                  <a:tileRect/>
                                </a:gradFill>
                                <a:ln w="952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ru-RU"/>
                                </a:p>
                              </p:txBody>
                            </p:sp>
                            <p:sp>
                              <p:nvSpPr>
                                <p:cNvPr id="37" name="Блок-схема: ручное управление 36"/>
                                <p:cNvSpPr/>
                                <p:nvPr/>
                              </p:nvSpPr>
                              <p:spPr>
                                <a:xfrm rot="5400000">
                                  <a:off x="3255644" y="1998346"/>
                                  <a:ext cx="1504954" cy="685799"/>
                                </a:xfrm>
                                <a:prstGeom prst="flowChartManualOperation">
                                  <a:avLst/>
                                </a:prstGeom>
                                <a:gradFill flip="none" rotWithShape="1">
                                  <a:gsLst>
                                    <a:gs pos="98000">
                                      <a:schemeClr val="accent1">
                                        <a:lumMod val="75000"/>
                                        <a:alpha val="56000"/>
                                      </a:schemeClr>
                                    </a:gs>
                                    <a:gs pos="58000">
                                      <a:schemeClr val="accent1">
                                        <a:tint val="44500"/>
                                        <a:satMod val="160000"/>
                                      </a:schemeClr>
                                    </a:gs>
                                    <a:gs pos="100000">
                                      <a:schemeClr val="accent1">
                                        <a:tint val="23500"/>
                                        <a:satMod val="160000"/>
                                      </a:schemeClr>
                                    </a:gs>
                                  </a:gsLst>
                                  <a:path path="circle">
                                    <a:fillToRect r="100000" b="100000"/>
                                  </a:path>
                                  <a:tileRect l="-100000" t="-100000"/>
                                </a:gradFill>
                                <a:ln w="9525"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ru-RU"/>
                                </a:p>
                              </p:txBody>
                            </p:sp>
                          </p:grpSp>
                          <p:sp>
                            <p:nvSpPr>
                              <p:cNvPr id="29" name="Овал 28"/>
                              <p:cNvSpPr/>
                              <p:nvPr/>
                            </p:nvSpPr>
                            <p:spPr>
                              <a:xfrm>
                                <a:off x="2051338" y="2253791"/>
                                <a:ext cx="72034" cy="72034"/>
                              </a:xfrm>
                              <a:prstGeom prst="ellipse">
                                <a:avLst/>
                              </a:prstGeom>
                              <a:noFill/>
                              <a:ln w="1905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ru-RU"/>
                              </a:p>
                            </p:txBody>
                          </p:sp>
                          <p:cxnSp>
                            <p:nvCxnSpPr>
                              <p:cNvPr id="30" name="Прямая соединительная линия 29"/>
                              <p:cNvCxnSpPr/>
                              <p:nvPr/>
                            </p:nvCxnSpPr>
                            <p:spPr>
                              <a:xfrm flipH="1">
                                <a:off x="922020" y="3215639"/>
                                <a:ext cx="68580" cy="8382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1" name="Прямая соединительная линия 30"/>
                              <p:cNvCxnSpPr/>
                              <p:nvPr/>
                            </p:nvCxnSpPr>
                            <p:spPr>
                              <a:xfrm flipH="1">
                                <a:off x="1009650" y="3215639"/>
                                <a:ext cx="68580" cy="8382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2" name="Прямая соединительная линия 31"/>
                              <p:cNvCxnSpPr/>
                              <p:nvPr/>
                            </p:nvCxnSpPr>
                            <p:spPr>
                              <a:xfrm flipH="1">
                                <a:off x="1104900" y="3215639"/>
                                <a:ext cx="68580" cy="8382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3" name="Прямая соединительная линия 32"/>
                              <p:cNvCxnSpPr/>
                              <p:nvPr/>
                            </p:nvCxnSpPr>
                            <p:spPr>
                              <a:xfrm flipH="1">
                                <a:off x="2775466" y="3215639"/>
                                <a:ext cx="68580" cy="8382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4" name="Прямая соединительная линия 33"/>
                              <p:cNvCxnSpPr/>
                              <p:nvPr/>
                            </p:nvCxnSpPr>
                            <p:spPr>
                              <a:xfrm flipH="1">
                                <a:off x="2844046" y="3215639"/>
                                <a:ext cx="68580" cy="8382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5" name="Прямая соединительная линия 34"/>
                              <p:cNvCxnSpPr/>
                              <p:nvPr/>
                            </p:nvCxnSpPr>
                            <p:spPr>
                              <a:xfrm flipH="1">
                                <a:off x="2918222" y="3215638"/>
                                <a:ext cx="68580" cy="8382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25" name="TextBox 24"/>
                            <p:cNvSpPr txBox="1"/>
                            <p:nvPr/>
                          </p:nvSpPr>
                          <p:spPr>
                            <a:xfrm>
                              <a:off x="1824707" y="1998195"/>
                              <a:ext cx="339090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ru-RU" i="1" dirty="0" smtClean="0">
                                  <a:latin typeface="Times New Roman" pitchFamily="18" charset="0"/>
                                  <a:cs typeface="Times New Roman" pitchFamily="18" charset="0"/>
                                </a:rPr>
                                <a:t>О</a:t>
                              </a:r>
                              <a:endParaRPr lang="ru-RU" i="1" dirty="0">
                                <a:latin typeface="Times New Roman" pitchFamily="18" charset="0"/>
                                <a:cs typeface="Times New Roman" pitchFamily="18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3" name="Овал 22"/>
                          <p:cNvSpPr/>
                          <p:nvPr/>
                        </p:nvSpPr>
                        <p:spPr>
                          <a:xfrm>
                            <a:off x="3313688" y="1341118"/>
                            <a:ext cx="45719" cy="45719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ru-RU"/>
                          </a:p>
                        </p:txBody>
                      </p:sp>
                    </p:grpSp>
                    <p:cxnSp>
                      <p:nvCxnSpPr>
                        <p:cNvPr id="20" name="Прямая соединительная линия 19"/>
                        <p:cNvCxnSpPr>
                          <a:stCxn id="37" idx="0"/>
                          <a:endCxn id="26" idx="1"/>
                        </p:cNvCxnSpPr>
                        <p:nvPr/>
                      </p:nvCxnSpPr>
                      <p:spPr>
                        <a:xfrm flipH="1">
                          <a:off x="2123372" y="2289808"/>
                          <a:ext cx="121317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1" name="Овал 20"/>
                        <p:cNvSpPr/>
                        <p:nvPr/>
                      </p:nvSpPr>
                      <p:spPr>
                        <a:xfrm>
                          <a:off x="3313688" y="2266948"/>
                          <a:ext cx="45719" cy="45719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</p:grpSp>
                  <p:cxnSp>
                    <p:nvCxnSpPr>
                      <p:cNvPr id="18" name="Прямая соединительная линия 17"/>
                      <p:cNvCxnSpPr>
                        <a:stCxn id="36" idx="0"/>
                        <a:endCxn id="29" idx="4"/>
                      </p:cNvCxnSpPr>
                      <p:nvPr/>
                    </p:nvCxnSpPr>
                    <p:spPr>
                      <a:xfrm flipV="1">
                        <a:off x="2076806" y="2325825"/>
                        <a:ext cx="10549" cy="8898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6" name="TextBox 15"/>
                    <p:cNvSpPr txBox="1"/>
                    <p:nvPr/>
                  </p:nvSpPr>
                  <p:spPr>
                    <a:xfrm>
                      <a:off x="3320383" y="1006717"/>
                      <a:ext cx="30962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ru-RU" i="1" dirty="0" smtClean="0"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ru-RU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333198" y="1946014"/>
                    <a:ext cx="27813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i="1" dirty="0" smtClean="0">
                        <a:latin typeface="Times New Roman" pitchFamily="18" charset="0"/>
                        <a:cs typeface="Times New Roman" pitchFamily="18" charset="0"/>
                      </a:rPr>
                      <a:t>С</a:t>
                    </a:r>
                    <a:endParaRPr lang="ru-RU" i="1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1" name="Дуга 10"/>
                <p:cNvSpPr/>
                <p:nvPr/>
              </p:nvSpPr>
              <p:spPr>
                <a:xfrm rot="633879">
                  <a:off x="1675548" y="2175917"/>
                  <a:ext cx="171450" cy="203657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Прямоугольник 11"/>
                    <p:cNvSpPr/>
                    <p:nvPr/>
                  </p:nvSpPr>
                  <p:spPr>
                    <a:xfrm>
                      <a:off x="1784349" y="2008207"/>
                      <a:ext cx="286809" cy="276999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l-GR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𝛼</m:t>
                            </m:r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206" name="Прямоугольник 20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84349" y="2008207"/>
                      <a:ext cx="337593" cy="307777"/>
                    </a:xfrm>
                    <a:prstGeom prst="rect">
                      <a:avLst/>
                    </a:prstGeom>
                    <a:blipFill rotWithShape="1"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" name="Прямая со стрелкой 7"/>
              <p:cNvCxnSpPr>
                <a:stCxn id="37" idx="0"/>
              </p:cNvCxnSpPr>
              <p:nvPr/>
            </p:nvCxnSpPr>
            <p:spPr>
              <a:xfrm flipH="1">
                <a:off x="2457295" y="2315984"/>
                <a:ext cx="384036" cy="288726"/>
              </a:xfrm>
              <a:prstGeom prst="straightConnector1">
                <a:avLst/>
              </a:prstGeom>
              <a:ln w="12700">
                <a:solidFill>
                  <a:srgbClr val="0033CC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Прямоугольник 8"/>
                  <p:cNvSpPr/>
                  <p:nvPr/>
                </p:nvSpPr>
                <p:spPr>
                  <a:xfrm>
                    <a:off x="2273522" y="2242593"/>
                    <a:ext cx="398378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203" name="Прямоугольник 20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3522" y="2242593"/>
                    <a:ext cx="454227" cy="30777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r="-16216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" name="Прямая соединительная линия 5"/>
            <p:cNvCxnSpPr>
              <a:stCxn id="29" idx="7"/>
            </p:cNvCxnSpPr>
            <p:nvPr/>
          </p:nvCxnSpPr>
          <p:spPr>
            <a:xfrm flipV="1">
              <a:off x="1617606" y="1406321"/>
              <a:ext cx="1200865" cy="88419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Группа 37"/>
          <p:cNvGrpSpPr/>
          <p:nvPr/>
        </p:nvGrpSpPr>
        <p:grpSpPr>
          <a:xfrm>
            <a:off x="962924" y="1120036"/>
            <a:ext cx="3666760" cy="2486648"/>
            <a:chOff x="722193" y="840027"/>
            <a:chExt cx="2750070" cy="1864986"/>
          </a:xfrm>
        </p:grpSpPr>
        <p:sp>
          <p:nvSpPr>
            <p:cNvPr id="39" name="TextBox 38"/>
            <p:cNvSpPr txBox="1"/>
            <p:nvPr/>
          </p:nvSpPr>
          <p:spPr>
            <a:xfrm>
              <a:off x="722193" y="2428014"/>
              <a:ext cx="3009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ru-RU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0" name="Прямая со стрелкой 39"/>
            <p:cNvCxnSpPr>
              <a:stCxn id="29" idx="3"/>
              <a:endCxn id="39" idx="2"/>
            </p:cNvCxnSpPr>
            <p:nvPr/>
          </p:nvCxnSpPr>
          <p:spPr>
            <a:xfrm flipH="1">
              <a:off x="872685" y="2341452"/>
              <a:ext cx="693985" cy="363561"/>
            </a:xfrm>
            <a:prstGeom prst="straightConnector1">
              <a:avLst/>
            </a:prstGeom>
            <a:ln w="9525">
              <a:solidFill>
                <a:schemeClr val="accent6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>
              <a:stCxn id="29" idx="0"/>
            </p:cNvCxnSpPr>
            <p:nvPr/>
          </p:nvCxnSpPr>
          <p:spPr>
            <a:xfrm flipV="1">
              <a:off x="1592138" y="993916"/>
              <a:ext cx="16475" cy="1286051"/>
            </a:xfrm>
            <a:prstGeom prst="straightConnector1">
              <a:avLst/>
            </a:prstGeom>
            <a:ln w="9525">
              <a:solidFill>
                <a:schemeClr val="accent6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393440" y="840027"/>
              <a:ext cx="2335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z</a:t>
              </a:r>
              <a:endParaRPr lang="ru-RU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3" name="Прямая со стрелкой 42"/>
            <p:cNvCxnSpPr/>
            <p:nvPr/>
          </p:nvCxnSpPr>
          <p:spPr>
            <a:xfrm>
              <a:off x="1628155" y="2315983"/>
              <a:ext cx="1706948" cy="1"/>
            </a:xfrm>
            <a:prstGeom prst="straightConnector1">
              <a:avLst/>
            </a:prstGeom>
            <a:ln w="9525">
              <a:solidFill>
                <a:schemeClr val="accent6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97943" y="2253703"/>
              <a:ext cx="27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y</a:t>
              </a:r>
              <a:endParaRPr lang="ru-RU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45" name="Рисунок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3" y="276611"/>
            <a:ext cx="506727" cy="598103"/>
          </a:xfrm>
          <a:prstGeom prst="rect">
            <a:avLst/>
          </a:prstGeom>
        </p:spPr>
      </p:pic>
      <p:cxnSp>
        <p:nvCxnSpPr>
          <p:cNvPr id="46" name="Прямая соединительная линия 45"/>
          <p:cNvCxnSpPr/>
          <p:nvPr/>
        </p:nvCxnSpPr>
        <p:spPr>
          <a:xfrm>
            <a:off x="11053059" y="304739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 46"/>
          <p:cNvSpPr/>
          <p:nvPr/>
        </p:nvSpPr>
        <p:spPr>
          <a:xfrm>
            <a:off x="11053059" y="367912"/>
            <a:ext cx="1138943" cy="600152"/>
          </a:xfrm>
          <a:prstGeom prst="rect">
            <a:avLst/>
          </a:prstGeom>
          <a:noFill/>
        </p:spPr>
        <p:txBody>
          <a:bodyPr wrap="square" lIns="91427" tIns="45714" rIns="91427" bIns="45714">
            <a:spAutoFit/>
          </a:bodyPr>
          <a:lstStyle/>
          <a:p>
            <a:pPr algn="ctr"/>
            <a:r>
              <a:rPr lang="ru-RU" sz="11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</a:p>
        </p:txBody>
      </p:sp>
      <p:cxnSp>
        <p:nvCxnSpPr>
          <p:cNvPr id="48" name="Прямая соединительная линия 47"/>
          <p:cNvCxnSpPr/>
          <p:nvPr/>
        </p:nvCxnSpPr>
        <p:spPr>
          <a:xfrm>
            <a:off x="361952" y="651027"/>
            <a:ext cx="9218928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389571" y="744792"/>
            <a:ext cx="9191309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58921" y="101172"/>
            <a:ext cx="9452609" cy="533465"/>
          </a:xfrm>
          <a:prstGeom prst="rect">
            <a:avLst/>
          </a:prstGeom>
          <a:noFill/>
        </p:spPr>
        <p:txBody>
          <a:bodyPr wrap="square" lIns="121902" tIns="60952" rIns="121902" bIns="60952" rtlCol="0">
            <a:spAutoFit/>
          </a:bodyPr>
          <a:lstStyle/>
          <a:p>
            <a:r>
              <a:rPr lang="ru-RU" sz="27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Пример</a:t>
            </a:r>
          </a:p>
        </p:txBody>
      </p:sp>
      <p:cxnSp>
        <p:nvCxnSpPr>
          <p:cNvPr id="51" name="Прямая соединительная линия 50"/>
          <p:cNvCxnSpPr>
            <a:stCxn id="21" idx="3"/>
          </p:cNvCxnSpPr>
          <p:nvPr/>
        </p:nvCxnSpPr>
        <p:spPr>
          <a:xfrm flipH="1">
            <a:off x="3200512" y="3109531"/>
            <a:ext cx="566377" cy="7810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stCxn id="23" idx="3"/>
          </p:cNvCxnSpPr>
          <p:nvPr/>
        </p:nvCxnSpPr>
        <p:spPr>
          <a:xfrm flipH="1">
            <a:off x="2499472" y="1875091"/>
            <a:ext cx="1267417" cy="1492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9" idx="5"/>
          </p:cNvCxnSpPr>
          <p:nvPr/>
        </p:nvCxnSpPr>
        <p:spPr>
          <a:xfrm>
            <a:off x="2156809" y="3121936"/>
            <a:ext cx="2044463" cy="149004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Выгнутая вниз стрелка 53"/>
          <p:cNvSpPr/>
          <p:nvPr/>
        </p:nvSpPr>
        <p:spPr>
          <a:xfrm rot="8691840">
            <a:off x="3933693" y="4468555"/>
            <a:ext cx="361699" cy="192839"/>
          </a:xfrm>
          <a:prstGeom prst="curvedUpArrow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Прямоугольник 54"/>
              <p:cNvSpPr/>
              <p:nvPr/>
            </p:nvSpPr>
            <p:spPr>
              <a:xfrm>
                <a:off x="2653692" y="3238953"/>
                <a:ext cx="478080" cy="410369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𝜔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Прямоугольник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269" y="2429214"/>
                <a:ext cx="358560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Прямоугольник 55"/>
              <p:cNvSpPr/>
              <p:nvPr/>
            </p:nvSpPr>
            <p:spPr>
              <a:xfrm>
                <a:off x="4085896" y="4105881"/>
                <a:ext cx="478080" cy="410369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𝜔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Прямоугольник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422" y="3079410"/>
                <a:ext cx="358560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Прямая со стрелкой 56"/>
          <p:cNvCxnSpPr>
            <a:stCxn id="29" idx="5"/>
          </p:cNvCxnSpPr>
          <p:nvPr/>
        </p:nvCxnSpPr>
        <p:spPr>
          <a:xfrm>
            <a:off x="2156809" y="3121936"/>
            <a:ext cx="657623" cy="479125"/>
          </a:xfrm>
          <a:prstGeom prst="straightConnector1">
            <a:avLst/>
          </a:prstGeom>
          <a:ln w="381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>
            <a:off x="3177493" y="3860142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2468991" y="3336902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ru-RU"/>
          </a:p>
        </p:txBody>
      </p:sp>
      <p:cxnSp>
        <p:nvCxnSpPr>
          <p:cNvPr id="60" name="Прямая со стрелкой 59"/>
          <p:cNvCxnSpPr/>
          <p:nvPr/>
        </p:nvCxnSpPr>
        <p:spPr>
          <a:xfrm flipH="1">
            <a:off x="2782659" y="1857423"/>
            <a:ext cx="980065" cy="546575"/>
          </a:xfrm>
          <a:prstGeom prst="straightConnector1">
            <a:avLst/>
          </a:prstGeom>
          <a:ln w="12700">
            <a:solidFill>
              <a:srgbClr val="0033CC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979657" y="3889689"/>
            <a:ext cx="406400" cy="4001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24774" y="3384828"/>
            <a:ext cx="392853" cy="413173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Прямоугольник 62"/>
              <p:cNvSpPr/>
              <p:nvPr/>
            </p:nvSpPr>
            <p:spPr>
              <a:xfrm>
                <a:off x="2397606" y="1946801"/>
                <a:ext cx="596316" cy="410369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3" name="Прямоугольник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04" y="1460100"/>
                <a:ext cx="447237" cy="307777"/>
              </a:xfrm>
              <a:prstGeom prst="rect">
                <a:avLst/>
              </a:prstGeom>
              <a:blipFill rotWithShape="1">
                <a:blip r:embed="rId7"/>
                <a:stretch>
                  <a:fillRect r="-164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4920299" y="2467643"/>
            <a:ext cx="6469061" cy="86177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Поскольку каток катится без  проскальзывания, то мгновенная ось вращения расположена вдоль линии его касания с неподвижной поверхностью.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/>
              <p:cNvSpPr/>
              <p:nvPr/>
            </p:nvSpPr>
            <p:spPr>
              <a:xfrm>
                <a:off x="5013412" y="3809894"/>
                <a:ext cx="1724225" cy="410369"/>
              </a:xfrm>
              <a:prstGeom prst="rect">
                <a:avLst/>
              </a:prstGeom>
            </p:spPr>
            <p:txBody>
              <a:bodyPr wrap="square" lIns="121917" tIns="60958" rIns="121917" bIns="6095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r>
                        <a:rPr lang="ru-RU" i="1">
                          <a:latin typeface="Cambria Math"/>
                        </a:rPr>
                        <m:t>𝜔</m:t>
                      </m:r>
                      <m:r>
                        <a:rPr lang="ru-RU" i="1">
                          <a:latin typeface="Cambria Math"/>
                        </a:rPr>
                        <m:t>𝐶𝐷</m:t>
                      </m:r>
                      <m:r>
                        <a:rPr lang="ru-RU" b="0" i="1" smtClean="0">
                          <a:latin typeface="Cambria Math"/>
                        </a:rPr>
                        <m:t>.</m:t>
                      </m:r>
                      <m:r>
                        <a:rPr lang="ru-RU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6" name="Прямоугольник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412" y="3809894"/>
                <a:ext cx="1724225" cy="41036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Прямоугольник 66"/>
              <p:cNvSpPr/>
              <p:nvPr/>
            </p:nvSpPr>
            <p:spPr>
              <a:xfrm>
                <a:off x="5013412" y="4354143"/>
                <a:ext cx="3409582" cy="494042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Тогда  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𝜔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/>
                          </a:rPr>
                          <m:t>𝐶𝐷</m:t>
                        </m:r>
                      </m:den>
                    </m:f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i="1">
                            <a:latin typeface="Cambria Math"/>
                          </a:rPr>
                          <m:t>𝑣</m:t>
                        </m:r>
                      </m:num>
                      <m:den>
                        <m:r>
                          <a:rPr lang="ru-RU" i="1">
                            <a:latin typeface="Cambria Math"/>
                          </a:rPr>
                          <m:t>𝑟𝑐𝑜𝑠</m:t>
                        </m:r>
                        <m:r>
                          <a:rPr lang="ru-RU" i="1">
                            <a:latin typeface="Cambria Math"/>
                          </a:rPr>
                          <m:t>𝛼</m:t>
                        </m:r>
                      </m:den>
                    </m:f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𝑐𝑜𝑛𝑠𝑡</m:t>
                    </m:r>
                    <m:r>
                      <a:rPr lang="ru-RU" b="0" i="1" smtClean="0">
                        <a:latin typeface="Cambria Math"/>
                      </a:rPr>
                      <m:t>.</m:t>
                    </m:r>
                  </m:oMath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7" name="Прямоугольник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412" y="4354143"/>
                <a:ext cx="3409582" cy="494042"/>
              </a:xfrm>
              <a:prstGeom prst="rect">
                <a:avLst/>
              </a:prstGeom>
              <a:blipFill rotWithShape="1">
                <a:blip r:embed="rId9"/>
                <a:stretch>
                  <a:fillRect l="-536" b="-37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/>
              <p:cNvSpPr/>
              <p:nvPr/>
            </p:nvSpPr>
            <p:spPr>
              <a:xfrm>
                <a:off x="4563977" y="5533605"/>
                <a:ext cx="3727260" cy="615639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r>
                        <a:rPr lang="ru-RU" i="1">
                          <a:latin typeface="Cambria Math"/>
                        </a:rPr>
                        <m:t>𝜔</m:t>
                      </m:r>
                      <m:r>
                        <a:rPr lang="ru-RU" i="1">
                          <a:latin typeface="Cambria Math"/>
                        </a:rPr>
                        <m:t>𝐴𝐸</m:t>
                      </m:r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𝑣</m:t>
                          </m:r>
                        </m:num>
                        <m:den>
                          <m:r>
                            <a:rPr lang="ru-RU" i="1">
                              <a:latin typeface="Cambria Math"/>
                            </a:rPr>
                            <m:t>𝑟𝑐𝑜𝑠</m:t>
                          </m:r>
                          <m:r>
                            <a:rPr lang="ru-RU" i="1">
                              <a:latin typeface="Cambria Math"/>
                            </a:rPr>
                            <m:t>𝛼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2</m:t>
                      </m:r>
                      <m:r>
                        <a:rPr lang="ru-RU" i="1">
                          <a:latin typeface="Cambria Math"/>
                        </a:rPr>
                        <m:t>𝑟𝑐𝑜𝑠</m:t>
                      </m:r>
                      <m:r>
                        <a:rPr lang="ru-RU" i="1">
                          <a:latin typeface="Cambria Math"/>
                        </a:rPr>
                        <m:t>𝛼</m:t>
                      </m:r>
                      <m:r>
                        <a:rPr lang="ru-RU" i="1">
                          <a:latin typeface="Cambria Math"/>
                        </a:rPr>
                        <m:t>=2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8" name="Прямоугольник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977" y="5533605"/>
                <a:ext cx="3727260" cy="61563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5013412" y="3336902"/>
            <a:ext cx="5208583" cy="369328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Расстояние до мгновенной оси вращения: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Прямоугольник 69"/>
              <p:cNvSpPr/>
              <p:nvPr/>
            </p:nvSpPr>
            <p:spPr>
              <a:xfrm>
                <a:off x="9143701" y="3318841"/>
                <a:ext cx="1543415" cy="410369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𝐶𝐷</m:t>
                      </m:r>
                      <m:r>
                        <a:rPr lang="ru-RU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𝑟𝑐𝑜𝑠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0" name="Прямоугольник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701" y="3318841"/>
                <a:ext cx="1543415" cy="41036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3715891" y="4969719"/>
                <a:ext cx="7803627" cy="400105"/>
              </a:xfrm>
              <a:prstGeom prst="rect">
                <a:avLst/>
              </a:prstGeom>
              <a:noFill/>
            </p:spPr>
            <p:txBody>
              <a:bodyPr wrap="square" lIns="121917" tIns="60958" rIns="121917" bIns="60958" rtlCol="0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Направление угловой скорости определяем по направлению скорости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ru-RU" b="0" i="1" smtClean="0">
                        <a:latin typeface="Cambria Math"/>
                      </a:rPr>
                      <m:t>.</m:t>
                    </m:r>
                  </m:oMath>
                </a14:m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891" y="4969719"/>
                <a:ext cx="7803627" cy="400105"/>
              </a:xfrm>
              <a:prstGeom prst="rect">
                <a:avLst/>
              </a:prstGeom>
              <a:blipFill rotWithShape="1">
                <a:blip r:embed="rId12"/>
                <a:stretch>
                  <a:fillRect l="-78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4412954" y="884748"/>
            <a:ext cx="73828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 smtClean="0">
                <a:latin typeface="Times New Roman" pitchFamily="18" charset="0"/>
                <a:cs typeface="Times New Roman" pitchFamily="18" charset="0"/>
              </a:rPr>
              <a:t>Пример.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Найти угловую скорость конического катка 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бегуна),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угловое ускорение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скорость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ускорение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его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точки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А, если скорость центра основания катка С, движущегося по окружности радиуса ОС =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постоянна и равна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600" dirty="0" smtClean="0"/>
              <a:t> 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Каток катится без скольжения по неподвижной конической поверхности. Радиус основания катка АС =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Решение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35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/>
      <p:bldP spid="56" grpId="0"/>
      <p:bldP spid="58" grpId="0" animBg="1"/>
      <p:bldP spid="59" grpId="0" animBg="1"/>
      <p:bldP spid="61" grpId="0"/>
      <p:bldP spid="62" grpId="0"/>
      <p:bldP spid="63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50" y="276609"/>
            <a:ext cx="506727" cy="598103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383447" y="561033"/>
            <a:ext cx="8953500" cy="0"/>
          </a:xfrm>
          <a:prstGeom prst="line">
            <a:avLst/>
          </a:prstGeom>
          <a:ln w="444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391318" y="625287"/>
            <a:ext cx="8953500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11053058" y="304737"/>
            <a:ext cx="0" cy="54184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1053058" y="367910"/>
            <a:ext cx="113894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050" b="0" cap="none" spc="0" dirty="0" smtClean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man Old Style" panose="02050604050505020204" pitchFamily="18" charset="0"/>
              </a:rPr>
              <a:t>МГТУ им. Н.Э. Баумана</a:t>
            </a:r>
            <a:endParaRPr lang="ru-RU" sz="105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9470" y="73909"/>
            <a:ext cx="9010770" cy="461655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ru-RU" sz="24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Пример.</a:t>
            </a:r>
            <a:endParaRPr lang="ru-RU" sz="2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619922" y="1767195"/>
            <a:ext cx="2812940" cy="2292743"/>
            <a:chOff x="321848" y="1032893"/>
            <a:chExt cx="2812940" cy="2292743"/>
          </a:xfrm>
        </p:grpSpPr>
        <p:grpSp>
          <p:nvGrpSpPr>
            <p:cNvPr id="13" name="Группа 12"/>
            <p:cNvGrpSpPr/>
            <p:nvPr/>
          </p:nvGrpSpPr>
          <p:grpSpPr>
            <a:xfrm>
              <a:off x="321848" y="1032893"/>
              <a:ext cx="2812940" cy="2292743"/>
              <a:chOff x="321848" y="1032893"/>
              <a:chExt cx="2812940" cy="2292743"/>
            </a:xfrm>
          </p:grpSpPr>
          <p:grpSp>
            <p:nvGrpSpPr>
              <p:cNvPr id="16" name="Группа 15"/>
              <p:cNvGrpSpPr/>
              <p:nvPr/>
            </p:nvGrpSpPr>
            <p:grpSpPr>
              <a:xfrm>
                <a:off x="321848" y="1032893"/>
                <a:ext cx="2812940" cy="2292743"/>
                <a:chOff x="817065" y="1006717"/>
                <a:chExt cx="2812940" cy="2292743"/>
              </a:xfrm>
            </p:grpSpPr>
            <p:grpSp>
              <p:nvGrpSpPr>
                <p:cNvPr id="19" name="Группа 18"/>
                <p:cNvGrpSpPr/>
                <p:nvPr/>
              </p:nvGrpSpPr>
              <p:grpSpPr>
                <a:xfrm>
                  <a:off x="817065" y="1006717"/>
                  <a:ext cx="2812940" cy="2292743"/>
                  <a:chOff x="817065" y="1006717"/>
                  <a:chExt cx="2812940" cy="2292743"/>
                </a:xfrm>
              </p:grpSpPr>
              <p:grpSp>
                <p:nvGrpSpPr>
                  <p:cNvPr id="21" name="Группа 20"/>
                  <p:cNvGrpSpPr/>
                  <p:nvPr/>
                </p:nvGrpSpPr>
                <p:grpSpPr>
                  <a:xfrm>
                    <a:off x="817065" y="1341118"/>
                    <a:ext cx="2542342" cy="1958342"/>
                    <a:chOff x="817065" y="1341118"/>
                    <a:chExt cx="2542342" cy="1958342"/>
                  </a:xfrm>
                </p:grpSpPr>
                <p:grpSp>
                  <p:nvGrpSpPr>
                    <p:cNvPr id="23" name="Группа 22"/>
                    <p:cNvGrpSpPr/>
                    <p:nvPr/>
                  </p:nvGrpSpPr>
                  <p:grpSpPr>
                    <a:xfrm>
                      <a:off x="817065" y="1341118"/>
                      <a:ext cx="2542342" cy="1958342"/>
                      <a:chOff x="817065" y="1341118"/>
                      <a:chExt cx="2542342" cy="1958342"/>
                    </a:xfrm>
                  </p:grpSpPr>
                  <p:grpSp>
                    <p:nvGrpSpPr>
                      <p:cNvPr id="25" name="Группа 24"/>
                      <p:cNvGrpSpPr/>
                      <p:nvPr/>
                    </p:nvGrpSpPr>
                    <p:grpSpPr>
                      <a:xfrm>
                        <a:off x="817065" y="1341118"/>
                        <a:ext cx="2542342" cy="1958342"/>
                        <a:chOff x="817065" y="1341118"/>
                        <a:chExt cx="2542342" cy="1958342"/>
                      </a:xfrm>
                    </p:grpSpPr>
                    <p:grpSp>
                      <p:nvGrpSpPr>
                        <p:cNvPr id="28" name="Группа 27"/>
                        <p:cNvGrpSpPr/>
                        <p:nvPr/>
                      </p:nvGrpSpPr>
                      <p:grpSpPr>
                        <a:xfrm>
                          <a:off x="817065" y="1363979"/>
                          <a:ext cx="2519483" cy="1935481"/>
                          <a:chOff x="817065" y="1363979"/>
                          <a:chExt cx="2519483" cy="1935481"/>
                        </a:xfrm>
                      </p:grpSpPr>
                      <p:grpSp>
                        <p:nvGrpSpPr>
                          <p:cNvPr id="30" name="Группа 29"/>
                          <p:cNvGrpSpPr/>
                          <p:nvPr/>
                        </p:nvGrpSpPr>
                        <p:grpSpPr>
                          <a:xfrm>
                            <a:off x="817065" y="1363979"/>
                            <a:ext cx="2519483" cy="1935481"/>
                            <a:chOff x="817065" y="1363979"/>
                            <a:chExt cx="2519483" cy="1935481"/>
                          </a:xfrm>
                        </p:grpSpPr>
                        <p:sp>
                          <p:nvSpPr>
                            <p:cNvPr id="32" name="Прямоугольник 31"/>
                            <p:cNvSpPr/>
                            <p:nvPr/>
                          </p:nvSpPr>
                          <p:spPr>
                            <a:xfrm>
                              <a:off x="2123372" y="2266948"/>
                              <a:ext cx="724484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  <p:sp>
                          <p:nvSpPr>
                            <p:cNvPr id="33" name="Прямоугольник 32"/>
                            <p:cNvSpPr/>
                            <p:nvPr/>
                          </p:nvSpPr>
                          <p:spPr>
                            <a:xfrm>
                              <a:off x="2058111" y="2325825"/>
                              <a:ext cx="45719" cy="505419"/>
                            </a:xfrm>
                            <a:prstGeom prst="rect">
                              <a:avLst/>
                            </a:prstGeom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  <p:grpSp>
                          <p:nvGrpSpPr>
                            <p:cNvPr id="34" name="Группа 33"/>
                            <p:cNvGrpSpPr/>
                            <p:nvPr/>
                          </p:nvGrpSpPr>
                          <p:grpSpPr>
                            <a:xfrm>
                              <a:off x="817065" y="1363979"/>
                              <a:ext cx="2519483" cy="1851660"/>
                              <a:chOff x="815340" y="1588769"/>
                              <a:chExt cx="3535680" cy="1504954"/>
                            </a:xfrm>
                          </p:grpSpPr>
                          <p:sp>
                            <p:nvSpPr>
                              <p:cNvPr id="42" name="Блок-схема: ручное управление 41"/>
                              <p:cNvSpPr/>
                              <p:nvPr/>
                            </p:nvSpPr>
                            <p:spPr>
                              <a:xfrm rot="10800000">
                                <a:off x="815340" y="2781302"/>
                                <a:ext cx="3535680" cy="312420"/>
                              </a:xfrm>
                              <a:prstGeom prst="flowChartManualOperation">
                                <a:avLst/>
                              </a:prstGeom>
                              <a:gradFill flip="none" rotWithShape="1">
                                <a:gsLst>
                                  <a:gs pos="35000">
                                    <a:schemeClr val="accent1">
                                      <a:lumMod val="75000"/>
                                      <a:alpha val="59000"/>
                                    </a:schemeClr>
                                  </a:gs>
                                  <a:gs pos="50000">
                                    <a:schemeClr val="accent1">
                                      <a:tint val="44500"/>
                                      <a:satMod val="160000"/>
                                    </a:schemeClr>
                                  </a:gs>
                                  <a:gs pos="100000">
                                    <a:schemeClr val="accent1">
                                      <a:tint val="23500"/>
                                      <a:satMod val="160000"/>
                                    </a:schemeClr>
                                  </a:gs>
                                </a:gsLst>
                                <a:lin ang="12000000" scaled="0"/>
                                <a:tileRect/>
                              </a:gradFill>
                              <a:ln w="952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ru-RU"/>
                              </a:p>
                            </p:txBody>
                          </p:sp>
                          <p:sp>
                            <p:nvSpPr>
                              <p:cNvPr id="43" name="Блок-схема: ручное управление 42"/>
                              <p:cNvSpPr/>
                              <p:nvPr/>
                            </p:nvSpPr>
                            <p:spPr>
                              <a:xfrm rot="5400000">
                                <a:off x="3255644" y="1998346"/>
                                <a:ext cx="1504954" cy="685799"/>
                              </a:xfrm>
                              <a:prstGeom prst="flowChartManualOperation">
                                <a:avLst/>
                              </a:prstGeom>
                              <a:gradFill flip="none" rotWithShape="1">
                                <a:gsLst>
                                  <a:gs pos="98000">
                                    <a:schemeClr val="accent1">
                                      <a:lumMod val="75000"/>
                                      <a:alpha val="56000"/>
                                    </a:schemeClr>
                                  </a:gs>
                                  <a:gs pos="58000">
                                    <a:schemeClr val="accent1">
                                      <a:tint val="44500"/>
                                      <a:satMod val="160000"/>
                                    </a:schemeClr>
                                  </a:gs>
                                  <a:gs pos="100000">
                                    <a:schemeClr val="accent1">
                                      <a:tint val="23500"/>
                                      <a:satMod val="160000"/>
                                    </a:schemeClr>
                                  </a:gs>
                                </a:gsLst>
                                <a:path path="circle">
                                  <a:fillToRect r="100000" b="100000"/>
                                </a:path>
                                <a:tileRect l="-100000" t="-100000"/>
                              </a:gradFill>
                              <a:ln w="9525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ru-RU"/>
                              </a:p>
                            </p:txBody>
                          </p:sp>
                        </p:grpSp>
                        <p:sp>
                          <p:nvSpPr>
                            <p:cNvPr id="35" name="Овал 34"/>
                            <p:cNvSpPr/>
                            <p:nvPr/>
                          </p:nvSpPr>
                          <p:spPr>
                            <a:xfrm>
                              <a:off x="2051338" y="2253791"/>
                              <a:ext cx="72034" cy="72034"/>
                            </a:xfrm>
                            <a:prstGeom prst="ellipse">
                              <a:avLst/>
                            </a:prstGeom>
                            <a:noFill/>
                            <a:ln w="1905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ru-RU"/>
                            </a:p>
                          </p:txBody>
                        </p:sp>
                        <p:cxnSp>
                          <p:nvCxnSpPr>
                            <p:cNvPr id="36" name="Прямая соединительная линия 35"/>
                            <p:cNvCxnSpPr/>
                            <p:nvPr/>
                          </p:nvCxnSpPr>
                          <p:spPr>
                            <a:xfrm flipH="1">
                              <a:off x="922020" y="3215639"/>
                              <a:ext cx="68580" cy="83821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7" name="Прямая соединительная линия 36"/>
                            <p:cNvCxnSpPr/>
                            <p:nvPr/>
                          </p:nvCxnSpPr>
                          <p:spPr>
                            <a:xfrm flipH="1">
                              <a:off x="1009650" y="3215639"/>
                              <a:ext cx="68580" cy="83821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8" name="Прямая соединительная линия 37"/>
                            <p:cNvCxnSpPr/>
                            <p:nvPr/>
                          </p:nvCxnSpPr>
                          <p:spPr>
                            <a:xfrm flipH="1">
                              <a:off x="1104900" y="3215639"/>
                              <a:ext cx="68580" cy="83821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9" name="Прямая соединительная линия 38"/>
                            <p:cNvCxnSpPr/>
                            <p:nvPr/>
                          </p:nvCxnSpPr>
                          <p:spPr>
                            <a:xfrm flipH="1">
                              <a:off x="2775466" y="3215639"/>
                              <a:ext cx="68580" cy="83821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0" name="Прямая соединительная линия 39"/>
                            <p:cNvCxnSpPr/>
                            <p:nvPr/>
                          </p:nvCxnSpPr>
                          <p:spPr>
                            <a:xfrm flipH="1">
                              <a:off x="2844046" y="3215639"/>
                              <a:ext cx="68580" cy="83821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1" name="Прямая соединительная линия 40"/>
                            <p:cNvCxnSpPr/>
                            <p:nvPr/>
                          </p:nvCxnSpPr>
                          <p:spPr>
                            <a:xfrm flipH="1">
                              <a:off x="2918222" y="3215638"/>
                              <a:ext cx="68580" cy="83821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31" name="TextBox 30"/>
                          <p:cNvSpPr txBox="1"/>
                          <p:nvPr/>
                        </p:nvSpPr>
                        <p:spPr>
                          <a:xfrm>
                            <a:off x="1737716" y="1987000"/>
                            <a:ext cx="339090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ru-RU" i="1" dirty="0" smtClean="0">
                                <a:latin typeface="Times New Roman" pitchFamily="18" charset="0"/>
                                <a:cs typeface="Times New Roman" pitchFamily="18" charset="0"/>
                              </a:rPr>
                              <a:t>О</a:t>
                            </a:r>
                            <a:endParaRPr lang="ru-RU" i="1" dirty="0">
                              <a:latin typeface="Times New Roman" pitchFamily="18" charset="0"/>
                              <a:cs typeface="Times New Roman" pitchFamily="18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29" name="Овал 28"/>
                        <p:cNvSpPr/>
                        <p:nvPr/>
                      </p:nvSpPr>
                      <p:spPr>
                        <a:xfrm>
                          <a:off x="3313688" y="1341118"/>
                          <a:ext cx="45719" cy="45719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</p:grpSp>
                  <p:cxnSp>
                    <p:nvCxnSpPr>
                      <p:cNvPr id="26" name="Прямая соединительная линия 25"/>
                      <p:cNvCxnSpPr>
                        <a:stCxn id="43" idx="0"/>
                        <a:endCxn id="32" idx="1"/>
                      </p:cNvCxnSpPr>
                      <p:nvPr/>
                    </p:nvCxnSpPr>
                    <p:spPr>
                      <a:xfrm flipH="1">
                        <a:off x="2123372" y="2289808"/>
                        <a:ext cx="12131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7" name="Овал 26"/>
                      <p:cNvSpPr/>
                      <p:nvPr/>
                    </p:nvSpPr>
                    <p:spPr>
                      <a:xfrm>
                        <a:off x="3313688" y="2266948"/>
                        <a:ext cx="45719" cy="45719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ru-RU"/>
                      </a:p>
                    </p:txBody>
                  </p:sp>
                </p:grpSp>
                <p:cxnSp>
                  <p:nvCxnSpPr>
                    <p:cNvPr id="24" name="Прямая соединительная линия 23"/>
                    <p:cNvCxnSpPr>
                      <a:stCxn id="42" idx="0"/>
                      <a:endCxn id="35" idx="4"/>
                    </p:cNvCxnSpPr>
                    <p:nvPr/>
                  </p:nvCxnSpPr>
                  <p:spPr>
                    <a:xfrm flipV="1">
                      <a:off x="2076806" y="2325825"/>
                      <a:ext cx="10549" cy="889813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3320383" y="1006717"/>
                    <a:ext cx="30962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i="1" dirty="0" smtClean="0">
                        <a:latin typeface="Times New Roman" pitchFamily="18" charset="0"/>
                        <a:cs typeface="Times New Roman" pitchFamily="18" charset="0"/>
                      </a:rPr>
                      <a:t>А</a:t>
                    </a:r>
                    <a:endParaRPr lang="ru-RU" i="1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20" name="TextBox 19"/>
                <p:cNvSpPr txBox="1"/>
                <p:nvPr/>
              </p:nvSpPr>
              <p:spPr>
                <a:xfrm>
                  <a:off x="3333198" y="1946014"/>
                  <a:ext cx="2781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i="1" dirty="0" smtClean="0">
                      <a:latin typeface="Times New Roman" pitchFamily="18" charset="0"/>
                      <a:cs typeface="Times New Roman" pitchFamily="18" charset="0"/>
                    </a:rPr>
                    <a:t>С</a:t>
                  </a:r>
                  <a:endParaRPr lang="ru-RU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7" name="Дуга 16"/>
              <p:cNvSpPr/>
              <p:nvPr/>
            </p:nvSpPr>
            <p:spPr>
              <a:xfrm rot="633879">
                <a:off x="1675548" y="2175917"/>
                <a:ext cx="171450" cy="203657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Прямоугольник 17"/>
                  <p:cNvSpPr/>
                  <p:nvPr/>
                </p:nvSpPr>
                <p:spPr>
                  <a:xfrm>
                    <a:off x="1784349" y="1965927"/>
                    <a:ext cx="337593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l-GR" i="1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18" name="Прямоугольник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84349" y="1965927"/>
                    <a:ext cx="337593" cy="30777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b="-1961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" name="Прямая соединительная линия 11"/>
            <p:cNvCxnSpPr>
              <a:stCxn id="35" idx="7"/>
            </p:cNvCxnSpPr>
            <p:nvPr/>
          </p:nvCxnSpPr>
          <p:spPr>
            <a:xfrm flipV="1">
              <a:off x="1617606" y="1406321"/>
              <a:ext cx="1200865" cy="88419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Группа 43"/>
          <p:cNvGrpSpPr/>
          <p:nvPr/>
        </p:nvGrpSpPr>
        <p:grpSpPr>
          <a:xfrm>
            <a:off x="976337" y="1581183"/>
            <a:ext cx="2647833" cy="1890109"/>
            <a:chOff x="990298" y="1599821"/>
            <a:chExt cx="2647833" cy="1890109"/>
          </a:xfrm>
        </p:grpSpPr>
        <p:cxnSp>
          <p:nvCxnSpPr>
            <p:cNvPr id="49" name="Прямая со стрелкой 48"/>
            <p:cNvCxnSpPr/>
            <p:nvPr/>
          </p:nvCxnSpPr>
          <p:spPr>
            <a:xfrm>
              <a:off x="1929641" y="3068922"/>
              <a:ext cx="1706948" cy="1"/>
            </a:xfrm>
            <a:prstGeom prst="straightConnector1">
              <a:avLst/>
            </a:prstGeom>
            <a:ln w="9525">
              <a:solidFill>
                <a:schemeClr val="accent6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990298" y="3182153"/>
              <a:ext cx="300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ru-RU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6" name="Прямая со стрелкой 45"/>
            <p:cNvCxnSpPr>
              <a:stCxn id="35" idx="3"/>
            </p:cNvCxnSpPr>
            <p:nvPr/>
          </p:nvCxnSpPr>
          <p:spPr>
            <a:xfrm flipH="1">
              <a:off x="1220033" y="3072407"/>
              <a:ext cx="661456" cy="395539"/>
            </a:xfrm>
            <a:prstGeom prst="straightConnector1">
              <a:avLst/>
            </a:prstGeom>
            <a:ln w="9525">
              <a:solidFill>
                <a:schemeClr val="accent6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/>
            <p:cNvCxnSpPr/>
            <p:nvPr/>
          </p:nvCxnSpPr>
          <p:spPr>
            <a:xfrm flipV="1">
              <a:off x="1904173" y="1746856"/>
              <a:ext cx="16475" cy="1286051"/>
            </a:xfrm>
            <a:prstGeom prst="straightConnector1">
              <a:avLst/>
            </a:prstGeom>
            <a:ln w="9525">
              <a:solidFill>
                <a:schemeClr val="accent6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665881" y="1599821"/>
              <a:ext cx="233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z</a:t>
              </a:r>
              <a:endParaRPr lang="ru-RU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363811" y="3059398"/>
              <a:ext cx="274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y</a:t>
              </a:r>
              <a:endParaRPr lang="ru-RU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51" name="Прямая со стрелкой 50"/>
          <p:cNvCxnSpPr/>
          <p:nvPr/>
        </p:nvCxnSpPr>
        <p:spPr>
          <a:xfrm flipH="1">
            <a:off x="2385068" y="2130758"/>
            <a:ext cx="738172" cy="35413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 flipH="1" flipV="1">
            <a:off x="2790822" y="1685384"/>
            <a:ext cx="348583" cy="439072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29" idx="3"/>
          </p:cNvCxnSpPr>
          <p:nvPr/>
        </p:nvCxnSpPr>
        <p:spPr>
          <a:xfrm flipH="1">
            <a:off x="2172677" y="2140620"/>
            <a:ext cx="950563" cy="1119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35" idx="5"/>
          </p:cNvCxnSpPr>
          <p:nvPr/>
        </p:nvCxnSpPr>
        <p:spPr>
          <a:xfrm>
            <a:off x="1915680" y="3075754"/>
            <a:ext cx="1533347" cy="111753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Группа 56"/>
          <p:cNvGrpSpPr/>
          <p:nvPr/>
        </p:nvGrpSpPr>
        <p:grpSpPr>
          <a:xfrm>
            <a:off x="1925027" y="3086303"/>
            <a:ext cx="1796029" cy="1207367"/>
            <a:chOff x="1626953" y="2352001"/>
            <a:chExt cx="1796029" cy="1207367"/>
          </a:xfrm>
        </p:grpSpPr>
        <p:sp>
          <p:nvSpPr>
            <p:cNvPr id="58" name="Выгнутая вниз стрелка 57"/>
            <p:cNvSpPr/>
            <p:nvPr/>
          </p:nvSpPr>
          <p:spPr>
            <a:xfrm rot="7917147">
              <a:off x="2950270" y="3351416"/>
              <a:ext cx="271274" cy="144629"/>
            </a:xfrm>
            <a:prstGeom prst="curvedUpArrow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Прямоугольник 58"/>
                <p:cNvSpPr/>
                <p:nvPr/>
              </p:nvSpPr>
              <p:spPr>
                <a:xfrm>
                  <a:off x="2010589" y="2388574"/>
                  <a:ext cx="358560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59" name="Прямоугольник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589" y="2388574"/>
                  <a:ext cx="358560" cy="30777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Прямоугольник 59"/>
                <p:cNvSpPr/>
                <p:nvPr/>
              </p:nvSpPr>
              <p:spPr>
                <a:xfrm>
                  <a:off x="3064422" y="3079410"/>
                  <a:ext cx="358560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87" name="Прямоугольник 1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4422" y="3079410"/>
                  <a:ext cx="358560" cy="30777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Прямая со стрелкой 60"/>
            <p:cNvCxnSpPr/>
            <p:nvPr/>
          </p:nvCxnSpPr>
          <p:spPr>
            <a:xfrm>
              <a:off x="1626953" y="2352001"/>
              <a:ext cx="493217" cy="35934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Прямая со стрелкой 61"/>
          <p:cNvCxnSpPr>
            <a:stCxn id="33" idx="0"/>
          </p:cNvCxnSpPr>
          <p:nvPr/>
        </p:nvCxnSpPr>
        <p:spPr>
          <a:xfrm>
            <a:off x="1883828" y="3086303"/>
            <a:ext cx="0" cy="384990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Овал 63"/>
          <p:cNvSpPr/>
          <p:nvPr/>
        </p:nvSpPr>
        <p:spPr>
          <a:xfrm>
            <a:off x="2149817" y="32369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5" name="Прямая со стрелкой 64"/>
          <p:cNvCxnSpPr>
            <a:stCxn id="29" idx="3"/>
          </p:cNvCxnSpPr>
          <p:nvPr/>
        </p:nvCxnSpPr>
        <p:spPr>
          <a:xfrm flipH="1">
            <a:off x="2726912" y="2140620"/>
            <a:ext cx="396328" cy="468360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/>
          <p:nvPr/>
        </p:nvCxnSpPr>
        <p:spPr>
          <a:xfrm flipH="1">
            <a:off x="1471463" y="3066450"/>
            <a:ext cx="388913" cy="229332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Выгнутая вправо стрелка 67"/>
          <p:cNvSpPr/>
          <p:nvPr/>
        </p:nvSpPr>
        <p:spPr>
          <a:xfrm>
            <a:off x="1822157" y="1993426"/>
            <a:ext cx="205740" cy="180562"/>
          </a:xfrm>
          <a:prstGeom prst="curvedLeftArrow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69" name="Прямая соединительная линия 68"/>
          <p:cNvCxnSpPr/>
          <p:nvPr/>
        </p:nvCxnSpPr>
        <p:spPr>
          <a:xfrm flipH="1">
            <a:off x="2383400" y="1685384"/>
            <a:ext cx="411768" cy="480787"/>
          </a:xfrm>
          <a:prstGeom prst="line">
            <a:avLst/>
          </a:prstGeom>
          <a:ln w="31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 flipH="1" flipV="1">
            <a:off x="2385068" y="2173988"/>
            <a:ext cx="347184" cy="432944"/>
          </a:xfrm>
          <a:prstGeom prst="line">
            <a:avLst/>
          </a:prstGeom>
          <a:ln w="31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966654" y="3272923"/>
            <a:ext cx="294640" cy="30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Прямоугольник 72"/>
              <p:cNvSpPr/>
              <p:nvPr/>
            </p:nvSpPr>
            <p:spPr>
              <a:xfrm>
                <a:off x="1315363" y="2952061"/>
                <a:ext cx="31220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𝜀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3" name="Прямоугольник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363" y="2952061"/>
                <a:ext cx="312201" cy="307777"/>
              </a:xfrm>
              <a:prstGeom prst="rect">
                <a:avLst/>
              </a:prstGeom>
              <a:blipFill rotWithShape="1">
                <a:blip r:embed="rId7"/>
                <a:stretch>
                  <a:fillRect r="-19608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Прямоугольник 73"/>
              <p:cNvSpPr/>
              <p:nvPr/>
            </p:nvSpPr>
            <p:spPr>
              <a:xfrm>
                <a:off x="1471463" y="3236978"/>
                <a:ext cx="429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4" name="Прямоугольник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463" y="3236978"/>
                <a:ext cx="429540" cy="307777"/>
              </a:xfrm>
              <a:prstGeom prst="rect">
                <a:avLst/>
              </a:prstGeom>
              <a:blipFill rotWithShape="1">
                <a:blip r:embed="rId8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Прямоугольник 74"/>
              <p:cNvSpPr/>
              <p:nvPr/>
            </p:nvSpPr>
            <p:spPr>
              <a:xfrm>
                <a:off x="1424655" y="1822981"/>
                <a:ext cx="4295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5" name="Прямоугольник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655" y="1822981"/>
                <a:ext cx="429540" cy="307777"/>
              </a:xfrm>
              <a:prstGeom prst="rect">
                <a:avLst/>
              </a:prstGeom>
              <a:blipFill rotWithShape="1">
                <a:blip r:embed="rId9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Прямоугольник 75"/>
              <p:cNvSpPr/>
              <p:nvPr/>
            </p:nvSpPr>
            <p:spPr>
              <a:xfrm>
                <a:off x="2837617" y="1521845"/>
                <a:ext cx="472629" cy="327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вр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6" name="Прямоугольник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617" y="1521845"/>
                <a:ext cx="472629" cy="327077"/>
              </a:xfrm>
              <a:prstGeom prst="rect">
                <a:avLst/>
              </a:prstGeom>
              <a:blipFill rotWithShape="1">
                <a:blip r:embed="rId10"/>
                <a:stretch>
                  <a:fillRect b="-264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Прямоугольник 76"/>
              <p:cNvSpPr/>
              <p:nvPr/>
            </p:nvSpPr>
            <p:spPr>
              <a:xfrm>
                <a:off x="2685217" y="2439701"/>
                <a:ext cx="49827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ос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Прямоугольник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217" y="2439701"/>
                <a:ext cx="498277" cy="307777"/>
              </a:xfrm>
              <a:prstGeom prst="rect">
                <a:avLst/>
              </a:prstGeom>
              <a:blipFill rotWithShape="1">
                <a:blip r:embed="rId11"/>
                <a:stretch>
                  <a:fillRect r="-2439" b="-117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Прямоугольник 77"/>
              <p:cNvSpPr/>
              <p:nvPr/>
            </p:nvSpPr>
            <p:spPr>
              <a:xfrm>
                <a:off x="2065539" y="1793819"/>
                <a:ext cx="45057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8" name="Прямоугольник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539" y="1793819"/>
                <a:ext cx="450573" cy="307777"/>
              </a:xfrm>
              <a:prstGeom prst="rect">
                <a:avLst/>
              </a:prstGeom>
              <a:blipFill rotWithShape="1">
                <a:blip r:embed="rId12"/>
                <a:stretch>
                  <a:fillRect r="-1351" b="-17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Прямоугольник 84"/>
              <p:cNvSpPr/>
              <p:nvPr/>
            </p:nvSpPr>
            <p:spPr>
              <a:xfrm>
                <a:off x="4569850" y="1407080"/>
                <a:ext cx="6548387" cy="4912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Т.к</a:t>
                </a:r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𝜔</m:t>
                    </m:r>
                    <m:r>
                      <a:rPr lang="ru-RU" b="0" i="1" smtClean="0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𝑐𝑜𝑛𝑠𝑡</m:t>
                    </m:r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то</a:t>
                </a:r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𝜀</m:t>
                        </m:r>
                      </m:e>
                    </m:acc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num>
                      <m:den>
                        <m:r>
                          <a:rPr lang="ru-RU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i="1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</m:acc>
                  </m:oMath>
                </a14:m>
                <a:r>
                  <a:rPr lang="ru-RU" dirty="0" smtClean="0"/>
                  <a:t>,</a:t>
                </a:r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1600" dirty="0" smtClean="0">
                    <a:latin typeface="Times New Roman" pitchFamily="18" charset="0"/>
                    <a:cs typeface="Times New Roman" pitchFamily="18" charset="0"/>
                  </a:rPr>
                  <a:t>где</a:t>
                </a:r>
                <a:r>
                  <a:rPr lang="ru-RU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/>
                          </a:rPr>
                          <m:t>𝐶𝑂</m:t>
                        </m:r>
                      </m:den>
                    </m:f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i="1">
                            <a:latin typeface="Cambria Math"/>
                          </a:rPr>
                          <m:t>𝑣</m:t>
                        </m:r>
                      </m:num>
                      <m:den>
                        <m:r>
                          <a:rPr lang="ru-RU" i="1">
                            <a:latin typeface="Cambria Math"/>
                          </a:rPr>
                          <m:t>𝑅</m:t>
                        </m:r>
                      </m:den>
                    </m:f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5" name="Прямоугольник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850" y="1407080"/>
                <a:ext cx="6548387" cy="491288"/>
              </a:xfrm>
              <a:prstGeom prst="rect">
                <a:avLst/>
              </a:prstGeom>
              <a:blipFill rotWithShape="1">
                <a:blip r:embed="rId13"/>
                <a:stretch>
                  <a:fillRect l="-559" b="-8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Прямоугольник 85"/>
              <p:cNvSpPr/>
              <p:nvPr/>
            </p:nvSpPr>
            <p:spPr>
              <a:xfrm>
                <a:off x="4576869" y="2031604"/>
                <a:ext cx="5771891" cy="648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𝜀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𝜔</m:t>
                      </m:r>
                      <m:func>
                        <m:funcPr>
                          <m:ctrlPr>
                            <a:rPr lang="ru-RU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𝜔</m:t>
                      </m:r>
                      <m:r>
                        <a:rPr lang="en-US" i="1">
                          <a:latin typeface="Cambria Math"/>
                        </a:rPr>
                        <m:t>𝑐𝑜𝑠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𝑣</m:t>
                          </m:r>
                        </m:num>
                        <m:den>
                          <m:r>
                            <a:rPr lang="ru-RU" i="1">
                              <a:latin typeface="Cambria Math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𝑣</m:t>
                          </m:r>
                        </m:num>
                        <m:den>
                          <m:r>
                            <a:rPr lang="ru-RU" i="1">
                              <a:latin typeface="Cambria Math"/>
                            </a:rPr>
                            <m:t>𝑟𝑐𝑜𝑠</m:t>
                          </m:r>
                          <m:r>
                            <a:rPr lang="ru-RU" i="1">
                              <a:latin typeface="Cambria Math"/>
                            </a:rPr>
                            <m:t>𝛼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𝑐𝑜𝑠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𝑅𝑟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6" name="Прямоугольник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869" y="2031604"/>
                <a:ext cx="5771891" cy="648191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Прямоугольник 86"/>
              <p:cNvSpPr/>
              <p:nvPr/>
            </p:nvSpPr>
            <p:spPr>
              <a:xfrm>
                <a:off x="4681150" y="2895367"/>
                <a:ext cx="348742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вр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𝜀</m:t>
                      </m:r>
                      <m:r>
                        <a:rPr lang="en-US" i="1">
                          <a:latin typeface="Cambria Math"/>
                        </a:rPr>
                        <m:t>𝑂𝐴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𝑅𝑟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ru-RU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>
                          <a:latin typeface="Cambria Math"/>
                        </a:rPr>
                        <m:t>;</m:t>
                      </m:r>
                      <m:r>
                        <a:rPr lang="ru-RU" i="1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       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7" name="Прямоугольник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150" y="2895367"/>
                <a:ext cx="3487429" cy="646331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Прямоугольник 87"/>
              <p:cNvSpPr/>
              <p:nvPr/>
            </p:nvSpPr>
            <p:spPr>
              <a:xfrm>
                <a:off x="4594815" y="4732432"/>
                <a:ext cx="5742784" cy="6876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вр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i="1">
                              <a:latin typeface="Cambria Math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ос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i="1">
                              <a:latin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вр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ос</m:t>
                              </m:r>
                            </m:sub>
                          </m:sSub>
                          <m:r>
                            <a:rPr lang="ru-RU" i="1">
                              <a:latin typeface="Cambria Math"/>
                            </a:rPr>
                            <m:t>𝑐𝑜𝑠</m:t>
                          </m:r>
                          <m:r>
                            <a:rPr lang="ru-RU" i="1">
                              <a:latin typeface="Cambria Math"/>
                            </a:rPr>
                            <m:t>2</m:t>
                          </m:r>
                          <m:r>
                            <a:rPr lang="ru-RU" i="1">
                              <a:latin typeface="Cambria Math"/>
                            </a:rPr>
                            <m:t>𝛼</m:t>
                          </m:r>
                        </m:e>
                      </m:rad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𝑅𝑟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ru-RU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9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8" name="Прямоугольник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815" y="4732432"/>
                <a:ext cx="5742784" cy="68768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Прямоугольник 88"/>
              <p:cNvSpPr/>
              <p:nvPr/>
            </p:nvSpPr>
            <p:spPr>
              <a:xfrm>
                <a:off x="4736748" y="3809920"/>
                <a:ext cx="5995409" cy="648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ос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𝜔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𝐴𝐸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𝛼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2</m:t>
                      </m:r>
                      <m:r>
                        <a:rPr lang="en-US" i="1">
                          <a:latin typeface="Cambria Math"/>
                        </a:rPr>
                        <m:t>𝑟𝑐𝑜𝑠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𝑟𝑐𝑜𝑠</m:t>
                          </m:r>
                          <m:r>
                            <a:rPr lang="en-US" i="1">
                              <a:latin typeface="Cambria Math"/>
                            </a:rPr>
                            <m:t>𝛼</m:t>
                          </m:r>
                        </m:den>
                      </m:f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𝑅𝑟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ru-RU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9" name="Прямоугольник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748" y="3809920"/>
                <a:ext cx="5995409" cy="648191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Прямая со стрелкой 83"/>
          <p:cNvCxnSpPr/>
          <p:nvPr/>
        </p:nvCxnSpPr>
        <p:spPr>
          <a:xfrm flipH="1">
            <a:off x="2721079" y="3055255"/>
            <a:ext cx="412494" cy="306775"/>
          </a:xfrm>
          <a:prstGeom prst="straightConnector1">
            <a:avLst/>
          </a:prstGeom>
          <a:ln w="28575">
            <a:solidFill>
              <a:srgbClr val="0033CC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Прямоугольник 90"/>
              <p:cNvSpPr/>
              <p:nvPr/>
            </p:nvSpPr>
            <p:spPr>
              <a:xfrm>
                <a:off x="2661740" y="3181116"/>
                <a:ext cx="5311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1" name="Прямоугольник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740" y="3181116"/>
                <a:ext cx="531171" cy="369332"/>
              </a:xfrm>
              <a:prstGeom prst="rect">
                <a:avLst/>
              </a:prstGeom>
              <a:blipFill rotWithShape="1">
                <a:blip r:embed="rId18"/>
                <a:stretch>
                  <a:fillRect r="-24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1"/>
          <p:cNvSpPr txBox="1"/>
          <p:nvPr/>
        </p:nvSpPr>
        <p:spPr>
          <a:xfrm>
            <a:off x="9622279" y="6259676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smtClean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Кафедра ФН-3</a:t>
            </a:r>
            <a:endParaRPr lang="ru-RU" i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9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8" grpId="0" animBg="1"/>
      <p:bldP spid="72" grpId="0"/>
      <p:bldP spid="73" grpId="0"/>
      <p:bldP spid="74" grpId="0"/>
      <p:bldP spid="75" grpId="0"/>
      <p:bldP spid="76" grpId="0"/>
      <p:bldP spid="77" grpId="0"/>
      <p:bldP spid="78" grpId="0"/>
      <p:bldP spid="85" grpId="0"/>
      <p:bldP spid="86" grpId="0"/>
      <p:bldP spid="87" grpId="0"/>
      <p:bldP spid="88" grpId="0"/>
      <p:bldP spid="89" grpId="0"/>
      <p:bldP spid="91" grpId="0"/>
    </p:bldLst>
  </p:timing>
</p:sld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terms/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TM02900743[[fn=Природа]]</Template>
  <TotalTime>0</TotalTime>
  <Words>3525</Words>
  <Application>Microsoft Office PowerPoint</Application>
  <PresentationFormat>Произвольный</PresentationFormat>
  <Paragraphs>414</Paragraphs>
  <Slides>16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8" baseType="lpstr">
      <vt:lpstr>HDOfficeLightV0</vt:lpstr>
      <vt:lpstr>Формула</vt:lpstr>
      <vt:lpstr>Мгновенный центр ускорений.</vt:lpstr>
      <vt:lpstr>Способы определения МЦУ.</vt:lpstr>
      <vt:lpstr>Способы вычисления углового ускорения при плоском движении.</vt:lpstr>
      <vt:lpstr>Пример1.</vt:lpstr>
      <vt:lpstr>Пример1 (продолжение).</vt:lpstr>
      <vt:lpstr>Сферическое движение твердого тела. Углы Эйлера. </vt:lpstr>
      <vt:lpstr>Теорема Эйлера-Даламбера. </vt:lpstr>
      <vt:lpstr>Мгновенная ось вращения. Аксоиды. </vt:lpstr>
      <vt:lpstr>Угловая скорость твердого тела при сферическом движении.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2018-04-06T08:52:14Z</dcterms:created>
  <dcterms:modified xsi:type="dcterms:W3CDTF">2020-03-18T12:29:30Z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